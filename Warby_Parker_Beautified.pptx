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4" r:id="rId3"/>
    <p:sldId id="273" r:id="rId4"/>
    <p:sldId id="272" r:id="rId5"/>
    <p:sldId id="268" r:id="rId6"/>
    <p:sldId id="269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8"/>
        <p:guide pos="29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tags" Target="../tags/tag1.xml"/><Relationship Id="rId6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tags" Target="../tags/tag2.xml"/><Relationship Id="rId6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9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28016"/>
            <a:ext cx="4114800" cy="1866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en-US" sz="1100" b="1" i="0">
                <a:solidFill>
                  <a:srgbClr val="FFFFFF"/>
                </a:solidFill>
                <a:latin typeface="微软雅黑"/>
              </a:rPr>
              <a:t>X</a:t>
            </a:r>
            <a:r>
              <a:rPr lang="en-US" sz="1100" b="1" i="0">
                <a:solidFill>
                  <a:srgbClr val="FFFFFF"/>
                </a:solidFill>
                <a:latin typeface="微软雅黑"/>
              </a:rPr>
              <a:t>in.he 2145653</a:t>
            </a:r>
            <a:endParaRPr lang="en-US" sz="1100" b="1" i="0">
              <a:solidFill>
                <a:srgbClr val="1F3A5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75520" y="128016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微软雅黑"/>
              </a:rPr>
              <a:t>Warby Parker</a:t>
            </a:r>
            <a:endParaRPr sz="1100" b="1" i="0">
              <a:solidFill>
                <a:srgbClr val="1F3A5F"/>
              </a:solidFill>
              <a:latin typeface="微软雅黑"/>
            </a:endParaRPr>
          </a:p>
        </p:txBody>
      </p:sp>
      <p:pic>
        <p:nvPicPr>
          <p:cNvPr id="5" name="图片 4" descr="截屏2026-05-27 19.07.50"/>
          <p:cNvPicPr>
            <a:picLocks noChangeAspect="1"/>
          </p:cNvPicPr>
          <p:nvPr/>
        </p:nvPicPr>
        <p:blipFill>
          <a:blip r:embed="rId1"/>
          <a:srcRect l="3083" b="-156"/>
          <a:stretch>
            <a:fillRect/>
          </a:stretch>
        </p:blipFill>
        <p:spPr>
          <a:xfrm>
            <a:off x="0" y="475615"/>
            <a:ext cx="12189460" cy="63823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9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28016"/>
            <a:ext cx="4114800" cy="1866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en-US" sz="1100" b="1" i="0">
                <a:solidFill>
                  <a:srgbClr val="FFFFFF"/>
                </a:solidFill>
                <a:latin typeface="微软雅黑"/>
              </a:rPr>
              <a:t>X</a:t>
            </a:r>
            <a:r>
              <a:rPr lang="en-US" sz="1100" b="1" i="0">
                <a:solidFill>
                  <a:srgbClr val="FFFFFF"/>
                </a:solidFill>
                <a:latin typeface="微软雅黑"/>
              </a:rPr>
              <a:t>in.he 2145653</a:t>
            </a:r>
            <a:endParaRPr lang="en-US" sz="1100" b="1" i="0">
              <a:solidFill>
                <a:srgbClr val="1F3A5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75520" y="128016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微软雅黑"/>
              </a:rPr>
              <a:t>Warby Parker</a:t>
            </a:r>
            <a:endParaRPr sz="1100" b="1" i="0">
              <a:solidFill>
                <a:srgbClr val="1F3A5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1625" y="610362"/>
            <a:ext cx="1115568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 i="0">
                <a:solidFill>
                  <a:srgbClr val="1F3A5F"/>
                </a:solidFill>
                <a:latin typeface="微软雅黑"/>
              </a:rPr>
              <a:t>Warby Parker：用电商策略重塑眼镜零售</a:t>
            </a:r>
            <a:endParaRPr sz="2500" b="1" i="0">
              <a:solidFill>
                <a:srgbClr val="1F3A5F"/>
              </a:solidFill>
              <a:latin typeface="微软雅黑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FF9900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图片 44" descr="截屏2026-05-27 13.15.53"/>
          <p:cNvPicPr>
            <a:picLocks noChangeAspect="1"/>
          </p:cNvPicPr>
          <p:nvPr/>
        </p:nvPicPr>
        <p:blipFill>
          <a:blip r:embed="rId1"/>
          <a:srcRect r="5666"/>
          <a:stretch>
            <a:fillRect/>
          </a:stretch>
        </p:blipFill>
        <p:spPr>
          <a:xfrm>
            <a:off x="9291955" y="1920240"/>
            <a:ext cx="2653030" cy="1651635"/>
          </a:xfrm>
          <a:prstGeom prst="rect">
            <a:avLst/>
          </a:prstGeom>
        </p:spPr>
      </p:pic>
      <p:pic>
        <p:nvPicPr>
          <p:cNvPr id="7" name="图片 6" descr="截屏2026-05-27 14.30.44"/>
          <p:cNvPicPr>
            <a:picLocks noChangeAspect="1"/>
          </p:cNvPicPr>
          <p:nvPr/>
        </p:nvPicPr>
        <p:blipFill>
          <a:blip r:embed="rId2"/>
          <a:srcRect t="12019" r="49657"/>
          <a:stretch>
            <a:fillRect/>
          </a:stretch>
        </p:blipFill>
        <p:spPr>
          <a:xfrm>
            <a:off x="7451725" y="3632200"/>
            <a:ext cx="2283460" cy="1534795"/>
          </a:xfrm>
          <a:prstGeom prst="rect">
            <a:avLst/>
          </a:prstGeom>
        </p:spPr>
      </p:pic>
      <p:pic>
        <p:nvPicPr>
          <p:cNvPr id="12" name="图片 11" descr="截屏2026-05-27 17.55.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725" y="1920875"/>
            <a:ext cx="1840230" cy="1566545"/>
          </a:xfrm>
          <a:prstGeom prst="rect">
            <a:avLst/>
          </a:prstGeom>
        </p:spPr>
      </p:pic>
      <p:pic>
        <p:nvPicPr>
          <p:cNvPr id="13" name="图片 12" descr="截屏2026-05-27 17.56.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1670" y="3710940"/>
            <a:ext cx="1113790" cy="1257300"/>
          </a:xfrm>
          <a:prstGeom prst="rect">
            <a:avLst/>
          </a:prstGeom>
        </p:spPr>
      </p:pic>
      <p:pic>
        <p:nvPicPr>
          <p:cNvPr id="14" name="图片 13" descr="截屏2026-05-27 14.30.44"/>
          <p:cNvPicPr>
            <a:picLocks noChangeAspect="1"/>
          </p:cNvPicPr>
          <p:nvPr/>
        </p:nvPicPr>
        <p:blipFill>
          <a:blip r:embed="rId2"/>
          <a:srcRect l="74355" t="12019"/>
          <a:stretch>
            <a:fillRect/>
          </a:stretch>
        </p:blipFill>
        <p:spPr>
          <a:xfrm>
            <a:off x="9782810" y="3571875"/>
            <a:ext cx="1163320" cy="1534795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>
            <p:custDataLst>
              <p:tags r:id="rId5"/>
            </p:custDataLst>
          </p:nvPr>
        </p:nvGraphicFramePr>
        <p:xfrm>
          <a:off x="659130" y="1316990"/>
          <a:ext cx="6483350" cy="4998720"/>
        </p:xfrm>
        <a:graphic>
          <a:graphicData uri="http://schemas.openxmlformats.org/drawingml/2006/table">
            <a:tbl>
              <a:tblPr/>
              <a:tblGrid>
                <a:gridCol w="837565"/>
                <a:gridCol w="1697355"/>
                <a:gridCol w="2116455"/>
                <a:gridCol w="1831975"/>
              </a:tblGrid>
              <a:tr h="3657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50" b="1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50" b="1">
                          <a:solidFill>
                            <a:srgbClr val="FFFFFF"/>
                          </a:solidFill>
                        </a:rPr>
                        <a:t>Warby Parker’s Measures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50" b="1">
                          <a:solidFill>
                            <a:srgbClr val="FFFFFF"/>
                          </a:solidFill>
                        </a:rPr>
                        <a:t>Business Components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50" b="1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</a:tr>
              <a:tr h="20447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00" b="1">
                          <a:solidFill>
                            <a:srgbClr val="1F3A5F"/>
                          </a:solidFill>
                        </a:rPr>
                        <a:t>Differentiation – Customer Intimacy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Virtual Try-On + Advisor personalized recommendations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 323 stores by end of 2025; 285 offer in-person eye exams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  <a:sym typeface="+mn-ea"/>
                        </a:rPr>
                        <a:t>• </a:t>
                      </a: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Home Try-On discontinued; shifted to Virtual Try-On + in-store experience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(Warby Parker Inc., 2026a; Warby Parker Inc., 2026b; Wassel, 2025)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Value proposition: Reduce uncertainty of buying prescription glasses online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Market strategy: Boost conversion with AR/AI recommendations + physical stores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Competitive advantage: Online convenience + offline professional service closed-loop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Creates an omnichannel experience: Discover online → Virtual Try-On → In-store exam → Purchase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3/4 of iOS app users use Virtual Try-On, showing digital experience boosts customer engagement (Wassel, 2025)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1">
                          <a:solidFill>
                            <a:srgbClr val="1F3A5F"/>
                          </a:solidFill>
                          <a:sym typeface="+mn-ea"/>
                        </a:rPr>
                        <a:t>Differentiation </a:t>
                      </a:r>
                      <a:r>
                        <a:rPr lang="en-US" altLang="zh-CN" sz="900" b="1">
                          <a:solidFill>
                            <a:srgbClr val="1F3A5F"/>
                          </a:solidFill>
                        </a:rPr>
                        <a:t>-</a:t>
                      </a:r>
                      <a:r>
                        <a:rPr lang="zh-CN" altLang="en-US" sz="900" b="1">
                          <a:solidFill>
                            <a:srgbClr val="1F3A5F"/>
                          </a:solidFill>
                        </a:rPr>
                        <a:t>Product Leadership</a:t>
                      </a:r>
                      <a:endParaRPr lang="zh-CN" altLang="en-US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p>
                      <a:pPr marL="171450" indent="-171450" algn="l"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In-house design team for consistent brand aesthetic</a:t>
                      </a:r>
                      <a:endParaRPr lang="en-US" altLang="zh-CN" sz="1000"/>
                    </a:p>
                    <a:p>
                      <a:pPr marL="171450" indent="-171450" algn="l"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Expanded product lines: eyeglasses, contacts, eye exams, lens upgrades</a:t>
                      </a:r>
                      <a:endParaRPr lang="en-US" altLang="zh-CN" sz="1000"/>
                    </a:p>
                    <a:p>
                      <a:pPr marL="171450" indent="-171450" algn="l"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Partnered with Google / Samsung to develop intelligent eyewear, launching fall 2026</a:t>
                      </a:r>
                      <a:endParaRPr lang="en-US" altLang="zh-CN" sz="1000"/>
                    </a:p>
                    <a:p>
                      <a:pPr marL="171450" indent="-171450" algn="l"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(Warby Parker Inc., 2026a; Google, 2026; Samsung Electronics, 2026)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p>
                      <a:pPr marL="171450" indent="-171450" algn="l"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Value proposition: Upgraded from “affordable eyewear” to design + vision care + smart eyewear</a:t>
                      </a:r>
                      <a:endParaRPr lang="en-US" altLang="zh-CN" sz="1000"/>
                    </a:p>
                    <a:p>
                      <a:pPr marL="171450" indent="-171450" algn="l"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Revenue model: Eyeglasses + contact lenses + eye exams + future AI hardware</a:t>
                      </a:r>
                      <a:endParaRPr lang="en-US" altLang="zh-CN" sz="1000"/>
                    </a:p>
                    <a:p>
                      <a:pPr marL="171450" indent="-171450" algn="l"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Competitive advantage: Prescription eyewear capability + store network + tech partnerships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p>
                      <a:pPr marL="171450" indent="-171450" algn="l"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Expanded from an eyewear retailer to a vision-care / consumer-tech brand;</a:t>
                      </a:r>
                      <a:endParaRPr lang="en-US" altLang="zh-CN" sz="1000"/>
                    </a:p>
                    <a:p>
                      <a:pPr marL="171450" indent="-171450" algn="l"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AI eyewear opens new growth potential (Samsung Electronics, 2026)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9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28016"/>
            <a:ext cx="4114800" cy="1866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en-US" sz="1100" b="1" i="0">
                <a:solidFill>
                  <a:srgbClr val="FFFFFF"/>
                </a:solidFill>
                <a:latin typeface="微软雅黑"/>
              </a:rPr>
              <a:t>X</a:t>
            </a:r>
            <a:r>
              <a:rPr lang="en-US" sz="1100" b="1" i="0">
                <a:solidFill>
                  <a:srgbClr val="FFFFFF"/>
                </a:solidFill>
                <a:latin typeface="微软雅黑"/>
              </a:rPr>
              <a:t>in.he 2145653</a:t>
            </a:r>
            <a:endParaRPr lang="en-US" sz="1100" b="1" i="0">
              <a:solidFill>
                <a:srgbClr val="1F3A5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75520" y="128016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微软雅黑"/>
              </a:rPr>
              <a:t>Warby Parker</a:t>
            </a:r>
            <a:endParaRPr sz="1100" b="1" i="0">
              <a:solidFill>
                <a:srgbClr val="1F3A5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1625" y="610362"/>
            <a:ext cx="1115568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 i="0">
                <a:solidFill>
                  <a:srgbClr val="1F3A5F"/>
                </a:solidFill>
                <a:latin typeface="微软雅黑"/>
              </a:rPr>
              <a:t>Warby Parker：用电商策略重塑眼镜零售</a:t>
            </a:r>
            <a:endParaRPr sz="2500" b="1" i="0">
              <a:solidFill>
                <a:srgbClr val="1F3A5F"/>
              </a:solidFill>
              <a:latin typeface="微软雅黑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FF9900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图片 44" descr="截屏2026-05-27 13.15.53"/>
          <p:cNvPicPr>
            <a:picLocks noChangeAspect="1"/>
          </p:cNvPicPr>
          <p:nvPr/>
        </p:nvPicPr>
        <p:blipFill>
          <a:blip r:embed="rId1"/>
          <a:srcRect r="5666"/>
          <a:stretch>
            <a:fillRect/>
          </a:stretch>
        </p:blipFill>
        <p:spPr>
          <a:xfrm>
            <a:off x="9291955" y="1920240"/>
            <a:ext cx="2653030" cy="1651635"/>
          </a:xfrm>
          <a:prstGeom prst="rect">
            <a:avLst/>
          </a:prstGeom>
        </p:spPr>
      </p:pic>
      <p:pic>
        <p:nvPicPr>
          <p:cNvPr id="7" name="图片 6" descr="截屏2026-05-27 14.30.44"/>
          <p:cNvPicPr>
            <a:picLocks noChangeAspect="1"/>
          </p:cNvPicPr>
          <p:nvPr/>
        </p:nvPicPr>
        <p:blipFill>
          <a:blip r:embed="rId2"/>
          <a:srcRect t="12019" r="49657"/>
          <a:stretch>
            <a:fillRect/>
          </a:stretch>
        </p:blipFill>
        <p:spPr>
          <a:xfrm>
            <a:off x="7451725" y="3632200"/>
            <a:ext cx="2283460" cy="1534795"/>
          </a:xfrm>
          <a:prstGeom prst="rect">
            <a:avLst/>
          </a:prstGeom>
        </p:spPr>
      </p:pic>
      <p:pic>
        <p:nvPicPr>
          <p:cNvPr id="12" name="图片 11" descr="截屏2026-05-27 17.55.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725" y="1920875"/>
            <a:ext cx="1840230" cy="1566545"/>
          </a:xfrm>
          <a:prstGeom prst="rect">
            <a:avLst/>
          </a:prstGeom>
        </p:spPr>
      </p:pic>
      <p:pic>
        <p:nvPicPr>
          <p:cNvPr id="13" name="图片 12" descr="截屏2026-05-27 17.56.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1670" y="3710940"/>
            <a:ext cx="1113790" cy="1257300"/>
          </a:xfrm>
          <a:prstGeom prst="rect">
            <a:avLst/>
          </a:prstGeom>
        </p:spPr>
      </p:pic>
      <p:pic>
        <p:nvPicPr>
          <p:cNvPr id="14" name="图片 13" descr="截屏2026-05-27 14.30.44"/>
          <p:cNvPicPr>
            <a:picLocks noChangeAspect="1"/>
          </p:cNvPicPr>
          <p:nvPr/>
        </p:nvPicPr>
        <p:blipFill>
          <a:blip r:embed="rId2"/>
          <a:srcRect l="74355" t="12019"/>
          <a:stretch>
            <a:fillRect/>
          </a:stretch>
        </p:blipFill>
        <p:spPr>
          <a:xfrm>
            <a:off x="9782810" y="3571875"/>
            <a:ext cx="1163320" cy="1534795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>
            <p:custDataLst>
              <p:tags r:id="rId5"/>
            </p:custDataLst>
          </p:nvPr>
        </p:nvGraphicFramePr>
        <p:xfrm>
          <a:off x="568325" y="1432560"/>
          <a:ext cx="6483350" cy="3474720"/>
        </p:xfrm>
        <a:graphic>
          <a:graphicData uri="http://schemas.openxmlformats.org/drawingml/2006/table">
            <a:tbl>
              <a:tblPr/>
              <a:tblGrid>
                <a:gridCol w="807085"/>
                <a:gridCol w="1727835"/>
                <a:gridCol w="2116455"/>
                <a:gridCol w="1831975"/>
              </a:tblGrid>
              <a:tr h="3657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50" b="1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50" b="1">
                          <a:solidFill>
                            <a:srgbClr val="FFFFFF"/>
                          </a:solidFill>
                        </a:rPr>
                        <a:t>Warby Parker’s Measures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50" b="1">
                          <a:solidFill>
                            <a:srgbClr val="FFFFFF"/>
                          </a:solidFill>
                        </a:rPr>
                        <a:t>Business Components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50" b="1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00" b="1">
                          <a:solidFill>
                            <a:srgbClr val="1F3A5F"/>
                          </a:solidFill>
                        </a:rPr>
                        <a:t>Focus / Niche Strategy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Targets digital-native, design-focused, price-sensitive young consumers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Starts at $95, emphasizes affordable design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Social media + brand storytelling + Buy a Pair, Give a Pair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(Warby Parker Inc., 2026a; Earnest Analytics, 2024)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Market opportunity: Serves the design + affordable niche, avoiding direct competition with Luxottica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Market strategy: Reach target consumers via social media, brand storytelling, and affordable positioning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Competitive advantage: Priced above Zenni, below traditional brands, creating a differentiated buffer zone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Market share: 7.2% (2024), up from 6.8% in Q4 2023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Customers switching from LensCrafters to WP: +3.4% YoY (Earnest Analytics, 2024)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00" b="1">
                          <a:solidFill>
                            <a:srgbClr val="1F3A5F"/>
                          </a:solidFill>
                        </a:rPr>
                        <a:t>DTC Cost Advantage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Direct-to-consumer via official website &amp; app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In-house design, reduced reliance on brand licensing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Integrated owned stores + e-commerce channels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Starting at $95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(Warby Parker Inc., 2026a)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Revenue model: Cut out middlemen, revenue flows directly to the brand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Competitive advantage: Cost savings support low prices and experience investment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Value proposition: Supports affordable design positioning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2025 net revenue: $871.9M, +13.0% YoY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Gross margin: 54.0%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Adjusted EBITDA margin: 10.9%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Full-year net profit: $1.6M (first positive annual profit)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(Warby Parker Inc., 2026a)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485765" y="58362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9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28016"/>
            <a:ext cx="4114800" cy="3562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微软雅黑"/>
                <a:sym typeface="+mn-ea"/>
              </a:rPr>
              <a:t>Xin.he 2145653</a:t>
            </a:r>
            <a:endParaRPr lang="en-US" sz="1100" b="1" i="0">
              <a:solidFill>
                <a:srgbClr val="1F3A5F"/>
              </a:solidFill>
              <a:latin typeface="微软雅黑"/>
            </a:endParaRPr>
          </a:p>
          <a:p>
            <a:pPr algn="l"/>
            <a:endParaRPr sz="1100" b="1" i="0">
              <a:solidFill>
                <a:srgbClr val="1F3A5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75520" y="128016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微软雅黑"/>
              </a:rPr>
              <a:t>Warby Parker</a:t>
            </a:r>
            <a:endParaRPr sz="1100" b="1" i="0">
              <a:solidFill>
                <a:srgbClr val="1F3A5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235" y="598932"/>
            <a:ext cx="11155680" cy="40195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en-US" altLang="zh-CN" sz="2500" b="1" i="0">
                <a:solidFill>
                  <a:srgbClr val="1F3A5F"/>
                </a:solidFill>
                <a:latin typeface="微软雅黑"/>
              </a:rPr>
              <a:t>Feasibility Analysis &amp; Recommendations</a:t>
            </a:r>
            <a:endParaRPr lang="en-US" altLang="zh-CN" sz="2500" b="1" i="0">
              <a:solidFill>
                <a:srgbClr val="1F3A5F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FF9900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表格 6"/>
          <p:cNvGraphicFramePr/>
          <p:nvPr/>
        </p:nvGraphicFramePr>
        <p:xfrm>
          <a:off x="971550" y="1812925"/>
          <a:ext cx="9097010" cy="3942080"/>
        </p:xfrm>
        <a:graphic>
          <a:graphicData uri="http://schemas.openxmlformats.org/drawingml/2006/table">
            <a:tbl>
              <a:tblPr/>
              <a:tblGrid>
                <a:gridCol w="1235075"/>
                <a:gridCol w="3030855"/>
                <a:gridCol w="2374900"/>
                <a:gridCol w="2456180"/>
              </a:tblGrid>
              <a:tr h="37973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50" b="1">
                          <a:solidFill>
                            <a:srgbClr val="FFFFFF"/>
                          </a:solidFill>
                        </a:rPr>
                        <a:t>Viability Analysis</a:t>
                      </a:r>
                      <a:endParaRPr lang="en-US" altLang="zh-CN" sz="12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50" b="1">
                          <a:solidFill>
                            <a:srgbClr val="FFFFFF"/>
                          </a:solidFill>
                        </a:rPr>
                        <a:t>Warby Parker Status</a:t>
                      </a:r>
                      <a:endParaRPr lang="en-US" altLang="zh-CN" sz="12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50" b="1">
                          <a:solidFill>
                            <a:srgbClr val="FFFFFF"/>
                          </a:solidFill>
                        </a:rPr>
                        <a:t>Risks</a:t>
                      </a:r>
                      <a:endParaRPr lang="en-US" altLang="zh-CN" sz="12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50" b="1">
                          <a:solidFill>
                            <a:srgbClr val="FFFFFF"/>
                          </a:solidFill>
                        </a:rPr>
                        <a:t>Suggestions</a:t>
                      </a:r>
                      <a:endParaRPr lang="en-US" altLang="zh-CN" sz="12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00" b="1">
                          <a:solidFill>
                            <a:srgbClr val="1F3A5F"/>
                          </a:solidFill>
                        </a:rPr>
                        <a:t>Strategic Analysis — Industry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U.S. eyewear retail remains highly competitive; Luxottica holds ~28% market share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Warby Parker: 7.2% share, up from 6.8% in Q4 2023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“Other” small retailers: 32% share, indicating a fragmented market with many entrants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(Consumer Edge, 2024)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Competition from low-cost online brands &amp; traditional optical stores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Low comparison cost; customers are price-sensitive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AI eyewear segment faces competition from tech companies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Avoid price wars; strengthen design + vision care + online convenience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AI eyewear highlights WP’s integration of prescription, eye exams, and in-store services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900" b="1">
                          <a:solidFill>
                            <a:srgbClr val="1F3A5F"/>
                          </a:solidFill>
                        </a:rPr>
                        <a:t>Strategic Analysis — Firm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323 stores by end of 2025; online DTC + stores form an omnichannel system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Virtual Try-On / Advisor improve online selection experience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Intelligent Eyewear designed by Warby Parker, with Google AI and Samsung hardware, launching Fall 2026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(Warby Parker Inc., 2026a; Warby Parker Inc., 2026b)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Store expansion raises rent, staffing, doctor costs and management complexity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AI eyewear involves privacy, security, data usage and consumer trust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Vision care expansion brings medical and compliance pressure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Stores positioned as vision care centers, not just retail outlets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Launch AI eyewear with small-scale trials and clear data &amp; privacy rules</a:t>
                      </a:r>
                      <a:endParaRPr lang="en-US" altLang="zh-CN" sz="10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Leverage Advisor and AR to reduce selection uncertainty and service costs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7F8F9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marL="0" algn="l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900" i="0" b="1">
                          <a:solidFill>
                            <a:srgbClr val="1F3A5F"/>
                          </a:solidFill>
                        </a:rPr>
                        <a:t>Financial Analysis</a:t>
                      </a:r>
                      <a:endParaRPr lang="zh-CN" altLang="en-US" sz="1000" i="0"/>
                    </a:p>
                  </a:txBody>
                  <a:tcPr marL="63500" marR="63500" marT="50800" marB="50800" anchor="t" anchorCtr="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p>
                      <a:pPr marL="171450" indent="-171450" algn="l">
                        <a:lnSpc>
                          <a:spcPct val="100000"/>
                        </a:lnSpc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i="0" b="0">
                          <a:solidFill>
                            <a:srgbClr val="1F2937"/>
                          </a:solidFill>
                        </a:rPr>
                        <a:t>2025 net revenue: $871.9M, +13.0% YoY</a:t>
                      </a:r>
                      <a:endParaRPr lang="en-US" altLang="zh-CN" sz="1000" i="0"/>
                    </a:p>
                    <a:p>
                      <a:pPr marL="171450" indent="-171450" algn="l">
                        <a:lnSpc>
                          <a:spcPct val="100000"/>
                        </a:lnSpc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i="0" b="0">
                          <a:solidFill>
                            <a:srgbClr val="1F2937"/>
                          </a:solidFill>
                        </a:rPr>
                        <a:t>First full-year positive net profit: $1.6M; Adjusted EBITDA margin: 10.9%</a:t>
                      </a:r>
                      <a:endParaRPr lang="en-US" altLang="zh-CN" sz="1000" i="0"/>
                    </a:p>
                    <a:p>
                      <a:pPr marL="171450" indent="-171450" algn="l">
                        <a:lnSpc>
                          <a:spcPct val="100000"/>
                        </a:lnSpc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i="0" b="0">
                          <a:solidFill>
                            <a:srgbClr val="1F2937"/>
                          </a:solidFill>
                        </a:rPr>
                        <a:t>2025 operating cash flow: $110.8M; Free Cash Flow: $43.7M</a:t>
                      </a:r>
                      <a:endParaRPr lang="en-US" altLang="zh-CN" sz="1000" i="0"/>
                    </a:p>
                    <a:p>
                      <a:pPr marL="171450" indent="-171450" algn="l">
                        <a:lnSpc>
                          <a:spcPct val="100000"/>
                        </a:lnSpc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i="0" b="0">
                          <a:solidFill>
                            <a:srgbClr val="1F2937"/>
                          </a:solidFill>
                        </a:rPr>
                        <a:t>(Warby Parker Inc., 2026a)</a:t>
                      </a:r>
                      <a:endParaRPr lang="en-US" altLang="zh-CN" sz="1000" i="0"/>
                    </a:p>
                  </a:txBody>
                  <a:tcPr marL="63500" marR="63500" marT="50800" marB="50800" anchor="t" anchorCtr="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171450" indent="-171450" algn="l"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Gross margin affected by tariffs, optometrist headcount, contact lens sales mix and shipping costs</a:t>
                      </a:r>
                      <a:endParaRPr lang="en-US" altLang="zh-CN" sz="1000"/>
                    </a:p>
                    <a:p>
                      <a:pPr marL="171450" indent="-171450" algn="l"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GAAP operating loss remains negative, with thin profit buffer</a:t>
                      </a:r>
                      <a:endParaRPr lang="en-US" altLang="zh-CN" sz="1000"/>
                    </a:p>
                    <a:p>
                      <a:pPr marL="171450" indent="-171450" algn="l"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High risks in AI eyewear R&amp;D and hardware inventory</a:t>
                      </a:r>
                      <a:endParaRPr lang="en-US" altLang="zh-CN" sz="1000"/>
                    </a:p>
                  </a:txBody>
                  <a:tcPr marL="63500" marR="63500" marT="50800" marB="5080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171450" indent="-171450" algn="l">
                        <a:lnSpc>
                          <a:spcPct val="100000"/>
                        </a:lnSpc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Control store expansion pace, prioritize improving single-store profitability</a:t>
                      </a:r>
                      <a:endParaRPr lang="en-US" altLang="zh-CN" sz="1000"/>
                    </a:p>
                    <a:p>
                      <a:pPr marL="171450" indent="-171450" algn="l">
                        <a:lnSpc>
                          <a:spcPct val="100000"/>
                        </a:lnSpc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Boost sales of lens upgrades, contact lenses, insurance orders and repeat purchases</a:t>
                      </a:r>
                      <a:endParaRPr lang="en-US" altLang="zh-CN" sz="1000"/>
                    </a:p>
                    <a:p>
                      <a:pPr marL="171450" indent="-171450" algn="l">
                        <a:lnSpc>
                          <a:spcPct val="100000"/>
                        </a:lnSpc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850" b="0">
                          <a:solidFill>
                            <a:srgbClr val="1F2937"/>
                          </a:solidFill>
                        </a:rPr>
                        <a:t>Replace part of high-cost in-store trials with AR and Advisor tools</a:t>
                      </a:r>
                      <a:endParaRPr lang="zh-CN" altLang="en-US" sz="1000"/>
                    </a:p>
                  </a:txBody>
                  <a:tcPr marL="63500" marR="63500" marT="50800" marB="50800" anchor="t" anchorCtr="0">
                    <a:lnL w="6350" cap="flat" cmpd="sng">
                      <a:solidFill>
                        <a:srgbClr val="D0D0D0"/>
                      </a:solidFill>
                      <a:prstDash val="solid"/>
                    </a:lnL>
                    <a:lnR w="6350" cap="flat" cmpd="sng">
                      <a:solidFill>
                        <a:srgbClr val="D0D0D0"/>
                      </a:solidFill>
                      <a:prstDash val="solid"/>
                    </a:lnR>
                    <a:lnT w="6350" cap="flat" cmpd="sng">
                      <a:solidFill>
                        <a:srgbClr val="D0D0D0"/>
                      </a:solidFill>
                      <a:prstDash val="solid"/>
                    </a:lnT>
                    <a:lnB w="6350" cap="flat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09955" y="1242695"/>
            <a:ext cx="9792970" cy="706755"/>
          </a:xfrm>
          <a:prstGeom prst="rect">
            <a:avLst/>
          </a:prstGeom>
          <a:solidFill>
            <a:srgbClr val="FFF3E0"/>
          </a:solidFill>
          <a:ln w="19050">
            <a:solidFill>
              <a:srgbClr val="FF9900"/>
            </a:solidFill>
          </a:ln>
        </p:spPr>
        <p:txBody>
          <a:bodyPr wrap="square" rtlCol="0">
            <a:spAutoFit/>
          </a:bodyPr>
          <a:p>
            <a:r>
              <a:rPr lang="en-US" altLang="zh-CN" sz="850" b="1">
                <a:solidFill>
                  <a:srgbClr val="1F3A5F"/>
                </a:solidFill>
              </a:rPr>
              <a:t>Warby Parker’s strategy is viable in the short term, but long-term sustainability depends on defending differentiation, controlling store/service costs, and managing privacy risks in AI eyewear.</a:t>
            </a:r>
            <a:endParaRPr lang="en-US" altLang="zh-CN" sz="1000"/>
          </a:p>
          <a:p>
            <a:endParaRPr lang="en-US" altLang="zh-CN" sz="1000"/>
          </a:p>
          <a:p>
            <a:endParaRPr lang="en-US" altLang="zh-C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9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2"/>
          <p:cNvSpPr txBox="1"/>
          <p:nvPr/>
        </p:nvSpPr>
        <p:spPr>
          <a:xfrm>
            <a:off x="256032" y="128016"/>
            <a:ext cx="4114800" cy="1866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en-US" sz="1100" b="1" i="0">
                <a:solidFill>
                  <a:srgbClr val="FFFFFF"/>
                </a:solidFill>
                <a:latin typeface="微软雅黑"/>
              </a:rPr>
              <a:t>xin.he 2145653</a:t>
            </a:r>
            <a:endParaRPr lang="en-US" sz="1100" b="1" i="0">
              <a:solidFill>
                <a:srgbClr val="1F3A5F"/>
              </a:solidFill>
              <a:latin typeface="微软雅黑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875520" y="128016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微软雅黑"/>
              </a:rPr>
              <a:t>Warby Parker</a:t>
            </a:r>
            <a:endParaRPr sz="1100" b="1" i="0">
              <a:solidFill>
                <a:srgbClr val="1F3A5F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972800" cy="211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</a:pPr>
            <a:r>
              <a:rPr lang="en-US" altLang="zh-CN" sz="730" b="0" i="0">
                <a:solidFill>
                  <a:srgbClr val="1F2937"/>
                </a:solidFill>
                <a:latin typeface="微软雅黑"/>
              </a:rPr>
              <a:t>Earnest Analytics (2024) Eyewear market share 2024: </a:t>
            </a:r>
            <a:r>
              <a:rPr lang="en-US" altLang="zh-CN" sz="730" b="0" i="1">
                <a:solidFill>
                  <a:srgbClr val="1F2937"/>
                </a:solidFill>
                <a:latin typeface="微软雅黑"/>
              </a:rPr>
              <a:t>Luxottica loses sales to Warby Parker.</a:t>
            </a:r>
            <a:r>
              <a:rPr lang="en-US" altLang="zh-CN" sz="730" b="0" i="0">
                <a:solidFill>
                  <a:srgbClr val="1F2937"/>
                </a:solidFill>
                <a:latin typeface="微软雅黑"/>
              </a:rPr>
              <a:t> Available at: https://www.earnestanalytics.com/insights/eyewear-market-share-2024-luxottica-loses-sales-to-warby-parker (Accessed: 27 May 2026).</a:t>
            </a:r>
            <a:endParaRPr lang="en-US" altLang="zh-CN" sz="730" b="0" i="0">
              <a:solidFill>
                <a:srgbClr val="1F2937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lang="en-US" altLang="zh-CN" sz="730" b="0" i="0">
                <a:solidFill>
                  <a:srgbClr val="1F2937"/>
                </a:solidFill>
                <a:latin typeface="微软雅黑"/>
              </a:rPr>
              <a:t>Izadi, S. (2026) 'Intelligent eyewear is coming this fall',</a:t>
            </a:r>
            <a:r>
              <a:rPr lang="en-US" altLang="zh-CN" sz="730" b="0" i="1">
                <a:solidFill>
                  <a:srgbClr val="1F2937"/>
                </a:solidFill>
                <a:latin typeface="微软雅黑"/>
              </a:rPr>
              <a:t> The Keyword</a:t>
            </a:r>
            <a:r>
              <a:rPr lang="en-US" altLang="zh-CN" sz="730" b="0" i="0">
                <a:solidFill>
                  <a:srgbClr val="1F2937"/>
                </a:solidFill>
                <a:latin typeface="微软雅黑"/>
              </a:rPr>
              <a:t>, 19 May. Available at: https://blog.google/products-and-platforms/platforms/android/android-xr-io-2026/ (Accessed: 27 May 2026).</a:t>
            </a:r>
            <a:endParaRPr lang="en-US" altLang="zh-CN" sz="730" b="0" i="0">
              <a:solidFill>
                <a:srgbClr val="1F2937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endParaRPr lang="en-US" altLang="zh-CN" sz="730" b="0" i="0">
              <a:solidFill>
                <a:srgbClr val="1F2937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lang="en-US" altLang="zh-CN" sz="730" b="0" i="0">
                <a:solidFill>
                  <a:srgbClr val="1F2937"/>
                </a:solidFill>
                <a:latin typeface="微软雅黑"/>
              </a:rPr>
              <a:t>Samsung Electronics (2026) </a:t>
            </a:r>
            <a:r>
              <a:rPr lang="en-US" altLang="zh-CN" sz="730" b="0" i="1">
                <a:solidFill>
                  <a:srgbClr val="1F2937"/>
                </a:solidFill>
                <a:latin typeface="微软雅黑"/>
              </a:rPr>
              <a:t>Samsung and Google Give First Look at New Intelligent Eyewear，1</a:t>
            </a:r>
            <a:r>
              <a:rPr lang="en-US" altLang="zh-CN" sz="730" b="0" i="0">
                <a:solidFill>
                  <a:srgbClr val="1F2937"/>
                </a:solidFill>
                <a:latin typeface="微软雅黑"/>
              </a:rPr>
              <a:t>9 May. Available at: https://news.samsung.com/us/samsung-google-first-look-new-intelligent-eyewear/ (Accessed: 27 May 2026).</a:t>
            </a:r>
            <a:endParaRPr lang="en-US" altLang="zh-CN" sz="730" b="0" i="0">
              <a:solidFill>
                <a:srgbClr val="1F2937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endParaRPr lang="en-US" altLang="zh-CN" sz="730" b="0" i="0">
              <a:solidFill>
                <a:srgbClr val="1F2937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lang="en-US" altLang="zh-CN" sz="730" b="0" i="0">
                <a:solidFill>
                  <a:srgbClr val="1F2937"/>
                </a:solidFill>
                <a:latin typeface="微软雅黑"/>
              </a:rPr>
              <a:t>Warby Parker Inc. (2026a)</a:t>
            </a:r>
            <a:r>
              <a:rPr lang="en-US" altLang="zh-CN" sz="730" b="0" i="1">
                <a:solidFill>
                  <a:srgbClr val="1F2937"/>
                </a:solidFill>
                <a:latin typeface="微软雅黑"/>
              </a:rPr>
              <a:t> Form 10-K for the fiscal year ended December 31, 2025</a:t>
            </a:r>
            <a:r>
              <a:rPr lang="en-US" altLang="zh-CN" sz="730" b="0" i="0">
                <a:solidFill>
                  <a:srgbClr val="1F2937"/>
                </a:solidFill>
                <a:latin typeface="微软雅黑"/>
              </a:rPr>
              <a:t>. Available at: https://www.sec.gov/Archives/edgar/data/1504776/000150477626000006/wrby-20251231.htm (Accessed: 27 May 2026).</a:t>
            </a:r>
            <a:endParaRPr lang="en-US" altLang="zh-CN" sz="730" b="0" i="0">
              <a:solidFill>
                <a:srgbClr val="1F2937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endParaRPr lang="en-US" altLang="zh-CN" sz="730" b="0" i="0">
              <a:solidFill>
                <a:srgbClr val="1F2937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lang="en-US" altLang="zh-CN" sz="730" b="0" i="0">
                <a:solidFill>
                  <a:srgbClr val="1F2937"/>
                </a:solidFill>
                <a:latin typeface="微软雅黑"/>
              </a:rPr>
              <a:t>Warby Parker Inc. (2026b) </a:t>
            </a:r>
            <a:r>
              <a:rPr lang="en-US" altLang="zh-CN" sz="730" b="0" i="1">
                <a:solidFill>
                  <a:srgbClr val="1F2937"/>
                </a:solidFill>
                <a:latin typeface="微软雅黑"/>
              </a:rPr>
              <a:t>Home Try-On</a:t>
            </a:r>
            <a:r>
              <a:rPr lang="en-US" altLang="zh-CN" sz="730" b="0" i="0">
                <a:solidFill>
                  <a:srgbClr val="1F2937"/>
                </a:solidFill>
                <a:latin typeface="微软雅黑"/>
              </a:rPr>
              <a:t>. Available at: https://www.warbyparker.com/home-try-on (Accessed: 27 May 2026).</a:t>
            </a:r>
            <a:endParaRPr lang="en-US" altLang="zh-CN" sz="730" b="0" i="0">
              <a:solidFill>
                <a:srgbClr val="1F2937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lang="en-US" altLang="zh-CN" sz="730" b="0" i="0">
                <a:solidFill>
                  <a:srgbClr val="1F2937"/>
                </a:solidFill>
                <a:latin typeface="微软雅黑"/>
              </a:rPr>
              <a:t>Wassel, B. (2025) 'Warby Parker pushes CX investments in-store and online',</a:t>
            </a:r>
            <a:r>
              <a:rPr lang="en-US" altLang="zh-CN" sz="730" b="0" i="1">
                <a:solidFill>
                  <a:srgbClr val="1F2937"/>
                </a:solidFill>
                <a:latin typeface="微软雅黑"/>
              </a:rPr>
              <a:t> CX Dive</a:t>
            </a:r>
            <a:r>
              <a:rPr lang="en-US" altLang="zh-CN" sz="730" b="0" i="0">
                <a:solidFill>
                  <a:srgbClr val="1F2937"/>
                </a:solidFill>
                <a:latin typeface="微软雅黑"/>
              </a:rPr>
              <a:t>, 28 February. Available at: https://www.customerexperiencedive.com/news/warby-parker-customer-experience-AI-try-ons/741312/ (Accessed: 27 May 2026).</a:t>
            </a:r>
            <a:endParaRPr lang="en-US" altLang="zh-CN" sz="730" b="0" i="0">
              <a:solidFill>
                <a:srgbClr val="1F2937"/>
              </a:solidFill>
              <a:latin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8275" y="765810"/>
            <a:ext cx="609600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500" b="1">
                <a:solidFill>
                  <a:srgbClr val="1F3A5F"/>
                </a:solidFill>
                <a:latin typeface="微软雅黑"/>
                <a:sym typeface="+mn-ea"/>
              </a:rPr>
              <a:t>Refer</a:t>
            </a:r>
            <a:r>
              <a:rPr lang="en-US" altLang="zh-CN" sz="2500" b="1">
                <a:solidFill>
                  <a:srgbClr val="1F3A5F"/>
                </a:solidFill>
                <a:latin typeface="微软雅黑"/>
                <a:sym typeface="+mn-ea"/>
              </a:rPr>
              <a:t>ence</a:t>
            </a:r>
            <a:endParaRPr lang="en-US" altLang="zh-CN" sz="2500" b="1">
              <a:solidFill>
                <a:srgbClr val="1F3A5F"/>
              </a:solidFill>
              <a:latin typeface="微软雅黑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51*74"/>
  <p:tag name="TABLE_ENDDRAG_RECT" val="144*240*351*74"/>
</p:tagLst>
</file>

<file path=ppt/tags/tag2.xml><?xml version="1.0" encoding="utf-8"?>
<p:tagLst xmlns:p="http://schemas.openxmlformats.org/presentationml/2006/main">
  <p:tag name="TABLE_ENDDRAG_ORIGIN_RECT" val="351*74"/>
  <p:tag name="TABLE_ENDDRAG_RECT" val="144*240*351*7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6449</Words>
  <Application>WPS 文字</Application>
  <PresentationFormat>On-screen Show (4:3)</PresentationFormat>
  <Paragraphs>171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汉仪书宋二KW</vt:lpstr>
      <vt:lpstr>宋体</vt:lpstr>
      <vt:lpstr>微软雅黑</vt:lpstr>
      <vt:lpstr>Arial Unicode MS</vt:lpstr>
      <vt:lpstr>微软雅黑</vt:lpstr>
      <vt:lpstr>Wingdings</vt:lpstr>
      <vt:lpstr>苹方-简</vt:lpstr>
      <vt:lpstr>BM Kirang Haerang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poppy三金</cp:lastModifiedBy>
  <cp:revision>6</cp:revision>
  <dcterms:created xsi:type="dcterms:W3CDTF">2026-05-27T11:56:16Z</dcterms:created>
  <dcterms:modified xsi:type="dcterms:W3CDTF">2026-05-27T11:56:16Z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D05D408DFCF8E131E0DB166AF4EE6446_43</vt:lpwstr>
  </property>
</Properties>
</file>