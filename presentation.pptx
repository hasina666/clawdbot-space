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22.xml" ContentType="application/vnd.openxmlformats-officedocument.presentationml.tags+xml"/>
  <Override PartName="/ppt/tags/tag23.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24.xml" ContentType="application/vnd.openxmlformats-officedocument.presentationml.tags+xml"/>
  <Override PartName="/ppt/notesSlides/notesSlide12.xml" ContentType="application/vnd.openxmlformats-officedocument.presentationml.notesSlide+xml"/>
  <Override PartName="/ppt/tags/tag25.xml" ContentType="application/vnd.openxmlformats-officedocument.presentationml.tags+xml"/>
  <Override PartName="/ppt/tags/tag26.xml" ContentType="application/vnd.openxmlformats-officedocument.presentationml.tags+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1" r:id="rId2"/>
    <p:sldMasterId id="2147483664" r:id="rId3"/>
  </p:sldMasterIdLst>
  <p:notesMasterIdLst>
    <p:notesMasterId r:id="rId32"/>
  </p:notesMasterIdLst>
  <p:sldIdLst>
    <p:sldId id="263" r:id="rId4"/>
    <p:sldId id="256" r:id="rId5"/>
    <p:sldId id="267" r:id="rId6"/>
    <p:sldId id="268" r:id="rId7"/>
    <p:sldId id="269" r:id="rId8"/>
    <p:sldId id="266" r:id="rId9"/>
    <p:sldId id="270" r:id="rId10"/>
    <p:sldId id="265" r:id="rId11"/>
    <p:sldId id="271" r:id="rId12"/>
    <p:sldId id="272" r:id="rId13"/>
    <p:sldId id="262" r:id="rId14"/>
    <p:sldId id="261" r:id="rId15"/>
    <p:sldId id="257" r:id="rId16"/>
    <p:sldId id="258" r:id="rId17"/>
    <p:sldId id="286" r:id="rId18"/>
    <p:sldId id="287" r:id="rId19"/>
    <p:sldId id="288" r:id="rId20"/>
    <p:sldId id="289" r:id="rId21"/>
    <p:sldId id="281" r:id="rId22"/>
    <p:sldId id="282" r:id="rId23"/>
    <p:sldId id="283" r:id="rId24"/>
    <p:sldId id="284" r:id="rId25"/>
    <p:sldId id="276" r:id="rId26"/>
    <p:sldId id="275" r:id="rId27"/>
    <p:sldId id="274" r:id="rId28"/>
    <p:sldId id="264" r:id="rId29"/>
    <p:sldId id="279" r:id="rId30"/>
    <p:sldId id="273" r:id="rId31"/>
  </p:sldIdLst>
  <p:sldSz cx="12192000" cy="6858000"/>
  <p:notesSz cx="6858000" cy="12192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254" autoAdjust="0"/>
    <p:restoredTop sz="94681"/>
  </p:normalViewPr>
  <p:slideViewPr>
    <p:cSldViewPr snapToGrid="0">
      <p:cViewPr varScale="1">
        <p:scale>
          <a:sx n="113" d="100"/>
          <a:sy n="113" d="100"/>
        </p:scale>
        <p:origin x="184" y="2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viewProps" Target="view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notesMaster" Target="notesMasters/notesMaster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tableStyles" Target="tableStyle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theme" Target="theme/theme1.xml"/><Relationship Id="rId8"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ceHolder 1"/>
          <p:cNvSpPr>
            <a:spLocks noGrp="1" noRot="1" noChangeAspect="1"/>
          </p:cNvSpPr>
          <p:nvPr>
            <p:ph type="sldImg"/>
          </p:nvPr>
        </p:nvSpPr>
        <p:spPr>
          <a:xfrm>
            <a:off x="216000" y="812520"/>
            <a:ext cx="7127280" cy="4008960"/>
          </a:xfrm>
          <a:prstGeom prst="rect">
            <a:avLst/>
          </a:prstGeom>
          <a:noFill/>
          <a:ln w="0">
            <a:noFill/>
          </a:ln>
        </p:spPr>
        <p:txBody>
          <a:bodyPr lIns="0" tIns="0" rIns="0" bIns="0" anchor="ctr">
            <a:noAutofit/>
          </a:bodyPr>
          <a:lstStyle/>
          <a:p>
            <a:r>
              <a:rPr lang="en-US" sz="1800" b="0" u="none" strike="noStrike">
                <a:solidFill>
                  <a:schemeClr val="dk1"/>
                </a:solidFill>
                <a:effectLst/>
                <a:uFillTx/>
                <a:latin typeface="Aptos"/>
              </a:rPr>
              <a:t>Click to move the slide</a:t>
            </a:r>
          </a:p>
        </p:txBody>
      </p:sp>
      <p:sp>
        <p:nvSpPr>
          <p:cNvPr id="3"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buNone/>
            </a:pPr>
            <a:r>
              <a:rPr lang="en-US" sz="2000" b="0" u="none" strike="noStrike">
                <a:solidFill>
                  <a:srgbClr val="000000"/>
                </a:solidFill>
                <a:effectLst/>
                <a:uFillTx/>
                <a:latin typeface="Arial" panose="020B0604020202090204"/>
              </a:rPr>
              <a:t>Click to edit the notes format</a:t>
            </a:r>
          </a:p>
        </p:txBody>
      </p:sp>
      <p:sp>
        <p:nvSpPr>
          <p:cNvPr id="4"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US" sz="1400" b="0" u="none" strike="noStrike">
                <a:solidFill>
                  <a:srgbClr val="000000"/>
                </a:solidFill>
                <a:effectLst/>
                <a:uFillTx/>
                <a:latin typeface="Times New Roman" panose="02020503050405090304"/>
              </a:rPr>
              <a:t> </a:t>
            </a:r>
          </a:p>
        </p:txBody>
      </p:sp>
      <p:sp>
        <p:nvSpPr>
          <p:cNvPr id="5"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panose="02020503050405090304"/>
              </a:defRPr>
            </a:lvl1pPr>
          </a:lstStyle>
          <a:p>
            <a:pPr indent="0" algn="r">
              <a:buNone/>
            </a:pPr>
            <a:r>
              <a:rPr lang="en-US" sz="1400" b="0" u="none" strike="noStrike">
                <a:solidFill>
                  <a:srgbClr val="000000"/>
                </a:solidFill>
                <a:effectLst/>
                <a:uFillTx/>
                <a:latin typeface="Times New Roman" panose="02020503050405090304"/>
              </a:rPr>
              <a:t> </a:t>
            </a:r>
          </a:p>
        </p:txBody>
      </p:sp>
      <p:sp>
        <p:nvSpPr>
          <p:cNvPr id="6"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buNone/>
              <a:defRPr lang="en-US" sz="1400" b="0" u="none" strike="noStrike">
                <a:solidFill>
                  <a:srgbClr val="000000"/>
                </a:solidFill>
                <a:effectLst/>
                <a:uFillTx/>
                <a:latin typeface="Times New Roman" panose="02020503050405090304"/>
              </a:defRPr>
            </a:lvl1pPr>
          </a:lstStyle>
          <a:p>
            <a:pPr indent="0">
              <a:buNone/>
            </a:pPr>
            <a:r>
              <a:rPr lang="en-US" sz="1400" b="0" u="none" strike="noStrike">
                <a:solidFill>
                  <a:srgbClr val="000000"/>
                </a:solidFill>
                <a:effectLst/>
                <a:uFillTx/>
                <a:latin typeface="Times New Roman" panose="02020503050405090304"/>
              </a:rPr>
              <a:t> </a:t>
            </a:r>
          </a:p>
        </p:txBody>
      </p:sp>
      <p:sp>
        <p:nvSpPr>
          <p:cNvPr id="7"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panose="02020503050405090304"/>
              </a:defRPr>
            </a:lvl1pPr>
          </a:lstStyle>
          <a:p>
            <a:pPr indent="0" algn="r">
              <a:buNone/>
            </a:pPr>
            <a:fld id="{0CADE2CE-9088-4A9A-B230-16C396251A3C}" type="slidenum">
              <a:rPr lang="en-US" sz="1400" b="0" u="none" strike="noStrike">
                <a:solidFill>
                  <a:srgbClr val="000000"/>
                </a:solidFill>
                <a:effectLst/>
                <a:uFillTx/>
                <a:latin typeface="Times New Roman" panose="02020503050405090304"/>
              </a:rPr>
              <a:t>‹#›</a:t>
            </a:fld>
            <a:endParaRPr lang="en-US" sz="1400" b="0" u="none" strike="noStrike">
              <a:solidFill>
                <a:srgbClr val="000000"/>
              </a:solidFill>
              <a:effectLst/>
              <a:uFillTx/>
              <a:latin typeface="Times New Roman" panose="02020503050405090304"/>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Hello everyone. This slide illustrates how Alibaba's strategy has reshaped its business model.</a:t>
            </a:r>
          </a:p>
          <a:p>
            <a:pPr marL="0" indent="0" algn="l">
              <a:lnSpc>
                <a:spcPct val="100000"/>
              </a:lnSpc>
            </a:pPr>
            <a:r>
              <a:rPr lang="en-US" sz="1400" b="0" i="0" u="none" strike="noStrike">
                <a:solidFill>
                  <a:srgbClr val="000000"/>
                </a:solidFill>
              </a:rPr>
              <a:t>First, in terms of Value Proposition, Alibaba has moved beyond just providing a marketplace. It now offers an AI-driven, one-stop consumption experience, supported by its strategic pivot to 'User First, AI-Driven'.</a:t>
            </a:r>
          </a:p>
          <a:p>
            <a:pPr marL="0" indent="0" algn="l">
              <a:lnSpc>
                <a:spcPct val="100000"/>
              </a:lnSpc>
            </a:pPr>
            <a:r>
              <a:rPr lang="en-US" sz="1400" b="0" i="0" u="none" strike="noStrike">
                <a:solidFill>
                  <a:srgbClr val="000000"/>
                </a:solidFill>
              </a:rPr>
              <a:t>Second, its Revenue Model has become highly diversified. As the evidence shows, over 70% of its revenue comes from customer management services like advertising and commissions, proving its success as a service platform for merchants.</a:t>
            </a:r>
          </a:p>
          <a:p>
            <a:pPr marL="0" indent="0" algn="l">
              <a:lnSpc>
                <a:spcPct val="100000"/>
              </a:lnSpc>
            </a:pPr>
            <a:r>
              <a:rPr lang="en-US" sz="1400" b="0" i="0" u="none" strike="noStrike">
                <a:solidFill>
                  <a:srgbClr val="000000"/>
                </a:solidFill>
              </a:rPr>
              <a:t>Finally, its Competitive Advantage is built on a powerful ecosystem of network effects and data, with nearly a billion active consumers creating a significant barrier to entry for competitors.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 name="PlaceHolder 1"/>
          <p:cNvSpPr>
            <a:spLocks noGrp="1" noRot="1" noChangeAspect="1"/>
          </p:cNvSpPr>
          <p:nvPr>
            <p:ph type="sldImg"/>
          </p:nvPr>
        </p:nvSpPr>
        <p:spPr>
          <a:xfrm>
            <a:off x="685800" y="1143000"/>
            <a:ext cx="5486400" cy="3086100"/>
          </a:xfrm>
          <a:prstGeom prst="rect">
            <a:avLst/>
          </a:prstGeom>
          <a:ln w="0">
            <a:noFill/>
          </a:ln>
        </p:spPr>
      </p:sp>
      <p:sp>
        <p:nvSpPr>
          <p:cNvPr id="16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endParaRPr lang="en-US" sz="2000" b="0" u="none" strike="noStrike" dirty="0">
              <a:solidFill>
                <a:srgbClr val="000000"/>
              </a:solidFill>
              <a:effectLst/>
              <a:uFillTx/>
              <a:latin typeface="Arial" panose="020B0604020202090204"/>
            </a:endParaRPr>
          </a:p>
        </p:txBody>
      </p:sp>
      <p:sp>
        <p:nvSpPr>
          <p:cNvPr id="166" name="PlaceHolder 3"/>
          <p:cNvSpPr>
            <a:spLocks noGrp="1"/>
          </p:cNvSpPr>
          <p:nvPr>
            <p:ph type="sldNum" idx="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166335E-9230-4398-A737-91E5CEEE346F}" type="slidenum">
              <a:rPr lang="en-US" sz="1200" b="0" u="none" strike="noStrike">
                <a:solidFill>
                  <a:schemeClr val="dk1"/>
                </a:solidFill>
                <a:effectLst/>
                <a:uFillTx/>
                <a:latin typeface="+mn-lt"/>
                <a:ea typeface="+mn-ea"/>
              </a:rPr>
              <a:t>7</a:t>
            </a:fld>
            <a:endParaRPr lang="en-US" sz="1200" b="0" u="none" strike="noStrike">
              <a:solidFill>
                <a:srgbClr val="000000"/>
              </a:solidFill>
              <a:effectLst/>
              <a:uFillTx/>
              <a:latin typeface="Times New Roman" panose="02020503050405090304"/>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 name="PlaceHolder 1"/>
          <p:cNvSpPr>
            <a:spLocks noGrp="1" noRot="1" noChangeAspect="1"/>
          </p:cNvSpPr>
          <p:nvPr>
            <p:ph type="sldImg"/>
          </p:nvPr>
        </p:nvSpPr>
        <p:spPr>
          <a:xfrm>
            <a:off x="685800" y="1143000"/>
            <a:ext cx="5486400" cy="3086100"/>
          </a:xfrm>
          <a:prstGeom prst="rect">
            <a:avLst/>
          </a:prstGeom>
          <a:ln w="0">
            <a:noFill/>
          </a:ln>
        </p:spPr>
      </p:sp>
      <p:sp>
        <p:nvSpPr>
          <p:cNvPr id="16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endParaRPr lang="en-US" sz="2000" b="0" u="none" strike="noStrike" dirty="0">
              <a:solidFill>
                <a:srgbClr val="000000"/>
              </a:solidFill>
              <a:effectLst/>
              <a:uFillTx/>
              <a:latin typeface="Arial" panose="020B0604020202090204"/>
            </a:endParaRPr>
          </a:p>
        </p:txBody>
      </p:sp>
      <p:sp>
        <p:nvSpPr>
          <p:cNvPr id="166" name="PlaceHolder 3"/>
          <p:cNvSpPr>
            <a:spLocks noGrp="1"/>
          </p:cNvSpPr>
          <p:nvPr>
            <p:ph type="sldNum" idx="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166335E-9230-4398-A737-91E5CEEE346F}" type="slidenum">
              <a:rPr lang="en-US" sz="1200" b="0" u="none" strike="noStrike">
                <a:solidFill>
                  <a:schemeClr val="dk1"/>
                </a:solidFill>
                <a:effectLst/>
                <a:uFillTx/>
                <a:latin typeface="+mn-lt"/>
                <a:ea typeface="+mn-ea"/>
              </a:rPr>
              <a:t>8</a:t>
            </a:fld>
            <a:endParaRPr lang="en-US" sz="1200" b="0" u="none" strike="noStrike">
              <a:solidFill>
                <a:srgbClr val="000000"/>
              </a:solidFill>
              <a:effectLst/>
              <a:uFillTx/>
              <a:latin typeface="Times New Roman" panose="02020503050405090304"/>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Now, let's turn to the risks and challenges. The first major risk is Profitability Pressure. As shown in the data, Alibaba's significant investment in AI and new initiatives has led to a 40% year-on-year decrease in adjusted EBITA.</a:t>
            </a:r>
          </a:p>
          <a:p>
            <a:pPr marL="0" indent="0" algn="l">
              <a:lnSpc>
                <a:spcPct val="100000"/>
              </a:lnSpc>
            </a:pPr>
            <a:r>
              <a:rPr lang="en-US" sz="1400" b="0" i="0" u="none" strike="noStrike">
                <a:solidFill>
                  <a:srgbClr val="000000"/>
                </a:solidFill>
              </a:rPr>
              <a:t>Secondly, the company faces Intensifying Competition from all sides, not just traditional e-commerce rivals but also content platforms like Douyin.</a:t>
            </a:r>
          </a:p>
          <a:p>
            <a:pPr marL="0" indent="0" algn="l">
              <a:lnSpc>
                <a:spcPct val="100000"/>
              </a:lnSpc>
            </a:pPr>
            <a:r>
              <a:rPr lang="en-US" sz="1400" b="0" i="0" u="none" strike="noStrike">
                <a:solidFill>
                  <a:srgbClr val="000000"/>
                </a:solidFill>
              </a:rPr>
              <a:t>Finally, Regulatory and Data Risks are a constant concern. Stricter laws in China are forcing the company to continuously adapt its business practices to remain compliant.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dirty="0">
                <a:solidFill>
                  <a:srgbClr val="000000"/>
                </a:solidFill>
              </a:rPr>
              <a:t>Based on these risks, here are my recommendations. To address profitability pressure, Alibaba should refocus its AI efforts on improving operational efficiency rather than just subsidizing users. To counter competition, the company must deepen customer intimacy by providing truly personalized experiences, similar to how Netflix recommends movies. And to mitigate regulatory risks, enhancing transparency and trust in its data practices is crucial for long-term sustainability. These steps will help Alibaba balance growth with profitability and trust.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 name="PlaceHolder 1"/>
          <p:cNvSpPr>
            <a:spLocks noGrp="1" noRot="1" noChangeAspect="1"/>
          </p:cNvSpPr>
          <p:nvPr>
            <p:ph type="sldImg"/>
          </p:nvPr>
        </p:nvSpPr>
        <p:spPr>
          <a:xfrm>
            <a:off x="685800" y="1143000"/>
            <a:ext cx="5486400" cy="3086100"/>
          </a:xfrm>
          <a:prstGeom prst="rect">
            <a:avLst/>
          </a:prstGeom>
          <a:ln w="0">
            <a:noFill/>
          </a:ln>
        </p:spPr>
      </p:sp>
      <p:sp>
        <p:nvSpPr>
          <p:cNvPr id="15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panose="020B0604020202090204"/>
              </a:rPr>
              <a:t>This slide connects Amazon’s strategies with business components. First, customer intimacy through personalization and Prime supports the value proposition and customer relationship because customers can discover relevant products more efficiently. Second, the marketplace supports a long-tail strategy by allowing third-party sellers to offer diverse products, including niche products. Third, FBA supports logistics and competitive advantage by improving delivery reliability. The key point is that each benefit also has a trade-off, such as data dependence, quality control, operating cost, or platform dependence.</a:t>
            </a:r>
          </a:p>
        </p:txBody>
      </p:sp>
      <p:sp>
        <p:nvSpPr>
          <p:cNvPr id="160" name="PlaceHolder 3"/>
          <p:cNvSpPr>
            <a:spLocks noGrp="1"/>
          </p:cNvSpPr>
          <p:nvPr>
            <p:ph type="sldNum" idx="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89F2506-A34E-438A-9B14-4B405E3AE91E}" type="slidenum">
              <a:rPr lang="en-US" sz="1200" b="0" u="none" strike="noStrike">
                <a:solidFill>
                  <a:schemeClr val="dk1"/>
                </a:solidFill>
                <a:effectLst/>
                <a:uFillTx/>
                <a:latin typeface="+mn-lt"/>
                <a:ea typeface="+mn-ea"/>
              </a:rPr>
              <a:t>13</a:t>
            </a:fld>
            <a:endParaRPr lang="en-US" sz="1200" b="0" u="none" strike="noStrike">
              <a:solidFill>
                <a:srgbClr val="000000"/>
              </a:solidFill>
              <a:effectLst/>
              <a:uFillTx/>
              <a:latin typeface="Times New Roman" panose="02020503050405090304"/>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 name="PlaceHolder 1"/>
          <p:cNvSpPr>
            <a:spLocks noGrp="1" noRot="1" noChangeAspect="1"/>
          </p:cNvSpPr>
          <p:nvPr>
            <p:ph type="sldImg"/>
          </p:nvPr>
        </p:nvSpPr>
        <p:spPr>
          <a:xfrm>
            <a:off x="685800" y="1143000"/>
            <a:ext cx="5486400" cy="3086100"/>
          </a:xfrm>
          <a:prstGeom prst="rect">
            <a:avLst/>
          </a:prstGeom>
          <a:ln w="0">
            <a:noFill/>
          </a:ln>
        </p:spPr>
      </p:sp>
      <p:sp>
        <p:nvSpPr>
          <p:cNvPr id="16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panose="020B0604020202090204"/>
              </a:rPr>
              <a:t>This slide adds critical analysis. Amazon’s strategies create value, but they also create trade-offs. Personalization may raise privacy concerns because it depends on customer data. Third-party sellers may become dependent on Amazon’s platform rules, ranking, advertising system and fulfilment services. The FTC’s updated Amazon e-commerce case alleges that Amazon’s marketplace practices may overcharge sellers and reduce competition; however, these are still legal allegations and Amazon disputes them. From the perspective of strategic agility, Amazon should respond to customer expectations, regulation, AI development, competition and sustainability pressure. My suggestions are to improve data transparency, use AI demand forecasting to reduce waste, develop greener fulfilment and packaging, and provide clearer and fairer seller rules. Overall, successful e-commerce strategy requires not only technology and scale, but also careful management of cost, trust, platform governance and long-term sustainability.</a:t>
            </a:r>
          </a:p>
        </p:txBody>
      </p:sp>
      <p:sp>
        <p:nvSpPr>
          <p:cNvPr id="163" name="PlaceHolder 3"/>
          <p:cNvSpPr>
            <a:spLocks noGrp="1"/>
          </p:cNvSpPr>
          <p:nvPr>
            <p:ph type="sldNum" idx="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456CA6E-C762-4881-8049-94D7741CE095}" type="slidenum">
              <a:rPr lang="en-US" sz="1200" b="0" u="none" strike="noStrike">
                <a:solidFill>
                  <a:schemeClr val="dk1"/>
                </a:solidFill>
                <a:effectLst/>
                <a:uFillTx/>
                <a:latin typeface="+mn-lt"/>
                <a:ea typeface="+mn-ea"/>
              </a:rPr>
              <a:t>14</a:t>
            </a:fld>
            <a:endParaRPr lang="en-US" sz="1200" b="0" u="none" strike="noStrike">
              <a:solidFill>
                <a:srgbClr val="000000"/>
              </a:solidFill>
              <a:effectLst/>
              <a:uFillTx/>
              <a:latin typeface="Times New Roman" panose="02020503050405090304"/>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Hello everyone. This slide illustrates how Alibaba's strategy has reshaped its business model.</a:t>
            </a:r>
          </a:p>
          <a:p>
            <a:pPr marL="0" indent="0" algn="l">
              <a:lnSpc>
                <a:spcPct val="100000"/>
              </a:lnSpc>
            </a:pPr>
            <a:r>
              <a:rPr lang="en-US" sz="1400" b="0" i="0" u="none" strike="noStrike">
                <a:solidFill>
                  <a:srgbClr val="000000"/>
                </a:solidFill>
              </a:rPr>
              <a:t>First, in terms of Value Proposition, Alibaba has moved beyond just providing a marketplace. It now offers an AI-driven, one-stop consumption experience, supported by its strategic pivot to 'User First, AI-Driven'.</a:t>
            </a:r>
          </a:p>
          <a:p>
            <a:pPr marL="0" indent="0" algn="l">
              <a:lnSpc>
                <a:spcPct val="100000"/>
              </a:lnSpc>
            </a:pPr>
            <a:r>
              <a:rPr lang="en-US" sz="1400" b="0" i="0" u="none" strike="noStrike">
                <a:solidFill>
                  <a:srgbClr val="000000"/>
                </a:solidFill>
              </a:rPr>
              <a:t>Second, its Revenue Model has become highly diversified. As the evidence shows, over 70% of its revenue comes from customer management services like advertising and commissions, proving its success as a service platform for merchants.</a:t>
            </a:r>
          </a:p>
          <a:p>
            <a:pPr marL="0" indent="0" algn="l">
              <a:lnSpc>
                <a:spcPct val="100000"/>
              </a:lnSpc>
            </a:pPr>
            <a:r>
              <a:rPr lang="en-US" sz="1400" b="0" i="0" u="none" strike="noStrike">
                <a:solidFill>
                  <a:srgbClr val="000000"/>
                </a:solidFill>
              </a:rPr>
              <a:t>Finally, its Competitive Advantage is built on a powerful ecosystem of network effects and data, with nearly a billion active consumers creating a significant barrier to entry for competitors.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 name="PlaceHolder 1"/>
          <p:cNvSpPr>
            <a:spLocks noGrp="1" noRot="1" noChangeAspect="1"/>
          </p:cNvSpPr>
          <p:nvPr>
            <p:ph type="sldImg"/>
          </p:nvPr>
        </p:nvSpPr>
        <p:spPr>
          <a:xfrm>
            <a:off x="685800" y="1143000"/>
            <a:ext cx="5486400" cy="3086100"/>
          </a:xfrm>
          <a:prstGeom prst="rect">
            <a:avLst/>
          </a:prstGeom>
          <a:ln w="0">
            <a:noFill/>
          </a:ln>
        </p:spPr>
      </p:sp>
      <p:sp>
        <p:nvSpPr>
          <p:cNvPr id="16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endParaRPr lang="en-US" sz="2000" b="0" u="none" strike="noStrike" dirty="0">
              <a:solidFill>
                <a:srgbClr val="000000"/>
              </a:solidFill>
              <a:effectLst/>
              <a:uFillTx/>
              <a:latin typeface="Arial" panose="020B0604020202090204"/>
            </a:endParaRPr>
          </a:p>
        </p:txBody>
      </p:sp>
      <p:sp>
        <p:nvSpPr>
          <p:cNvPr id="166" name="PlaceHolder 3"/>
          <p:cNvSpPr>
            <a:spLocks noGrp="1"/>
          </p:cNvSpPr>
          <p:nvPr>
            <p:ph type="sldNum" idx="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166335E-9230-4398-A737-91E5CEEE346F}" type="slidenum">
              <a:rPr lang="en-US" sz="1200" b="0" u="none" strike="noStrike">
                <a:solidFill>
                  <a:schemeClr val="dk1"/>
                </a:solidFill>
                <a:effectLst/>
                <a:uFillTx/>
                <a:latin typeface="+mn-lt"/>
                <a:ea typeface="+mn-ea"/>
              </a:rPr>
              <a:t>20</a:t>
            </a:fld>
            <a:endParaRPr lang="en-US" sz="1200" b="0" u="none" strike="noStrike">
              <a:solidFill>
                <a:srgbClr val="000000"/>
              </a:solidFill>
              <a:effectLst/>
              <a:uFillTx/>
              <a:latin typeface="Times New Roman" panose="02020503050405090304"/>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Now, let's turn to the risks and challenges. The first major risk is Profitability Pressure. As shown in the data, Alibaba's significant investment in AI and new initiatives has led to a 40% year-on-year decrease in adjusted EBITA.</a:t>
            </a:r>
          </a:p>
          <a:p>
            <a:pPr marL="0" indent="0" algn="l">
              <a:lnSpc>
                <a:spcPct val="100000"/>
              </a:lnSpc>
            </a:pPr>
            <a:r>
              <a:rPr lang="en-US" sz="1400" b="0" i="0" u="none" strike="noStrike">
                <a:solidFill>
                  <a:srgbClr val="000000"/>
                </a:solidFill>
              </a:rPr>
              <a:t>Secondly, the company faces Intensifying Competition from all sides, not just traditional e-commerce rivals but also content platforms like Douyin.</a:t>
            </a:r>
          </a:p>
          <a:p>
            <a:pPr marL="0" indent="0" algn="l">
              <a:lnSpc>
                <a:spcPct val="100000"/>
              </a:lnSpc>
            </a:pPr>
            <a:r>
              <a:rPr lang="en-US" sz="1400" b="0" i="0" u="none" strike="noStrike">
                <a:solidFill>
                  <a:srgbClr val="000000"/>
                </a:solidFill>
              </a:rPr>
              <a:t>Finally, Regulatory and Data Risks are a constant concern. Stricter laws in China are forcing the company to continuously adapt its business practices to remain compliant.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dirty="0">
                <a:solidFill>
                  <a:srgbClr val="000000"/>
                </a:solidFill>
              </a:rPr>
              <a:t>Based on these risks, here are my recommendations. To address profitability pressure, Alibaba should refocus its AI efforts on improving operational efficiency rather than just subsidizing users. To counter competition, the company must deepen customer intimacy by providing truly personalized experiences, similar to how Netflix recommends movies. And to mitigate regulatory risks, enhancing transparency and trust in its data practices is crucial for long-term sustainability. These steps will help Alibaba balance growth with profitability and trust.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17488" y="812800"/>
            <a:ext cx="7124700" cy="4008438"/>
          </a:xfrm>
        </p:spPr>
      </p:sp>
      <p:sp>
        <p:nvSpPr>
          <p:cNvPr id="3" name="文本占位符 2"/>
          <p:cNvSpPr>
            <a:spLocks noGrp="1"/>
          </p:cNvSpPr>
          <p:nvPr>
            <p:ph type="body"/>
          </p:nvPr>
        </p:nvSpPr>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 name="PlaceHolder 1"/>
          <p:cNvSpPr>
            <a:spLocks noGrp="1" noRot="1" noChangeAspect="1"/>
          </p:cNvSpPr>
          <p:nvPr>
            <p:ph type="sldImg"/>
          </p:nvPr>
        </p:nvSpPr>
        <p:spPr>
          <a:xfrm>
            <a:off x="685800" y="1143000"/>
            <a:ext cx="5486400" cy="3086100"/>
          </a:xfrm>
          <a:prstGeom prst="rect">
            <a:avLst/>
          </a:prstGeom>
          <a:ln w="0">
            <a:noFill/>
          </a:ln>
        </p:spPr>
      </p:sp>
      <p:sp>
        <p:nvSpPr>
          <p:cNvPr id="16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nSpc>
                <a:spcPct val="100000"/>
              </a:lnSpc>
              <a:buNone/>
            </a:pPr>
            <a:r>
              <a:rPr lang="en-US" sz="2000" b="0" u="none" strike="noStrike">
                <a:solidFill>
                  <a:srgbClr val="000000"/>
                </a:solidFill>
                <a:effectLst/>
                <a:uFillTx/>
                <a:latin typeface="Arial" panose="020B0604020202090204"/>
              </a:rPr>
              <a:t>This slide can be kept as a backup reference slide, or the references can be copied into the full group reference slide.</a:t>
            </a:r>
          </a:p>
        </p:txBody>
      </p:sp>
      <p:sp>
        <p:nvSpPr>
          <p:cNvPr id="166" name="PlaceHolder 3"/>
          <p:cNvSpPr>
            <a:spLocks noGrp="1"/>
          </p:cNvSpPr>
          <p:nvPr>
            <p:ph type="sldNum" idx="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166335E-9230-4398-A737-91E5CEEE346F}" type="slidenum">
              <a:rPr lang="en-US" sz="1200" b="0" u="none" strike="noStrike">
                <a:solidFill>
                  <a:schemeClr val="dk1"/>
                </a:solidFill>
                <a:effectLst/>
                <a:uFillTx/>
                <a:latin typeface="+mn-lt"/>
                <a:ea typeface="+mn-ea"/>
              </a:rPr>
              <a:t>28</a:t>
            </a:fld>
            <a:endParaRPr lang="en-US" sz="1200" b="0" u="none" strike="noStrike">
              <a:solidFill>
                <a:srgbClr val="000000"/>
              </a:solidFill>
              <a:effectLst/>
              <a:uFillTx/>
              <a:latin typeface="Times New Roman" panose="02020503050405090304"/>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DEFAULT">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5/27/26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5/27/26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cSld>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5/27/26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5/27/26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theme" Target="../theme/theme2.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slideLayout" Target="../slideLayouts/slideLayout14.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theme" Target="../theme/theme3.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080" cy="1144800"/>
          </a:xfrm>
          <a:prstGeom prst="rect">
            <a:avLst/>
          </a:prstGeom>
          <a:noFill/>
          <a:ln w="0">
            <a:noFill/>
          </a:ln>
        </p:spPr>
        <p:txBody>
          <a:bodyPr lIns="0" tIns="0" rIns="0" bIns="0" anchor="ctr">
            <a:noAutofit/>
          </a:bodyPr>
          <a:lstStyle/>
          <a:p>
            <a:pPr indent="0">
              <a:buNone/>
            </a:pPr>
            <a:r>
              <a:rPr lang="en-US" sz="1800" b="0" u="none" strike="noStrike">
                <a:solidFill>
                  <a:schemeClr val="dk1"/>
                </a:solidFill>
                <a:effectLst/>
                <a:uFillTx/>
                <a:latin typeface="Aptos"/>
              </a:rPr>
              <a:t>Click to edit the title text format</a:t>
            </a:r>
          </a:p>
        </p:txBody>
      </p:sp>
      <p:sp>
        <p:nvSpPr>
          <p:cNvPr id="3" name="PlaceHolder 2"/>
          <p:cNvSpPr>
            <a:spLocks noGrp="1"/>
          </p:cNvSpPr>
          <p:nvPr>
            <p:ph type="body"/>
          </p:nvPr>
        </p:nvSpPr>
        <p:spPr>
          <a:xfrm>
            <a:off x="609480" y="1604520"/>
            <a:ext cx="10972080" cy="3977280"/>
          </a:xfrm>
          <a:prstGeom prst="rect">
            <a:avLst/>
          </a:prstGeom>
          <a:noFill/>
          <a:ln w="0">
            <a:noFill/>
          </a:ln>
        </p:spPr>
        <p:txBody>
          <a:bodyPr lIns="0" tIns="0" rIns="0" bIns="0" anchor="t">
            <a:normAutofit/>
          </a:bodyPr>
          <a:lstStyle/>
          <a:p>
            <a:pPr marL="431800" indent="-323850">
              <a:spcBef>
                <a:spcPts val="1415"/>
              </a:spcBef>
              <a:buClr>
                <a:srgbClr val="000000"/>
              </a:buClr>
              <a:buSzPct val="45000"/>
              <a:buFont typeface="Wingdings" panose="05000000000000000000" pitchFamily="2" charset="2"/>
              <a:buChar char=""/>
            </a:pPr>
            <a:r>
              <a:rPr lang="en-US" sz="3200" b="0" u="none" strike="noStrike">
                <a:solidFill>
                  <a:schemeClr val="dk1"/>
                </a:solidFill>
                <a:effectLst/>
                <a:uFillTx/>
                <a:latin typeface="Aptos"/>
              </a:rPr>
              <a:t>Click to edit the outline text format</a:t>
            </a:r>
          </a:p>
          <a:p>
            <a:pPr marL="864235" lvl="1" indent="-323850">
              <a:spcBef>
                <a:spcPts val="1135"/>
              </a:spcBef>
              <a:buClr>
                <a:srgbClr val="000000"/>
              </a:buClr>
              <a:buSzPct val="75000"/>
              <a:buFont typeface="Symbol" charset="2"/>
              <a:buChar char=""/>
            </a:pPr>
            <a:r>
              <a:rPr lang="en-US" sz="2400" b="0" u="none" strike="noStrike">
                <a:solidFill>
                  <a:schemeClr val="dk1"/>
                </a:solidFill>
                <a:effectLst/>
                <a:uFillTx/>
                <a:latin typeface="Aptos"/>
              </a:rPr>
              <a:t>Second Outline Level</a:t>
            </a:r>
          </a:p>
          <a:p>
            <a:pPr marL="1296035" lvl="2" indent="-288290">
              <a:spcBef>
                <a:spcPts val="850"/>
              </a:spcBef>
              <a:buClr>
                <a:srgbClr val="000000"/>
              </a:buClr>
              <a:buSzPct val="45000"/>
              <a:buFont typeface="Wingdings" panose="05000000000000000000" pitchFamily="2" charset="2"/>
              <a:buChar char=""/>
            </a:pPr>
            <a:r>
              <a:rPr lang="en-US" sz="2000" b="0" u="none" strike="noStrike">
                <a:solidFill>
                  <a:schemeClr val="dk1"/>
                </a:solidFill>
                <a:effectLst/>
                <a:uFillTx/>
                <a:latin typeface="Aptos"/>
              </a:rPr>
              <a:t>Third Outline Level</a:t>
            </a:r>
          </a:p>
          <a:p>
            <a:pPr marL="1727835" lvl="3" indent="-215900">
              <a:spcBef>
                <a:spcPts val="565"/>
              </a:spcBef>
              <a:buClr>
                <a:srgbClr val="000000"/>
              </a:buClr>
              <a:buSzPct val="75000"/>
              <a:buFont typeface="Symbol" charset="2"/>
              <a:buChar char=""/>
            </a:pPr>
            <a:r>
              <a:rPr lang="en-US" sz="2000" b="0" u="none" strike="noStrike">
                <a:solidFill>
                  <a:schemeClr val="dk1"/>
                </a:solidFill>
                <a:effectLst/>
                <a:uFillTx/>
                <a:latin typeface="Aptos"/>
              </a:rPr>
              <a:t>Fourth Outline Level</a:t>
            </a:r>
          </a:p>
          <a:p>
            <a:pPr marL="2160270" lvl="4" indent="-215900">
              <a:spcBef>
                <a:spcPts val="285"/>
              </a:spcBef>
              <a:buClr>
                <a:srgbClr val="000000"/>
              </a:buClr>
              <a:buSzPct val="45000"/>
              <a:buFont typeface="Wingdings" panose="05000000000000000000" pitchFamily="2" charset="2"/>
              <a:buChar char=""/>
            </a:pPr>
            <a:r>
              <a:rPr lang="en-US" sz="2000" b="0" u="none" strike="noStrike">
                <a:solidFill>
                  <a:schemeClr val="dk1"/>
                </a:solidFill>
                <a:effectLst/>
                <a:uFillTx/>
                <a:latin typeface="Aptos"/>
              </a:rPr>
              <a:t>Fifth Outline Level</a:t>
            </a:r>
          </a:p>
          <a:p>
            <a:pPr marL="2592070" lvl="5" indent="-215900">
              <a:spcBef>
                <a:spcPts val="285"/>
              </a:spcBef>
              <a:buClr>
                <a:srgbClr val="000000"/>
              </a:buClr>
              <a:buSzPct val="45000"/>
              <a:buFont typeface="Wingdings" panose="05000000000000000000" pitchFamily="2" charset="2"/>
              <a:buChar char=""/>
            </a:pPr>
            <a:r>
              <a:rPr lang="en-US" sz="2000" b="0" u="none" strike="noStrike">
                <a:solidFill>
                  <a:schemeClr val="dk1"/>
                </a:solidFill>
                <a:effectLst/>
                <a:uFillTx/>
                <a:latin typeface="Aptos"/>
              </a:rPr>
              <a:t>Sixth Outline Level</a:t>
            </a:r>
          </a:p>
          <a:p>
            <a:pPr marL="3023870" lvl="6" indent="-215900">
              <a:spcBef>
                <a:spcPts val="285"/>
              </a:spcBef>
              <a:buClr>
                <a:srgbClr val="000000"/>
              </a:buClr>
              <a:buSzPct val="45000"/>
              <a:buFont typeface="Wingdings" panose="05000000000000000000" pitchFamily="2" charset="2"/>
              <a:buChar char=""/>
            </a:pPr>
            <a:r>
              <a:rPr lang="en-US" sz="2000" b="0" u="none" strike="noStrike">
                <a:solidFill>
                  <a:schemeClr val="dk1"/>
                </a:solidFill>
                <a:effectLst/>
                <a:uFillTx/>
                <a:latin typeface="Aptos"/>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5/27/26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9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9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9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5/27/26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9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9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9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tags" Target="../tags/tag18.xml"/><Relationship Id="rId26" Type="http://schemas.openxmlformats.org/officeDocument/2006/relationships/image" Target="../media/image8.png"/><Relationship Id="rId3" Type="http://schemas.openxmlformats.org/officeDocument/2006/relationships/tags" Target="../tags/tag3.xml"/><Relationship Id="rId21" Type="http://schemas.openxmlformats.org/officeDocument/2006/relationships/tags" Target="../tags/tag21.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5" Type="http://schemas.openxmlformats.org/officeDocument/2006/relationships/image" Target="../media/image7.svg"/><Relationship Id="rId2" Type="http://schemas.openxmlformats.org/officeDocument/2006/relationships/tags" Target="../tags/tag2.xml"/><Relationship Id="rId16" Type="http://schemas.openxmlformats.org/officeDocument/2006/relationships/tags" Target="../tags/tag16.xml"/><Relationship Id="rId20" Type="http://schemas.openxmlformats.org/officeDocument/2006/relationships/tags" Target="../tags/tag20.xml"/><Relationship Id="rId29" Type="http://schemas.openxmlformats.org/officeDocument/2006/relationships/image" Target="../media/image11.svg"/><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24" Type="http://schemas.openxmlformats.org/officeDocument/2006/relationships/image" Target="../media/image6.png"/><Relationship Id="rId5" Type="http://schemas.openxmlformats.org/officeDocument/2006/relationships/tags" Target="../tags/tag5.xml"/><Relationship Id="rId15" Type="http://schemas.openxmlformats.org/officeDocument/2006/relationships/tags" Target="../tags/tag15.xml"/><Relationship Id="rId23" Type="http://schemas.openxmlformats.org/officeDocument/2006/relationships/notesSlide" Target="../notesSlides/notesSlide4.xml"/><Relationship Id="rId28" Type="http://schemas.openxmlformats.org/officeDocument/2006/relationships/image" Target="../media/image10.png"/><Relationship Id="rId10" Type="http://schemas.openxmlformats.org/officeDocument/2006/relationships/tags" Target="../tags/tag10.xml"/><Relationship Id="rId19" Type="http://schemas.openxmlformats.org/officeDocument/2006/relationships/tags" Target="../tags/tag19.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 Id="rId22" Type="http://schemas.openxmlformats.org/officeDocument/2006/relationships/slideLayout" Target="../slideLayouts/slideLayout14.xml"/><Relationship Id="rId27" Type="http://schemas.openxmlformats.org/officeDocument/2006/relationships/image" Target="../media/image9.sv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9.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slideLayout" Target="../slideLayouts/slideLayout2.xml"/><Relationship Id="rId1" Type="http://schemas.openxmlformats.org/officeDocument/2006/relationships/tags" Target="../tags/tag2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slideLayout" Target="../slideLayouts/slideLayout2.xml"/><Relationship Id="rId1" Type="http://schemas.openxmlformats.org/officeDocument/2006/relationships/tags" Target="../tags/tag23.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8" Type="http://schemas.openxmlformats.org/officeDocument/2006/relationships/image" Target="../media/image38.svg"/><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36.svg"/><Relationship Id="rId11" Type="http://schemas.openxmlformats.org/officeDocument/2006/relationships/image" Target="../media/image41.jpeg"/><Relationship Id="rId5" Type="http://schemas.openxmlformats.org/officeDocument/2006/relationships/image" Target="../media/image35.png"/><Relationship Id="rId10" Type="http://schemas.openxmlformats.org/officeDocument/2006/relationships/image" Target="../media/image40.svg"/><Relationship Id="rId4" Type="http://schemas.openxmlformats.org/officeDocument/2006/relationships/image" Target="../media/image34.svg"/><Relationship Id="rId9" Type="http://schemas.openxmlformats.org/officeDocument/2006/relationships/image" Target="../media/image39.png"/></Relationships>
</file>

<file path=ppt/slides/_rels/slide22.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9.xml"/><Relationship Id="rId1" Type="http://schemas.openxmlformats.org/officeDocument/2006/relationships/tags" Target="../tags/tag24.xml"/></Relationships>
</file>

<file path=ppt/slides/_rels/slide2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slideLayout" Target="../slideLayouts/slideLayout9.xml"/><Relationship Id="rId1" Type="http://schemas.openxmlformats.org/officeDocument/2006/relationships/tags" Target="../tags/tag25.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1.xml"/><Relationship Id="rId1" Type="http://schemas.openxmlformats.org/officeDocument/2006/relationships/tags" Target="../tags/tag2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4" name="1.png" descr="1.png"/>
          <p:cNvPicPr>
            <a:picLocks noChangeAspect="1"/>
          </p:cNvPicPr>
          <p:nvPr/>
        </p:nvPicPr>
        <p:blipFill>
          <a:blip r:embed="rId2"/>
          <a:stretch>
            <a:fillRect/>
          </a:stretch>
        </p:blipFill>
        <p:spPr>
          <a:xfrm>
            <a:off x="0" y="0"/>
            <a:ext cx="12192000" cy="6858000"/>
          </a:xfrm>
          <a:prstGeom prst="rect">
            <a:avLst/>
          </a:prstGeom>
          <a:ln w="12700">
            <a:miter lim="400000"/>
            <a:headEnd/>
            <a:tailEnd/>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6" name="2.png" descr="2.png"/>
          <p:cNvPicPr>
            <a:picLocks noChangeAspect="1"/>
          </p:cNvPicPr>
          <p:nvPr/>
        </p:nvPicPr>
        <p:blipFill>
          <a:blip r:embed="rId2"/>
          <a:stretch>
            <a:fillRect/>
          </a:stretch>
        </p:blipFill>
        <p:spPr>
          <a:xfrm>
            <a:off x="0" y="0"/>
            <a:ext cx="12192000" cy="6858000"/>
          </a:xfrm>
          <a:prstGeom prst="rect">
            <a:avLst/>
          </a:prstGeom>
          <a:ln w="12700">
            <a:miter lim="400000"/>
            <a:headEnd/>
            <a:tailEnd/>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8" name="3.png" descr="3.png"/>
          <p:cNvPicPr>
            <a:picLocks noChangeAspect="1"/>
          </p:cNvPicPr>
          <p:nvPr/>
        </p:nvPicPr>
        <p:blipFill>
          <a:blip r:embed="rId2"/>
          <a:stretch>
            <a:fillRect/>
          </a:stretch>
        </p:blipFill>
        <p:spPr>
          <a:xfrm>
            <a:off x="0" y="0"/>
            <a:ext cx="12192000" cy="6858000"/>
          </a:xfrm>
          <a:prstGeom prst="rect">
            <a:avLst/>
          </a:prstGeom>
          <a:ln w="12700">
            <a:miter lim="400000"/>
            <a:headEnd/>
            <a:tailEnd/>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0" name="4.png" descr="4.png"/>
          <p:cNvPicPr>
            <a:picLocks noChangeAspect="1"/>
          </p:cNvPicPr>
          <p:nvPr/>
        </p:nvPicPr>
        <p:blipFill>
          <a:blip r:embed="rId2"/>
          <a:stretch>
            <a:fillRect/>
          </a:stretch>
        </p:blipFill>
        <p:spPr>
          <a:xfrm>
            <a:off x="0" y="0"/>
            <a:ext cx="12192000" cy="6858000"/>
          </a:xfrm>
          <a:prstGeom prst="rect">
            <a:avLst/>
          </a:prstGeom>
          <a:ln w="12700">
            <a:miter lim="400000"/>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35000" y="-635000"/>
            <a:ext cx="2540000" cy="2540000"/>
          </a:xfrm>
          <a:prstGeom prst="ellipse">
            <a:avLst/>
          </a:prstGeom>
          <a:solidFill>
            <a:srgbClr val="FF6A00">
              <a:alpha val="10000"/>
            </a:srgbClr>
          </a:solidFill>
          <a:ln w="25400" cap="flat" cmpd="sng">
            <a:noFill/>
            <a:prstDash val="solid"/>
            <a:round/>
          </a:ln>
        </p:spPr>
        <p:txBody>
          <a:bodyPr vert="horz" wrap="square" lIns="63500" tIns="63500" rIns="63500" bIns="63500" rtlCol="0" anchor="ctr"/>
          <a:lstStyle/>
          <a:p>
            <a:pPr algn="ctr">
              <a:defRPr/>
            </a:pPr>
            <a:endParaRPr>
              <a:latin typeface="Aptos" panose="020B0004020202020204" pitchFamily="34" charset="0"/>
            </a:endParaRPr>
          </a:p>
        </p:txBody>
      </p:sp>
      <p:sp>
        <p:nvSpPr>
          <p:cNvPr id="3" name="AutoShape 3"/>
          <p:cNvSpPr/>
          <p:nvPr/>
        </p:nvSpPr>
        <p:spPr>
          <a:xfrm>
            <a:off x="10160000" y="5715000"/>
            <a:ext cx="1905000" cy="1905000"/>
          </a:xfrm>
          <a:prstGeom prst="ellipse">
            <a:avLst/>
          </a:prstGeom>
          <a:solidFill>
            <a:srgbClr val="FF6A00">
              <a:alpha val="10000"/>
            </a:srgbClr>
          </a:solidFill>
          <a:ln w="25400" cap="flat" cmpd="sng">
            <a:noFill/>
            <a:prstDash val="solid"/>
            <a:round/>
          </a:ln>
        </p:spPr>
        <p:txBody>
          <a:bodyPr vert="horz" wrap="square" lIns="63500" tIns="63500" rIns="63500" bIns="63500" rtlCol="0" anchor="ctr"/>
          <a:lstStyle/>
          <a:p>
            <a:pPr algn="ctr">
              <a:defRPr/>
            </a:pPr>
            <a:endParaRPr>
              <a:latin typeface="Aptos" panose="020B0004020202020204" pitchFamily="34" charset="0"/>
            </a:endParaRPr>
          </a:p>
        </p:txBody>
      </p:sp>
      <p:sp>
        <p:nvSpPr>
          <p:cNvPr id="4" name="AutoShape 4"/>
          <p:cNvSpPr/>
          <p:nvPr/>
        </p:nvSpPr>
        <p:spPr>
          <a:xfrm>
            <a:off x="952500" y="2013420"/>
            <a:ext cx="10160000" cy="177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9600" i="0" u="none" strike="noStrike" dirty="0">
                <a:solidFill>
                  <a:srgbClr val="FF6A00"/>
                </a:solidFill>
                <a:latin typeface="Aptos" panose="020B0004020202020204" pitchFamily="34" charset="0"/>
                <a:ea typeface="+mj-ea"/>
                <a:cs typeface="Times New Roman" panose="02020503050405090304" charset="0"/>
                <a:sym typeface="Noto Sans SC"/>
              </a:rPr>
              <a:t>Alibaba's</a:t>
            </a:r>
          </a:p>
        </p:txBody>
      </p:sp>
      <p:sp>
        <p:nvSpPr>
          <p:cNvPr id="5" name="AutoShape 5"/>
          <p:cNvSpPr/>
          <p:nvPr/>
        </p:nvSpPr>
        <p:spPr>
          <a:xfrm>
            <a:off x="1015700" y="3664419"/>
            <a:ext cx="10160000" cy="889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3600" i="0" u="none" strike="noStrike" dirty="0">
                <a:solidFill>
                  <a:srgbClr val="333333"/>
                </a:solidFill>
                <a:latin typeface="Aptos" panose="020B0004020202020204" pitchFamily="34" charset="0"/>
                <a:ea typeface="Noto Sans SC"/>
                <a:cs typeface="Times New Roman" panose="02020503050405090304" charset="0"/>
                <a:sym typeface="Noto Sans SC"/>
              </a:rPr>
              <a:t>E-commerce Strategy Analysis</a:t>
            </a:r>
            <a:endParaRPr lang="en-US" sz="1100" dirty="0">
              <a:latin typeface="Aptos" panose="020B0004020202020204" pitchFamily="34" charset="0"/>
              <a:cs typeface="Times New Roman" panose="02020503050405090304" charset="0"/>
            </a:endParaRPr>
          </a:p>
        </p:txBody>
      </p:sp>
      <p:sp>
        <p:nvSpPr>
          <p:cNvPr id="6" name="AutoShape 6"/>
          <p:cNvSpPr/>
          <p:nvPr/>
        </p:nvSpPr>
        <p:spPr>
          <a:xfrm>
            <a:off x="952500" y="4565523"/>
            <a:ext cx="10160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800" dirty="0">
                <a:solidFill>
                  <a:srgbClr val="666666"/>
                </a:solidFill>
                <a:latin typeface="Aptos" panose="020B0004020202020204" pitchFamily="34" charset="0"/>
                <a:ea typeface="Noto Sans SC"/>
                <a:cs typeface="Times New Roman" panose="02020503050405090304" charset="0"/>
                <a:sym typeface="Noto Sans SC"/>
              </a:rPr>
              <a:t>Yiwen Hao 2253659</a:t>
            </a:r>
            <a:endParaRPr lang="en-US" sz="2800" dirty="0">
              <a:latin typeface="Aptos" panose="020B0004020202020204" pitchFamily="34" charset="0"/>
              <a:cs typeface="Times New Roman" panose="02020503050405090304" charset="0"/>
            </a:endParaRPr>
          </a:p>
        </p:txBody>
      </p:sp>
      <p:sp>
        <p:nvSpPr>
          <p:cNvPr id="7" name="AutoShape 7"/>
          <p:cNvSpPr/>
          <p:nvPr/>
        </p:nvSpPr>
        <p:spPr>
          <a:xfrm>
            <a:off x="1016000" y="6858000"/>
            <a:ext cx="10160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endParaRPr lang="en-US" sz="1100" dirty="0">
              <a:latin typeface="Aptos" panose="020B0004020202020204" pitchFamily="34" charset="0"/>
            </a:endParaRPr>
          </a:p>
        </p:txBody>
      </p:sp>
      <p:sp>
        <p:nvSpPr>
          <p:cNvPr id="8" name="Shape 0"/>
          <p:cNvSpPr/>
          <p:nvPr/>
        </p:nvSpPr>
        <p:spPr>
          <a:xfrm>
            <a:off x="0" y="0"/>
            <a:ext cx="12191400" cy="164160"/>
          </a:xfrm>
          <a:prstGeom prst="rect">
            <a:avLst/>
          </a:prstGeom>
          <a:solidFill>
            <a:srgbClr val="FF9900"/>
          </a:solidFill>
          <a:ln w="12700">
            <a:solidFill>
              <a:srgbClr val="FF99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ptos" panose="020B00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Shape 0"/>
          <p:cNvSpPr/>
          <p:nvPr/>
        </p:nvSpPr>
        <p:spPr>
          <a:xfrm>
            <a:off x="0" y="0"/>
            <a:ext cx="12191400" cy="164160"/>
          </a:xfrm>
          <a:prstGeom prst="rect">
            <a:avLst/>
          </a:prstGeom>
          <a:solidFill>
            <a:srgbClr val="FF9900"/>
          </a:solidFill>
          <a:ln w="12700">
            <a:solidFill>
              <a:srgbClr val="FF99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ptos" panose="020B0004020202020204" pitchFamily="34" charset="0"/>
              <a:cs typeface="+mn-lt"/>
            </a:endParaRPr>
          </a:p>
        </p:txBody>
      </p:sp>
      <p:sp>
        <p:nvSpPr>
          <p:cNvPr id="143" name="Text 1"/>
          <p:cNvSpPr/>
          <p:nvPr/>
        </p:nvSpPr>
        <p:spPr>
          <a:xfrm>
            <a:off x="502920" y="320040"/>
            <a:ext cx="987516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2500" b="0" u="none" strike="noStrike" dirty="0">
              <a:solidFill>
                <a:srgbClr val="000000"/>
              </a:solidFill>
              <a:effectLst/>
              <a:uFillTx/>
              <a:latin typeface="Aptos" panose="020B0004020202020204" pitchFamily="34" charset="0"/>
              <a:cs typeface="+mn-lt"/>
            </a:endParaRPr>
          </a:p>
        </p:txBody>
      </p:sp>
      <p:sp>
        <p:nvSpPr>
          <p:cNvPr id="144" name="Text 2"/>
          <p:cNvSpPr/>
          <p:nvPr/>
        </p:nvSpPr>
        <p:spPr>
          <a:xfrm>
            <a:off x="521280" y="749880"/>
            <a:ext cx="1005804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200" b="1" u="none" strike="noStrike" dirty="0">
                <a:solidFill>
                  <a:srgbClr val="000000"/>
                </a:solidFill>
                <a:effectLst/>
                <a:uFillTx/>
                <a:latin typeface="Aptos" panose="020B0004020202020204" pitchFamily="34" charset="0"/>
                <a:cs typeface="+mn-lt"/>
              </a:rPr>
              <a:t>T</a:t>
            </a:r>
            <a:r>
              <a:rPr lang="en-US" sz="3200" b="1" dirty="0">
                <a:solidFill>
                  <a:srgbClr val="000000"/>
                </a:solidFill>
                <a:latin typeface="Aptos" panose="020B0004020202020204" pitchFamily="34" charset="0"/>
                <a:cs typeface="+mn-lt"/>
              </a:rPr>
              <a:t>he</a:t>
            </a:r>
            <a:r>
              <a:rPr lang="zh-CN" altLang="en-US" sz="3200" b="1" dirty="0">
                <a:solidFill>
                  <a:srgbClr val="000000"/>
                </a:solidFill>
                <a:latin typeface="Aptos" panose="020B0004020202020204" pitchFamily="34" charset="0"/>
                <a:cs typeface="+mn-lt"/>
              </a:rPr>
              <a:t> </a:t>
            </a:r>
            <a:r>
              <a:rPr lang="en-US" altLang="zh-CN" sz="3200" b="1" dirty="0">
                <a:solidFill>
                  <a:srgbClr val="000000"/>
                </a:solidFill>
                <a:latin typeface="Aptos" panose="020B0004020202020204" pitchFamily="34" charset="0"/>
                <a:cs typeface="+mn-lt"/>
              </a:rPr>
              <a:t>Strategy of </a:t>
            </a:r>
            <a:r>
              <a:rPr lang="en-US" sz="3200" b="1" u="none" strike="noStrike" dirty="0">
                <a:solidFill>
                  <a:srgbClr val="000000"/>
                </a:solidFill>
                <a:effectLst/>
                <a:uFillTx/>
                <a:latin typeface="Aptos" panose="020B0004020202020204" pitchFamily="34" charset="0"/>
                <a:cs typeface="+mn-lt"/>
              </a:rPr>
              <a:t>A</a:t>
            </a:r>
            <a:r>
              <a:rPr lang="en-US" altLang="zh-CN" sz="3200" b="1" u="none" strike="noStrike" dirty="0">
                <a:solidFill>
                  <a:srgbClr val="000000"/>
                </a:solidFill>
                <a:effectLst/>
                <a:uFillTx/>
                <a:latin typeface="Aptos" panose="020B0004020202020204" pitchFamily="34" charset="0"/>
                <a:cs typeface="+mn-lt"/>
              </a:rPr>
              <a:t>libaba</a:t>
            </a:r>
            <a:endParaRPr lang="en-US" sz="3200" b="1" u="none" strike="noStrike" dirty="0">
              <a:solidFill>
                <a:srgbClr val="000000"/>
              </a:solidFill>
              <a:effectLst/>
              <a:uFillTx/>
              <a:latin typeface="Aptos" panose="020B0004020202020204" pitchFamily="34" charset="0"/>
              <a:cs typeface="+mn-lt"/>
            </a:endParaRPr>
          </a:p>
        </p:txBody>
      </p:sp>
      <p:sp>
        <p:nvSpPr>
          <p:cNvPr id="145" name="Text 3"/>
          <p:cNvSpPr/>
          <p:nvPr/>
        </p:nvSpPr>
        <p:spPr>
          <a:xfrm>
            <a:off x="10012680" y="356760"/>
            <a:ext cx="15998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endParaRPr lang="en-US" sz="850" b="0" u="none" strike="noStrike" dirty="0">
              <a:solidFill>
                <a:srgbClr val="000000"/>
              </a:solidFill>
              <a:effectLst/>
              <a:uFillTx/>
              <a:latin typeface="Aptos" panose="020B0004020202020204" pitchFamily="34" charset="0"/>
              <a:cs typeface="+mn-lt"/>
            </a:endParaRPr>
          </a:p>
        </p:txBody>
      </p:sp>
      <p:sp>
        <p:nvSpPr>
          <p:cNvPr id="147" name="Text 5"/>
          <p:cNvSpPr/>
          <p:nvPr/>
        </p:nvSpPr>
        <p:spPr>
          <a:xfrm>
            <a:off x="521335" y="1358265"/>
            <a:ext cx="11091545" cy="1064895"/>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lstStyle/>
          <a:p>
            <a:pPr>
              <a:tabLst>
                <a:tab pos="0" algn="l"/>
              </a:tabLst>
            </a:pPr>
            <a:r>
              <a:rPr lang="en-US" altLang="zh-CN" b="1" dirty="0">
                <a:latin typeface="Aptos" panose="020B0004020202020204" pitchFamily="34" charset="0"/>
                <a:cs typeface="+mn-lt"/>
              </a:rPr>
              <a:t>Strategic focus</a:t>
            </a:r>
            <a:r>
              <a:rPr lang="en-US" altLang="zh-CN" dirty="0">
                <a:latin typeface="Aptos" panose="020B0004020202020204" pitchFamily="34" charset="0"/>
                <a:cs typeface="+mn-lt"/>
              </a:rPr>
              <a:t>: FY2025 annual report defines strategy as </a:t>
            </a:r>
            <a:r>
              <a:rPr lang="en-US" altLang="zh-CN" b="1" dirty="0">
                <a:latin typeface="Aptos" panose="020B0004020202020204" pitchFamily="34" charset="0"/>
                <a:cs typeface="+mn-lt"/>
              </a:rPr>
              <a:t>“User First, AI-Driven”</a:t>
            </a:r>
            <a:r>
              <a:rPr lang="en-US" altLang="zh-CN" dirty="0">
                <a:latin typeface="Aptos" panose="020B0004020202020204" pitchFamily="34" charset="0"/>
                <a:cs typeface="+mn-lt"/>
              </a:rPr>
              <a:t>, with core engines </a:t>
            </a:r>
            <a:r>
              <a:rPr lang="en-US" altLang="zh-CN" b="1" dirty="0">
                <a:latin typeface="Aptos" panose="020B0004020202020204" pitchFamily="34" charset="0"/>
                <a:cs typeface="+mn-lt"/>
              </a:rPr>
              <a:t>e-commerce and </a:t>
            </a:r>
            <a:r>
              <a:rPr lang="en-US" altLang="zh-CN" b="1" dirty="0" err="1">
                <a:latin typeface="Aptos" panose="020B0004020202020204" pitchFamily="34" charset="0"/>
                <a:cs typeface="+mn-lt"/>
              </a:rPr>
              <a:t>AI+Cloud</a:t>
            </a:r>
            <a:r>
              <a:rPr lang="en-US" altLang="zh-CN" dirty="0">
                <a:latin typeface="Aptos" panose="020B0004020202020204" pitchFamily="34" charset="0"/>
                <a:cs typeface="+mn-lt"/>
              </a:rPr>
              <a:t>.</a:t>
            </a:r>
            <a:endParaRPr lang="en-US" altLang="zh-CN" b="0" u="none" strike="noStrike" dirty="0">
              <a:solidFill>
                <a:srgbClr val="000000"/>
              </a:solidFill>
              <a:effectLst/>
              <a:uFillTx/>
              <a:latin typeface="Aptos" panose="020B0004020202020204" pitchFamily="34" charset="0"/>
              <a:cs typeface="+mn-lt"/>
            </a:endParaRPr>
          </a:p>
        </p:txBody>
      </p:sp>
      <p:sp>
        <p:nvSpPr>
          <p:cNvPr id="150" name="Text 8"/>
          <p:cNvSpPr/>
          <p:nvPr/>
        </p:nvSpPr>
        <p:spPr>
          <a:xfrm>
            <a:off x="3260634" y="2272413"/>
            <a:ext cx="7175503" cy="1359445"/>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marL="342900" indent="-342900">
              <a:buFont typeface="Arial" panose="020B0604020202090204" pitchFamily="34" charset="0"/>
              <a:buChar char="•"/>
              <a:tabLst>
                <a:tab pos="0" algn="l"/>
              </a:tabLst>
            </a:pPr>
            <a:r>
              <a:rPr lang="en-US" b="1" u="none" strike="noStrike" dirty="0">
                <a:solidFill>
                  <a:srgbClr val="000000"/>
                </a:solidFill>
                <a:effectLst/>
                <a:uFillTx/>
                <a:latin typeface="Aptos" panose="020B0004020202020204" pitchFamily="34" charset="0"/>
                <a:cs typeface="+mn-lt"/>
              </a:rPr>
              <a:t>Tailoring products and services to customers’ specific needs</a:t>
            </a:r>
            <a:r>
              <a:rPr lang="en-US" b="0" u="none" strike="noStrike" dirty="0">
                <a:solidFill>
                  <a:srgbClr val="000000"/>
                </a:solidFill>
                <a:effectLst/>
                <a:uFillTx/>
                <a:latin typeface="Aptos" panose="020B0004020202020204" pitchFamily="34" charset="0"/>
                <a:cs typeface="+mn-lt"/>
              </a:rPr>
              <a:t>(</a:t>
            </a:r>
            <a:r>
              <a:rPr lang="en-US" altLang="zh-CN" dirty="0">
                <a:latin typeface="Aptos" panose="020B0004020202020204" pitchFamily="34" charset="0"/>
                <a:cs typeface="+mn-lt"/>
              </a:rPr>
              <a:t>Treacy &amp; Wiersema,1993)</a:t>
            </a:r>
          </a:p>
          <a:p>
            <a:pPr marL="342900" indent="-342900">
              <a:buFont typeface="Arial" panose="020B0604020202090204" pitchFamily="34" charset="0"/>
              <a:buChar char="•"/>
              <a:tabLst>
                <a:tab pos="0" algn="l"/>
              </a:tabLst>
            </a:pPr>
            <a:endParaRPr lang="en-US" altLang="zh-CN" dirty="0">
              <a:latin typeface="Aptos" panose="020B0004020202020204" pitchFamily="34" charset="0"/>
              <a:cs typeface="+mn-lt"/>
            </a:endParaRPr>
          </a:p>
          <a:p>
            <a:pPr marL="342900" indent="-342900">
              <a:buFont typeface="Arial" panose="020B0604020202090204" pitchFamily="34" charset="0"/>
              <a:buChar char="•"/>
              <a:tabLst>
                <a:tab pos="0" algn="l"/>
              </a:tabLst>
            </a:pPr>
            <a:r>
              <a:rPr lang="en-US" b="1" dirty="0">
                <a:solidFill>
                  <a:srgbClr val="000000"/>
                </a:solidFill>
                <a:latin typeface="Aptos" panose="020B0004020202020204" pitchFamily="34" charset="0"/>
                <a:cs typeface="+mn-lt"/>
              </a:rPr>
              <a:t>Increase engagement and repeat purchases by </a:t>
            </a:r>
            <a:r>
              <a:rPr lang="en-US" dirty="0">
                <a:solidFill>
                  <a:srgbClr val="000000"/>
                </a:solidFill>
                <a:latin typeface="Aptos" panose="020B0004020202020204" pitchFamily="34" charset="0"/>
                <a:cs typeface="+mn-lt"/>
              </a:rPr>
              <a:t>user </a:t>
            </a:r>
            <a:r>
              <a:rPr lang="en-US" b="0" u="none" strike="noStrike" dirty="0">
                <a:solidFill>
                  <a:srgbClr val="000000"/>
                </a:solidFill>
                <a:effectLst/>
                <a:uFillTx/>
                <a:latin typeface="Aptos" panose="020B0004020202020204" pitchFamily="34" charset="0"/>
                <a:cs typeface="+mn-lt"/>
              </a:rPr>
              <a:t>data, algorithmic recommendations, the 88VIP membership and AI shopping assistants</a:t>
            </a:r>
          </a:p>
        </p:txBody>
      </p:sp>
      <p:sp>
        <p:nvSpPr>
          <p:cNvPr id="151" name="Text 9"/>
          <p:cNvSpPr/>
          <p:nvPr/>
        </p:nvSpPr>
        <p:spPr>
          <a:xfrm>
            <a:off x="960120" y="3538800"/>
            <a:ext cx="10195200" cy="319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endParaRPr lang="en-US" sz="850" b="0" u="none" strike="noStrike" dirty="0">
              <a:solidFill>
                <a:srgbClr val="000000"/>
              </a:solidFill>
              <a:effectLst/>
              <a:uFillTx/>
              <a:latin typeface="Aptos" panose="020B0004020202020204" pitchFamily="34" charset="0"/>
              <a:cs typeface="+mn-lt"/>
            </a:endParaRPr>
          </a:p>
        </p:txBody>
      </p:sp>
      <p:sp>
        <p:nvSpPr>
          <p:cNvPr id="152" name="Text 10"/>
          <p:cNvSpPr/>
          <p:nvPr/>
        </p:nvSpPr>
        <p:spPr>
          <a:xfrm>
            <a:off x="3260634" y="4474680"/>
            <a:ext cx="7748452" cy="1561304"/>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marL="342900" indent="-342900" defTabSz="914400">
              <a:lnSpc>
                <a:spcPct val="100000"/>
              </a:lnSpc>
              <a:buFont typeface="Arial" panose="020B0604020202090204" pitchFamily="34" charset="0"/>
              <a:buChar char="•"/>
              <a:tabLst>
                <a:tab pos="0" algn="l"/>
              </a:tabLst>
            </a:pPr>
            <a:r>
              <a:rPr lang="en-US" sz="1600" b="0" u="none" strike="noStrike" dirty="0">
                <a:solidFill>
                  <a:srgbClr val="000000"/>
                </a:solidFill>
                <a:effectLst/>
                <a:uFillTx/>
                <a:latin typeface="Aptos" panose="020B0004020202020204" pitchFamily="34" charset="0"/>
                <a:cs typeface="+mn-lt"/>
              </a:rPr>
              <a:t>Operates as a </a:t>
            </a:r>
            <a:r>
              <a:rPr lang="en-US" sz="1600" b="1" u="none" strike="noStrike" dirty="0">
                <a:solidFill>
                  <a:srgbClr val="000000"/>
                </a:solidFill>
                <a:effectLst/>
                <a:uFillTx/>
                <a:latin typeface="Aptos" panose="020B0004020202020204" pitchFamily="34" charset="0"/>
                <a:cs typeface="+mn-lt"/>
              </a:rPr>
              <a:t>multi-sided platform </a:t>
            </a:r>
            <a:r>
              <a:rPr lang="en-US" sz="1600" b="0" u="none" strike="noStrike" dirty="0">
                <a:solidFill>
                  <a:srgbClr val="000000"/>
                </a:solidFill>
                <a:effectLst/>
                <a:uFillTx/>
                <a:latin typeface="Aptos" panose="020B0004020202020204" pitchFamily="34" charset="0"/>
                <a:cs typeface="+mn-lt"/>
              </a:rPr>
              <a:t>that connects consumers, merchants, brands, logistics providers and technology service provider</a:t>
            </a:r>
          </a:p>
          <a:p>
            <a:pPr marL="342900" indent="-342900" defTabSz="914400">
              <a:lnSpc>
                <a:spcPct val="100000"/>
              </a:lnSpc>
              <a:buFont typeface="Arial" panose="020B0604020202090204" pitchFamily="34" charset="0"/>
              <a:buChar char="•"/>
              <a:tabLst>
                <a:tab pos="0" algn="l"/>
              </a:tabLst>
            </a:pPr>
            <a:endParaRPr lang="en-US" sz="1600" b="0" u="none" strike="noStrike" dirty="0">
              <a:solidFill>
                <a:srgbClr val="000000"/>
              </a:solidFill>
              <a:effectLst/>
              <a:uFillTx/>
              <a:latin typeface="Aptos" panose="020B0004020202020204" pitchFamily="34" charset="0"/>
              <a:cs typeface="+mn-lt"/>
            </a:endParaRPr>
          </a:p>
          <a:p>
            <a:pPr marL="342900" indent="-342900">
              <a:buFont typeface="Arial" panose="020B0604020202090204" pitchFamily="34" charset="0"/>
              <a:buChar char="•"/>
              <a:tabLst>
                <a:tab pos="0" algn="l"/>
              </a:tabLst>
            </a:pPr>
            <a:r>
              <a:rPr lang="en-US" altLang="zh-CN" sz="1600" dirty="0">
                <a:latin typeface="Aptos" panose="020B0004020202020204" pitchFamily="34" charset="0"/>
                <a:cs typeface="+mn-lt"/>
              </a:rPr>
              <a:t>Customer management revenue (ads/commissions) represented 71.7% of the total revenue for fiscal year 2025, proving </a:t>
            </a:r>
            <a:r>
              <a:rPr lang="en-US" altLang="zh-CN" sz="1600" b="1" dirty="0">
                <a:latin typeface="Aptos" panose="020B0004020202020204" pitchFamily="34" charset="0"/>
                <a:cs typeface="+mn-lt"/>
              </a:rPr>
              <a:t>revenue comes from merchant services</a:t>
            </a:r>
            <a:r>
              <a:rPr lang="en-US" altLang="zh-CN" sz="1600" dirty="0">
                <a:latin typeface="Aptos" panose="020B0004020202020204" pitchFamily="34" charset="0"/>
                <a:cs typeface="+mn-lt"/>
              </a:rPr>
              <a:t>, not direct sales</a:t>
            </a:r>
            <a:endParaRPr lang="en-US" altLang="zh-CN" sz="1600" b="0" u="none" strike="noStrike" dirty="0">
              <a:solidFill>
                <a:srgbClr val="000000"/>
              </a:solidFill>
              <a:effectLst/>
              <a:uFillTx/>
              <a:latin typeface="Aptos" panose="020B0004020202020204" pitchFamily="34" charset="0"/>
              <a:cs typeface="+mn-lt"/>
            </a:endParaRPr>
          </a:p>
        </p:txBody>
      </p:sp>
      <p:sp>
        <p:nvSpPr>
          <p:cNvPr id="153" name="Text 11"/>
          <p:cNvSpPr/>
          <p:nvPr/>
        </p:nvSpPr>
        <p:spPr>
          <a:xfrm>
            <a:off x="5534025" y="6428160"/>
            <a:ext cx="10195200" cy="319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endParaRPr lang="en-US" sz="850" b="0" u="none" strike="noStrike" dirty="0">
              <a:solidFill>
                <a:srgbClr val="000000"/>
              </a:solidFill>
              <a:effectLst/>
              <a:uFillTx/>
              <a:latin typeface="Aptos" panose="020B0004020202020204" pitchFamily="34" charset="0"/>
              <a:cs typeface="+mn-lt"/>
            </a:endParaRPr>
          </a:p>
        </p:txBody>
      </p:sp>
      <p:sp>
        <p:nvSpPr>
          <p:cNvPr id="154" name="Text 12"/>
          <p:cNvSpPr/>
          <p:nvPr/>
        </p:nvSpPr>
        <p:spPr>
          <a:xfrm>
            <a:off x="960120" y="5129640"/>
            <a:ext cx="10195200" cy="319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endParaRPr lang="en-US" sz="850" b="0" u="none" strike="noStrike" dirty="0">
              <a:solidFill>
                <a:srgbClr val="000000"/>
              </a:solidFill>
              <a:effectLst/>
              <a:uFillTx/>
              <a:latin typeface="Aptos" panose="020B0004020202020204" pitchFamily="34" charset="0"/>
              <a:cs typeface="+mn-lt"/>
            </a:endParaRPr>
          </a:p>
        </p:txBody>
      </p:sp>
      <p:sp>
        <p:nvSpPr>
          <p:cNvPr id="19" name="Rounded Rectangle 5"/>
          <p:cNvSpPr/>
          <p:nvPr/>
        </p:nvSpPr>
        <p:spPr>
          <a:xfrm>
            <a:off x="502920" y="2559467"/>
            <a:ext cx="2468880" cy="841248"/>
          </a:xfrm>
          <a:prstGeom prst="roundRect">
            <a:avLst/>
          </a:prstGeom>
          <a:solidFill>
            <a:srgbClr val="F7F8FA"/>
          </a:solidFill>
          <a:ln w="16510">
            <a:solidFill>
              <a:srgbClr val="FF9900"/>
            </a:solidFill>
          </a:ln>
        </p:spPr>
        <p:style>
          <a:lnRef idx="1">
            <a:schemeClr val="accent1"/>
          </a:lnRef>
          <a:fillRef idx="3">
            <a:schemeClr val="accent1"/>
          </a:fillRef>
          <a:effectRef idx="2">
            <a:schemeClr val="accent1"/>
          </a:effectRef>
          <a:fontRef idx="minor">
            <a:schemeClr val="lt1"/>
          </a:fontRef>
        </p:style>
        <p:txBody>
          <a:bodyPr lIns="109728" tIns="73152" rIns="109728" rtlCol="0" anchor="ctr"/>
          <a:lstStyle/>
          <a:p>
            <a:pPr marL="0" marR="0" lvl="0" indent="0" algn="ctr" defTabSz="457200" rtl="0" eaLnBrk="1" fontAlgn="auto" latinLnBrk="0" hangingPunct="1">
              <a:lnSpc>
                <a:spcPct val="100000"/>
              </a:lnSpc>
              <a:spcBef>
                <a:spcPts val="0"/>
              </a:spcBef>
              <a:spcAft>
                <a:spcPts val="0"/>
              </a:spcAft>
              <a:buClrTx/>
              <a:buSzTx/>
              <a:buFontTx/>
              <a:buNone/>
              <a:defRPr sz="1200" b="1">
                <a:solidFill>
                  <a:srgbClr val="232F3E"/>
                </a:solidFill>
                <a:latin typeface="Calibri"/>
              </a:defRPr>
            </a:pPr>
            <a:r>
              <a:rPr kumimoji="0" lang="en-US" sz="2000" b="0" i="0" u="none" strike="noStrike" kern="1200" cap="none" spc="0" normalizeH="0" baseline="0" noProof="0" dirty="0">
                <a:ln>
                  <a:noFill/>
                </a:ln>
                <a:solidFill>
                  <a:srgbClr val="1F2933"/>
                </a:solidFill>
                <a:effectLst/>
                <a:uLnTx/>
                <a:uFillTx/>
                <a:latin typeface="Aptos" panose="020B0004020202020204" pitchFamily="34" charset="0"/>
                <a:cs typeface="+mn-lt"/>
              </a:rPr>
              <a:t>Customer intimacy</a:t>
            </a:r>
          </a:p>
        </p:txBody>
      </p:sp>
      <p:sp>
        <p:nvSpPr>
          <p:cNvPr id="20" name="Rounded Rectangle 5"/>
          <p:cNvSpPr/>
          <p:nvPr/>
        </p:nvSpPr>
        <p:spPr>
          <a:xfrm>
            <a:off x="502920" y="4521763"/>
            <a:ext cx="2468880" cy="841248"/>
          </a:xfrm>
          <a:prstGeom prst="roundRect">
            <a:avLst/>
          </a:prstGeom>
          <a:solidFill>
            <a:srgbClr val="F7F8FA"/>
          </a:solidFill>
          <a:ln w="16510">
            <a:solidFill>
              <a:srgbClr val="FF9900"/>
            </a:solidFill>
          </a:ln>
        </p:spPr>
        <p:style>
          <a:lnRef idx="1">
            <a:schemeClr val="accent1"/>
          </a:lnRef>
          <a:fillRef idx="3">
            <a:schemeClr val="accent1"/>
          </a:fillRef>
          <a:effectRef idx="2">
            <a:schemeClr val="accent1"/>
          </a:effectRef>
          <a:fontRef idx="minor">
            <a:schemeClr val="lt1"/>
          </a:fontRef>
        </p:style>
        <p:txBody>
          <a:bodyPr lIns="109728" tIns="73152" rIns="109728" rtlCol="0" anchor="ctr"/>
          <a:lstStyle/>
          <a:p>
            <a:pPr marL="0" marR="0" lvl="0" indent="0" algn="ctr" defTabSz="457200" rtl="0" eaLnBrk="1" fontAlgn="auto" latinLnBrk="0" hangingPunct="1">
              <a:lnSpc>
                <a:spcPct val="100000"/>
              </a:lnSpc>
              <a:spcBef>
                <a:spcPts val="0"/>
              </a:spcBef>
              <a:spcAft>
                <a:spcPts val="0"/>
              </a:spcAft>
              <a:buClrTx/>
              <a:buSzTx/>
              <a:buFontTx/>
              <a:buNone/>
              <a:defRPr sz="1200" b="1">
                <a:solidFill>
                  <a:srgbClr val="232F3E"/>
                </a:solidFill>
                <a:latin typeface="Calibri"/>
              </a:defRPr>
            </a:pPr>
            <a:r>
              <a:rPr kumimoji="0" lang="en-US" sz="2000" b="0" i="0" u="none" strike="noStrike" kern="1200" cap="none" spc="0" normalizeH="0" baseline="0" noProof="0" dirty="0">
                <a:ln>
                  <a:noFill/>
                </a:ln>
                <a:solidFill>
                  <a:srgbClr val="1F2933"/>
                </a:solidFill>
                <a:effectLst/>
                <a:uLnTx/>
                <a:uFillTx/>
                <a:latin typeface="Aptos" panose="020B0004020202020204" pitchFamily="34" charset="0"/>
                <a:cs typeface="+mn-lt"/>
              </a:rPr>
              <a:t>Platform ecosystem</a:t>
            </a:r>
          </a:p>
        </p:txBody>
      </p:sp>
      <p:sp>
        <p:nvSpPr>
          <p:cNvPr id="2" name="文本框 1"/>
          <p:cNvSpPr txBox="1"/>
          <p:nvPr/>
        </p:nvSpPr>
        <p:spPr>
          <a:xfrm>
            <a:off x="363855" y="1490980"/>
            <a:ext cx="4064000" cy="337185"/>
          </a:xfrm>
          <a:prstGeom prst="rect">
            <a:avLst/>
          </a:prstGeom>
          <a:noFill/>
        </p:spPr>
        <p:txBody>
          <a:bodyPr wrap="square" rtlCol="0">
            <a:spAutoFit/>
          </a:bodyPr>
          <a:lstStyle/>
          <a:p>
            <a:endParaRPr lang="zh-CN" altLang="en-US" sz="1600">
              <a:latin typeface="Aptos" panose="020B00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Shape 0"/>
          <p:cNvSpPr/>
          <p:nvPr/>
        </p:nvSpPr>
        <p:spPr>
          <a:xfrm>
            <a:off x="0" y="0"/>
            <a:ext cx="12191400" cy="164160"/>
          </a:xfrm>
          <a:prstGeom prst="rect">
            <a:avLst/>
          </a:prstGeom>
          <a:solidFill>
            <a:srgbClr val="FF9900"/>
          </a:solidFill>
          <a:ln w="12700">
            <a:solidFill>
              <a:srgbClr val="FF99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ptos" panose="020B0004020202020204" pitchFamily="34" charset="0"/>
            </a:endParaRPr>
          </a:p>
        </p:txBody>
      </p:sp>
      <p:sp>
        <p:nvSpPr>
          <p:cNvPr id="143" name="Text 1"/>
          <p:cNvSpPr/>
          <p:nvPr/>
        </p:nvSpPr>
        <p:spPr>
          <a:xfrm>
            <a:off x="502920" y="320040"/>
            <a:ext cx="987516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2500" b="0" u="none" strike="noStrike" dirty="0">
              <a:solidFill>
                <a:srgbClr val="000000"/>
              </a:solidFill>
              <a:effectLst/>
              <a:uFillTx/>
              <a:latin typeface="Aptos" panose="020B0004020202020204" pitchFamily="34" charset="0"/>
            </a:endParaRPr>
          </a:p>
        </p:txBody>
      </p:sp>
      <p:sp>
        <p:nvSpPr>
          <p:cNvPr id="144" name="Text 2"/>
          <p:cNvSpPr/>
          <p:nvPr/>
        </p:nvSpPr>
        <p:spPr>
          <a:xfrm>
            <a:off x="521280" y="749880"/>
            <a:ext cx="1005804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200" b="1" u="none" strike="noStrike" dirty="0">
                <a:solidFill>
                  <a:srgbClr val="000000"/>
                </a:solidFill>
                <a:effectLst/>
                <a:uFillTx/>
                <a:latin typeface="Aptos" panose="020B0004020202020204" pitchFamily="34" charset="0"/>
              </a:rPr>
              <a:t>Business Model Impact</a:t>
            </a:r>
          </a:p>
        </p:txBody>
      </p:sp>
      <p:sp>
        <p:nvSpPr>
          <p:cNvPr id="145" name="Text 3"/>
          <p:cNvSpPr/>
          <p:nvPr/>
        </p:nvSpPr>
        <p:spPr>
          <a:xfrm>
            <a:off x="10012680" y="356760"/>
            <a:ext cx="15998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endParaRPr lang="en-US" sz="850" b="0" u="none" strike="noStrike" dirty="0">
              <a:solidFill>
                <a:srgbClr val="000000"/>
              </a:solidFill>
              <a:effectLst/>
              <a:uFillTx/>
              <a:latin typeface="Aptos" panose="020B0004020202020204" pitchFamily="34" charset="0"/>
            </a:endParaRPr>
          </a:p>
        </p:txBody>
      </p:sp>
      <p:sp>
        <p:nvSpPr>
          <p:cNvPr id="147" name="Text 5"/>
          <p:cNvSpPr/>
          <p:nvPr/>
        </p:nvSpPr>
        <p:spPr>
          <a:xfrm>
            <a:off x="960120" y="1417320"/>
            <a:ext cx="10195200" cy="319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endParaRPr lang="en-US" sz="850" b="0" u="none" strike="noStrike" dirty="0">
              <a:solidFill>
                <a:srgbClr val="000000"/>
              </a:solidFill>
              <a:effectLst/>
              <a:uFillTx/>
              <a:latin typeface="Aptos" panose="020B0004020202020204" pitchFamily="34" charset="0"/>
            </a:endParaRPr>
          </a:p>
        </p:txBody>
      </p:sp>
      <p:sp>
        <p:nvSpPr>
          <p:cNvPr id="150" name="Text 8"/>
          <p:cNvSpPr/>
          <p:nvPr/>
        </p:nvSpPr>
        <p:spPr>
          <a:xfrm>
            <a:off x="960120" y="3008520"/>
            <a:ext cx="10195200" cy="319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endParaRPr lang="en-US" sz="850" b="0" u="none" strike="noStrike" dirty="0">
              <a:solidFill>
                <a:srgbClr val="000000"/>
              </a:solidFill>
              <a:effectLst/>
              <a:uFillTx/>
              <a:latin typeface="Aptos" panose="020B0004020202020204" pitchFamily="34" charset="0"/>
            </a:endParaRPr>
          </a:p>
        </p:txBody>
      </p:sp>
      <p:sp>
        <p:nvSpPr>
          <p:cNvPr id="151" name="Text 9"/>
          <p:cNvSpPr/>
          <p:nvPr/>
        </p:nvSpPr>
        <p:spPr>
          <a:xfrm>
            <a:off x="960120" y="3538800"/>
            <a:ext cx="10195200" cy="319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endParaRPr lang="en-US" sz="850" b="0" u="none" strike="noStrike" dirty="0">
              <a:solidFill>
                <a:srgbClr val="000000"/>
              </a:solidFill>
              <a:effectLst/>
              <a:uFillTx/>
              <a:latin typeface="Aptos" panose="020B0004020202020204" pitchFamily="34" charset="0"/>
            </a:endParaRPr>
          </a:p>
        </p:txBody>
      </p:sp>
      <p:sp>
        <p:nvSpPr>
          <p:cNvPr id="152" name="Text 10"/>
          <p:cNvSpPr/>
          <p:nvPr/>
        </p:nvSpPr>
        <p:spPr>
          <a:xfrm>
            <a:off x="960120" y="4069080"/>
            <a:ext cx="10195200" cy="319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endParaRPr lang="en-US" sz="850" b="0" u="none" strike="noStrike" dirty="0">
              <a:solidFill>
                <a:srgbClr val="000000"/>
              </a:solidFill>
              <a:effectLst/>
              <a:uFillTx/>
              <a:latin typeface="Aptos" panose="020B0004020202020204" pitchFamily="34" charset="0"/>
            </a:endParaRPr>
          </a:p>
        </p:txBody>
      </p:sp>
      <p:sp>
        <p:nvSpPr>
          <p:cNvPr id="153" name="Text 11"/>
          <p:cNvSpPr/>
          <p:nvPr/>
        </p:nvSpPr>
        <p:spPr>
          <a:xfrm>
            <a:off x="960120" y="4599360"/>
            <a:ext cx="10195200" cy="319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endParaRPr lang="en-US" sz="850" b="0" u="none" strike="noStrike" dirty="0">
              <a:solidFill>
                <a:srgbClr val="000000"/>
              </a:solidFill>
              <a:effectLst/>
              <a:uFillTx/>
              <a:latin typeface="Aptos" panose="020B0004020202020204" pitchFamily="34" charset="0"/>
            </a:endParaRPr>
          </a:p>
        </p:txBody>
      </p:sp>
      <p:sp>
        <p:nvSpPr>
          <p:cNvPr id="154" name="Text 12"/>
          <p:cNvSpPr/>
          <p:nvPr/>
        </p:nvSpPr>
        <p:spPr>
          <a:xfrm>
            <a:off x="960120" y="5129640"/>
            <a:ext cx="10195200" cy="319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endParaRPr lang="en-US" sz="850" b="0" u="none" strike="noStrike" dirty="0">
              <a:solidFill>
                <a:srgbClr val="000000"/>
              </a:solidFill>
              <a:effectLst/>
              <a:uFillTx/>
              <a:latin typeface="Aptos" panose="020B0004020202020204" pitchFamily="34" charset="0"/>
            </a:endParaRPr>
          </a:p>
        </p:txBody>
      </p:sp>
      <p:sp>
        <p:nvSpPr>
          <p:cNvPr id="17" name="文本框 16"/>
          <p:cNvSpPr txBox="1"/>
          <p:nvPr/>
        </p:nvSpPr>
        <p:spPr>
          <a:xfrm>
            <a:off x="3044372" y="3240705"/>
            <a:ext cx="6103256" cy="369332"/>
          </a:xfrm>
          <a:prstGeom prst="rect">
            <a:avLst/>
          </a:prstGeom>
          <a:noFill/>
        </p:spPr>
        <p:txBody>
          <a:bodyPr wrap="square">
            <a:spAutoFit/>
          </a:bodyPr>
          <a:lstStyle/>
          <a:p>
            <a:endParaRPr lang="zh-CN" altLang="en-US" dirty="0">
              <a:latin typeface="Aptos" panose="020B0004020202020204" pitchFamily="34" charset="0"/>
            </a:endParaRPr>
          </a:p>
        </p:txBody>
      </p:sp>
      <p:sp>
        <p:nvSpPr>
          <p:cNvPr id="5" name="文本框 4"/>
          <p:cNvSpPr txBox="1"/>
          <p:nvPr/>
        </p:nvSpPr>
        <p:spPr>
          <a:xfrm>
            <a:off x="502920" y="1448225"/>
            <a:ext cx="8284831" cy="3723005"/>
          </a:xfrm>
          <a:prstGeom prst="rect">
            <a:avLst/>
          </a:prstGeom>
          <a:noFill/>
        </p:spPr>
        <p:txBody>
          <a:bodyPr wrap="square">
            <a:spAutoFit/>
          </a:bodyPr>
          <a:lstStyle/>
          <a:p>
            <a:pPr>
              <a:lnSpc>
                <a:spcPts val="1800"/>
              </a:lnSpc>
            </a:pPr>
            <a:r>
              <a:rPr lang="en-US" altLang="zh-CN" sz="2000" b="1" dirty="0">
                <a:solidFill>
                  <a:schemeClr val="accent2"/>
                </a:solidFill>
                <a:effectLst/>
                <a:latin typeface="Aptos" panose="020B0004020202020204" pitchFamily="34" charset="0"/>
              </a:rPr>
              <a:t>Value Proposition</a:t>
            </a:r>
            <a:r>
              <a:rPr lang="en-US" altLang="zh-CN" sz="2000" dirty="0">
                <a:solidFill>
                  <a:schemeClr val="accent2"/>
                </a:solidFill>
                <a:latin typeface="Aptos" panose="020B0004020202020204" pitchFamily="34" charset="0"/>
              </a:rPr>
              <a:t>: </a:t>
            </a:r>
          </a:p>
          <a:p>
            <a:pPr>
              <a:lnSpc>
                <a:spcPts val="1800"/>
              </a:lnSpc>
            </a:pPr>
            <a:r>
              <a:rPr lang="en-US" altLang="zh-CN" sz="1600" dirty="0">
                <a:latin typeface="Aptos" panose="020B0004020202020204" pitchFamily="34" charset="0"/>
              </a:rPr>
              <a:t>Shift from “low-price transactions” to </a:t>
            </a:r>
            <a:r>
              <a:rPr lang="en-US" altLang="zh-CN" sz="1600" b="1" dirty="0">
                <a:solidFill>
                  <a:srgbClr val="000000"/>
                </a:solidFill>
                <a:effectLst/>
                <a:latin typeface="Aptos" panose="020B0004020202020204" pitchFamily="34" charset="0"/>
              </a:rPr>
              <a:t>AI-powered one-stop consumption </a:t>
            </a:r>
            <a:r>
              <a:rPr lang="en-US" altLang="zh-CN" sz="1600" dirty="0">
                <a:latin typeface="Aptos" panose="020B0004020202020204" pitchFamily="34" charset="0"/>
              </a:rPr>
              <a:t>—personalization, membership, instant delivery, AI after-sales, enhancing </a:t>
            </a:r>
            <a:r>
              <a:rPr lang="en-US" altLang="zh-CN" sz="1600" b="1" dirty="0">
                <a:solidFill>
                  <a:srgbClr val="000000"/>
                </a:solidFill>
                <a:effectLst/>
                <a:latin typeface="Aptos" panose="020B0004020202020204" pitchFamily="34" charset="0"/>
              </a:rPr>
              <a:t>convenience, trust and personalization</a:t>
            </a:r>
            <a:r>
              <a:rPr lang="en-US" altLang="zh-CN" sz="1600" dirty="0">
                <a:latin typeface="Aptos" panose="020B0004020202020204" pitchFamily="34" charset="0"/>
              </a:rPr>
              <a:t>. (Amit &amp; Zott, 2001)</a:t>
            </a:r>
          </a:p>
          <a:p>
            <a:pPr algn="l">
              <a:lnSpc>
                <a:spcPts val="1800"/>
              </a:lnSpc>
            </a:pPr>
            <a:endParaRPr lang="en-US" altLang="zh-CN" sz="2000" dirty="0">
              <a:latin typeface="Aptos" panose="020B0004020202020204" pitchFamily="34" charset="0"/>
            </a:endParaRPr>
          </a:p>
          <a:p>
            <a:pPr algn="l">
              <a:lnSpc>
                <a:spcPts val="1800"/>
              </a:lnSpc>
              <a:buFont typeface="Arial" panose="020B0604020202090204" pitchFamily="34" charset="0"/>
              <a:buChar char="•"/>
            </a:pPr>
            <a:endParaRPr lang="en-US" altLang="zh-CN" dirty="0">
              <a:latin typeface="Aptos" panose="020B0004020202020204" pitchFamily="34" charset="0"/>
            </a:endParaRPr>
          </a:p>
          <a:p>
            <a:pPr>
              <a:lnSpc>
                <a:spcPts val="1800"/>
              </a:lnSpc>
            </a:pPr>
            <a:r>
              <a:rPr lang="en-US" altLang="zh-CN" sz="2000" b="1" dirty="0">
                <a:solidFill>
                  <a:schemeClr val="accent2"/>
                </a:solidFill>
                <a:effectLst/>
                <a:latin typeface="Aptos" panose="020B0004020202020204" pitchFamily="34" charset="0"/>
              </a:rPr>
              <a:t>Revenue Model</a:t>
            </a:r>
            <a:r>
              <a:rPr lang="en-US" altLang="zh-CN" sz="2000" dirty="0">
                <a:solidFill>
                  <a:schemeClr val="accent2"/>
                </a:solidFill>
                <a:latin typeface="Aptos" panose="020B0004020202020204" pitchFamily="34" charset="0"/>
              </a:rPr>
              <a:t>: </a:t>
            </a:r>
          </a:p>
          <a:p>
            <a:pPr>
              <a:lnSpc>
                <a:spcPts val="1800"/>
              </a:lnSpc>
            </a:pPr>
            <a:r>
              <a:rPr lang="en-US" altLang="zh-CN" sz="1600" dirty="0">
                <a:latin typeface="Aptos" panose="020B0004020202020204" pitchFamily="34" charset="0"/>
              </a:rPr>
              <a:t>From “transaction matching” to </a:t>
            </a:r>
            <a:r>
              <a:rPr lang="en-US" altLang="zh-CN" sz="1600" b="1" dirty="0">
                <a:solidFill>
                  <a:srgbClr val="000000"/>
                </a:solidFill>
                <a:effectLst/>
                <a:latin typeface="Aptos" panose="020B0004020202020204" pitchFamily="34" charset="0"/>
              </a:rPr>
              <a:t>diversified ecosystem monetization</a:t>
            </a:r>
            <a:r>
              <a:rPr lang="en-US" altLang="zh-CN" sz="1600" dirty="0">
                <a:latin typeface="Aptos" panose="020B0004020202020204" pitchFamily="34" charset="0"/>
              </a:rPr>
              <a:t> —</a:t>
            </a:r>
          </a:p>
          <a:p>
            <a:pPr algn="l">
              <a:lnSpc>
                <a:spcPts val="1800"/>
              </a:lnSpc>
            </a:pPr>
            <a:r>
              <a:rPr lang="en-US" altLang="zh-CN" sz="1600" b="0" dirty="0">
                <a:solidFill>
                  <a:srgbClr val="000000"/>
                </a:solidFill>
                <a:effectLst/>
                <a:latin typeface="Aptos" panose="020B0004020202020204" pitchFamily="34" charset="0"/>
              </a:rPr>
              <a:t>Customer management revenue, Instant commerce revenue, Logistics/cloud/merchant tool fees. (Alibaba Group, 2026)</a:t>
            </a:r>
          </a:p>
          <a:p>
            <a:pPr>
              <a:buNone/>
            </a:pPr>
            <a:endParaRPr lang="en-US" altLang="zh-CN" dirty="0">
              <a:solidFill>
                <a:srgbClr val="000000"/>
              </a:solidFill>
              <a:latin typeface="Aptos" panose="020B0004020202020204" pitchFamily="34" charset="0"/>
            </a:endParaRPr>
          </a:p>
          <a:p>
            <a:pPr>
              <a:buNone/>
            </a:pPr>
            <a:r>
              <a:rPr lang="en-US" altLang="zh-CN" sz="2000" b="1" dirty="0">
                <a:solidFill>
                  <a:schemeClr val="accent2"/>
                </a:solidFill>
                <a:effectLst/>
                <a:latin typeface="Aptos" panose="020B0004020202020204" pitchFamily="34" charset="0"/>
              </a:rPr>
              <a:t>Competitive Advantage</a:t>
            </a:r>
            <a:r>
              <a:rPr lang="en-US" altLang="zh-CN" sz="2000" dirty="0">
                <a:solidFill>
                  <a:schemeClr val="accent2"/>
                </a:solidFill>
                <a:latin typeface="Aptos" panose="020B0004020202020204" pitchFamily="34" charset="0"/>
              </a:rPr>
              <a:t>: </a:t>
            </a:r>
          </a:p>
          <a:p>
            <a:pPr>
              <a:buNone/>
            </a:pPr>
            <a:r>
              <a:rPr lang="en-US" altLang="zh-CN" sz="1600" b="1" dirty="0">
                <a:solidFill>
                  <a:srgbClr val="000000"/>
                </a:solidFill>
                <a:effectLst/>
                <a:latin typeface="Aptos" panose="020B0004020202020204" pitchFamily="34" charset="0"/>
              </a:rPr>
              <a:t>Hard-to-copy network effects + data moat + closed ecosystem </a:t>
            </a:r>
            <a:r>
              <a:rPr lang="en-US" altLang="zh-CN" sz="1600" dirty="0">
                <a:latin typeface="Aptos" panose="020B0004020202020204" pitchFamily="34" charset="0"/>
              </a:rPr>
              <a:t>— </a:t>
            </a:r>
          </a:p>
          <a:p>
            <a:pPr>
              <a:buNone/>
            </a:pPr>
            <a:r>
              <a:rPr lang="en-US" altLang="zh-CN" sz="1600" dirty="0">
                <a:latin typeface="Aptos" panose="020B0004020202020204" pitchFamily="34" charset="0"/>
              </a:rPr>
              <a:t>953M users + millions of merchants create high switching costs; AI algorithms optimize recommendations and stickiness</a:t>
            </a:r>
          </a:p>
        </p:txBody>
      </p:sp>
      <p:pic>
        <p:nvPicPr>
          <p:cNvPr id="6" name="图片 5" descr="蒋凡上任一年交出答卷：阿里海外电商强劲增长|阿里|蒋凡|速卖通_新浪新闻"/>
          <p:cNvPicPr>
            <a:picLocks noChangeAspect="1"/>
          </p:cNvPicPr>
          <p:nvPr/>
        </p:nvPicPr>
        <p:blipFill>
          <a:blip r:embed="rId3"/>
          <a:stretch>
            <a:fillRect/>
          </a:stretch>
        </p:blipFill>
        <p:spPr>
          <a:xfrm>
            <a:off x="8716645" y="1997710"/>
            <a:ext cx="3399155" cy="271716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635000"/>
            <a:ext cx="3937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3200" b="1" i="0" u="none" strike="noStrike" dirty="0">
                <a:solidFill>
                  <a:srgbClr val="333333"/>
                </a:solidFill>
                <a:latin typeface="Aptos" panose="020B0004020202020204" pitchFamily="34" charset="0"/>
                <a:ea typeface="Noto Sans SC"/>
                <a:cs typeface="Noto Sans SC"/>
                <a:sym typeface="Noto Sans SC"/>
              </a:rPr>
              <a:t>Risks &amp; Costs</a:t>
            </a:r>
            <a:endParaRPr lang="en-US" sz="1100" dirty="0">
              <a:latin typeface="Aptos" panose="020B0004020202020204" pitchFamily="34" charset="0"/>
            </a:endParaRPr>
          </a:p>
        </p:txBody>
      </p:sp>
      <p:sp>
        <p:nvSpPr>
          <p:cNvPr id="3" name="AutoShape 3"/>
          <p:cNvSpPr/>
          <p:nvPr>
            <p:custDataLst>
              <p:tags r:id="rId1"/>
            </p:custDataLst>
          </p:nvPr>
        </p:nvSpPr>
        <p:spPr>
          <a:xfrm>
            <a:off x="762000" y="1778000"/>
            <a:ext cx="3302000" cy="4318000"/>
          </a:xfrm>
          <a:prstGeom prst="roundRect">
            <a:avLst>
              <a:gd name="adj" fmla="val 0"/>
            </a:avLst>
          </a:prstGeom>
          <a:solidFill>
            <a:srgbClr val="F9F9F9">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latin typeface="Aptos" panose="020B0004020202020204" pitchFamily="34" charset="0"/>
            </a:endParaRPr>
          </a:p>
        </p:txBody>
      </p:sp>
      <p:sp>
        <p:nvSpPr>
          <p:cNvPr id="4" name="AutoShape 4"/>
          <p:cNvSpPr/>
          <p:nvPr>
            <p:custDataLst>
              <p:tags r:id="rId2"/>
            </p:custDataLst>
          </p:nvPr>
        </p:nvSpPr>
        <p:spPr>
          <a:xfrm>
            <a:off x="762000" y="1778000"/>
            <a:ext cx="3302000" cy="76200"/>
          </a:xfrm>
          <a:prstGeom prst="roundRect">
            <a:avLst>
              <a:gd name="adj" fmla="val 0"/>
            </a:avLst>
          </a:prstGeom>
          <a:solidFill>
            <a:srgbClr val="333333">
              <a:alpha val="100000"/>
            </a:srgbClr>
          </a:solidFill>
          <a:ln w="25400" cap="flat" cmpd="sng">
            <a:noFill/>
            <a:prstDash val="solid"/>
            <a:round/>
          </a:ln>
        </p:spPr>
        <p:txBody>
          <a:bodyPr vert="horz" wrap="square" lIns="63500" tIns="63500" rIns="63500" bIns="63500" rtlCol="0" anchor="ctr"/>
          <a:lstStyle/>
          <a:p>
            <a:pPr algn="ctr">
              <a:defRPr/>
            </a:pPr>
            <a:endParaRPr>
              <a:latin typeface="Aptos" panose="020B0004020202020204" pitchFamily="34" charset="0"/>
            </a:endParaRPr>
          </a:p>
        </p:txBody>
      </p:sp>
      <p:pic>
        <p:nvPicPr>
          <p:cNvPr id="5" name="Picture 5"/>
          <p:cNvPicPr>
            <a:picLocks noChangeAspect="1"/>
          </p:cNvPicPr>
          <p:nvPr>
            <p:custDataLst>
              <p:tags r:id="rId3"/>
            </p:custDataLst>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1016000" y="2159000"/>
            <a:ext cx="355600" cy="355600"/>
          </a:xfrm>
          <a:prstGeom prst="rect">
            <a:avLst/>
          </a:prstGeom>
        </p:spPr>
      </p:pic>
      <p:sp>
        <p:nvSpPr>
          <p:cNvPr id="6" name="AutoShape 6"/>
          <p:cNvSpPr/>
          <p:nvPr>
            <p:custDataLst>
              <p:tags r:id="rId4"/>
            </p:custDataLst>
          </p:nvPr>
        </p:nvSpPr>
        <p:spPr>
          <a:xfrm>
            <a:off x="1524000" y="2133600"/>
            <a:ext cx="2286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Aptos" panose="020B0004020202020204" pitchFamily="34" charset="0"/>
                <a:ea typeface="Noto Sans SC"/>
                <a:cs typeface="Noto Sans SC"/>
                <a:sym typeface="Noto Sans SC"/>
              </a:rPr>
              <a:t>Profit Margin Pressure</a:t>
            </a:r>
            <a:endParaRPr lang="en-US" sz="1100">
              <a:latin typeface="Aptos" panose="020B0004020202020204" pitchFamily="34" charset="0"/>
            </a:endParaRPr>
          </a:p>
        </p:txBody>
      </p:sp>
      <p:sp>
        <p:nvSpPr>
          <p:cNvPr id="7" name="AutoShape 7"/>
          <p:cNvSpPr/>
          <p:nvPr>
            <p:custDataLst>
              <p:tags r:id="rId5"/>
            </p:custDataLst>
          </p:nvPr>
        </p:nvSpPr>
        <p:spPr>
          <a:xfrm>
            <a:off x="1016000" y="2921000"/>
            <a:ext cx="2794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B5563"/>
                </a:solidFill>
                <a:latin typeface="Aptos" panose="020B0004020202020204" pitchFamily="34" charset="0"/>
                <a:ea typeface="Noto Sans SC"/>
                <a:cs typeface="Noto Sans SC"/>
                <a:sym typeface="Noto Sans SC"/>
              </a:rPr>
              <a:t>Large investment in AI, instant commerce, and user subsidies has significantly reduced short-term profitability.</a:t>
            </a:r>
            <a:endParaRPr lang="en-US" sz="1100">
              <a:latin typeface="Aptos" panose="020B0004020202020204" pitchFamily="34" charset="0"/>
            </a:endParaRPr>
          </a:p>
        </p:txBody>
      </p:sp>
      <p:sp>
        <p:nvSpPr>
          <p:cNvPr id="8" name="AutoShape 8"/>
          <p:cNvSpPr/>
          <p:nvPr>
            <p:custDataLst>
              <p:tags r:id="rId6"/>
            </p:custDataLst>
          </p:nvPr>
        </p:nvSpPr>
        <p:spPr>
          <a:xfrm>
            <a:off x="952500" y="4572000"/>
            <a:ext cx="2921000" cy="12700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endParaRPr>
              <a:latin typeface="Aptos" panose="020B0004020202020204" pitchFamily="34" charset="0"/>
            </a:endParaRPr>
          </a:p>
        </p:txBody>
      </p:sp>
      <p:sp>
        <p:nvSpPr>
          <p:cNvPr id="9" name="AutoShape 9"/>
          <p:cNvSpPr/>
          <p:nvPr>
            <p:custDataLst>
              <p:tags r:id="rId7"/>
            </p:custDataLst>
          </p:nvPr>
        </p:nvSpPr>
        <p:spPr>
          <a:xfrm>
            <a:off x="1143000" y="4762500"/>
            <a:ext cx="2540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1" i="0" u="none" strike="noStrike" dirty="0">
                <a:solidFill>
                  <a:srgbClr val="6B7280"/>
                </a:solidFill>
                <a:latin typeface="Aptos" panose="020B0004020202020204" pitchFamily="34" charset="0"/>
                <a:ea typeface="Noto Sans SC"/>
                <a:cs typeface="Noto Sans SC"/>
                <a:sym typeface="Noto Sans SC"/>
              </a:rPr>
              <a:t>Evidence: </a:t>
            </a:r>
            <a:r>
              <a:rPr lang="en-US" sz="1200" b="0" i="0" u="none" strike="noStrike" dirty="0">
                <a:solidFill>
                  <a:srgbClr val="6B7280"/>
                </a:solidFill>
                <a:latin typeface="Aptos" panose="020B0004020202020204" pitchFamily="34" charset="0"/>
                <a:ea typeface="Noto Sans SC"/>
                <a:cs typeface="Noto Sans SC"/>
                <a:sym typeface="Noto Sans SC"/>
              </a:rPr>
              <a:t>Adjusted EBITA decreased by 40% year-on-year (Alibaba Group, 2026).</a:t>
            </a:r>
            <a:endParaRPr lang="en-US" sz="1100" dirty="0">
              <a:latin typeface="Aptos" panose="020B0004020202020204" pitchFamily="34" charset="0"/>
            </a:endParaRPr>
          </a:p>
        </p:txBody>
      </p:sp>
      <p:sp>
        <p:nvSpPr>
          <p:cNvPr id="10" name="AutoShape 10"/>
          <p:cNvSpPr/>
          <p:nvPr>
            <p:custDataLst>
              <p:tags r:id="rId8"/>
            </p:custDataLst>
          </p:nvPr>
        </p:nvSpPr>
        <p:spPr>
          <a:xfrm>
            <a:off x="4445000" y="1778000"/>
            <a:ext cx="3302000" cy="4318000"/>
          </a:xfrm>
          <a:prstGeom prst="roundRect">
            <a:avLst>
              <a:gd name="adj" fmla="val 0"/>
            </a:avLst>
          </a:prstGeom>
          <a:solidFill>
            <a:srgbClr val="F9F9F9">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latin typeface="Aptos" panose="020B0004020202020204" pitchFamily="34" charset="0"/>
            </a:endParaRPr>
          </a:p>
        </p:txBody>
      </p:sp>
      <p:sp>
        <p:nvSpPr>
          <p:cNvPr id="11" name="AutoShape 11"/>
          <p:cNvSpPr/>
          <p:nvPr>
            <p:custDataLst>
              <p:tags r:id="rId9"/>
            </p:custDataLst>
          </p:nvPr>
        </p:nvSpPr>
        <p:spPr>
          <a:xfrm>
            <a:off x="4445000" y="1778000"/>
            <a:ext cx="3302000" cy="762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endParaRPr>
              <a:latin typeface="Aptos" panose="020B0004020202020204" pitchFamily="34" charset="0"/>
            </a:endParaRPr>
          </a:p>
        </p:txBody>
      </p:sp>
      <p:pic>
        <p:nvPicPr>
          <p:cNvPr id="12" name="Picture 12"/>
          <p:cNvPicPr>
            <a:picLocks noChangeAspect="1"/>
          </p:cNvPicPr>
          <p:nvPr>
            <p:custDataLst>
              <p:tags r:id="rId10"/>
            </p:custDataLst>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4699000" y="2159000"/>
            <a:ext cx="355600" cy="355600"/>
          </a:xfrm>
          <a:prstGeom prst="rect">
            <a:avLst/>
          </a:prstGeom>
        </p:spPr>
      </p:pic>
      <p:sp>
        <p:nvSpPr>
          <p:cNvPr id="13" name="AutoShape 13"/>
          <p:cNvSpPr/>
          <p:nvPr>
            <p:custDataLst>
              <p:tags r:id="rId11"/>
            </p:custDataLst>
          </p:nvPr>
        </p:nvSpPr>
        <p:spPr>
          <a:xfrm>
            <a:off x="5207000" y="2133600"/>
            <a:ext cx="2286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Aptos" panose="020B0004020202020204" pitchFamily="34" charset="0"/>
                <a:ea typeface="Noto Sans SC"/>
                <a:cs typeface="Noto Sans SC"/>
                <a:sym typeface="Noto Sans SC"/>
              </a:rPr>
              <a:t>Intense Market Competition</a:t>
            </a:r>
            <a:endParaRPr lang="en-US" sz="1100">
              <a:latin typeface="Aptos" panose="020B0004020202020204" pitchFamily="34" charset="0"/>
            </a:endParaRPr>
          </a:p>
        </p:txBody>
      </p:sp>
      <p:sp>
        <p:nvSpPr>
          <p:cNvPr id="14" name="AutoShape 14"/>
          <p:cNvSpPr/>
          <p:nvPr>
            <p:custDataLst>
              <p:tags r:id="rId12"/>
            </p:custDataLst>
          </p:nvPr>
        </p:nvSpPr>
        <p:spPr>
          <a:xfrm>
            <a:off x="4699000" y="2921000"/>
            <a:ext cx="2794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B5563"/>
                </a:solidFill>
                <a:latin typeface="Aptos" panose="020B0004020202020204" pitchFamily="34" charset="0"/>
                <a:ea typeface="Noto Sans SC"/>
                <a:cs typeface="Noto Sans SC"/>
                <a:sym typeface="Noto Sans SC"/>
              </a:rPr>
              <a:t>Alibaba is losing users and merchant advertising budgets to aggressive competitors like Pinduoduo, Douyin e-commerce, and Xiaohongshu.</a:t>
            </a:r>
            <a:endParaRPr lang="en-US" sz="1100">
              <a:latin typeface="Aptos" panose="020B0004020202020204" pitchFamily="34" charset="0"/>
            </a:endParaRPr>
          </a:p>
        </p:txBody>
      </p:sp>
      <p:sp>
        <p:nvSpPr>
          <p:cNvPr id="15" name="AutoShape 15"/>
          <p:cNvSpPr/>
          <p:nvPr>
            <p:custDataLst>
              <p:tags r:id="rId13"/>
            </p:custDataLst>
          </p:nvPr>
        </p:nvSpPr>
        <p:spPr>
          <a:xfrm>
            <a:off x="4635500" y="4572000"/>
            <a:ext cx="2921000" cy="1270000"/>
          </a:xfrm>
          <a:prstGeom prst="roundRect">
            <a:avLst>
              <a:gd name="adj" fmla="val 0"/>
            </a:avLst>
          </a:prstGeom>
          <a:solidFill>
            <a:srgbClr val="FFF7ED">
              <a:alpha val="100000"/>
            </a:srgbClr>
          </a:solidFill>
          <a:ln w="25400" cap="flat" cmpd="sng">
            <a:noFill/>
            <a:prstDash val="solid"/>
            <a:round/>
          </a:ln>
        </p:spPr>
        <p:txBody>
          <a:bodyPr vert="horz" wrap="square" lIns="63500" tIns="63500" rIns="63500" bIns="63500" rtlCol="0" anchor="ctr"/>
          <a:lstStyle/>
          <a:p>
            <a:pPr algn="ctr">
              <a:defRPr/>
            </a:pPr>
            <a:endParaRPr>
              <a:latin typeface="Aptos" panose="020B0004020202020204" pitchFamily="34" charset="0"/>
            </a:endParaRPr>
          </a:p>
        </p:txBody>
      </p:sp>
      <p:sp>
        <p:nvSpPr>
          <p:cNvPr id="16" name="AutoShape 16"/>
          <p:cNvSpPr/>
          <p:nvPr>
            <p:custDataLst>
              <p:tags r:id="rId14"/>
            </p:custDataLst>
          </p:nvPr>
        </p:nvSpPr>
        <p:spPr>
          <a:xfrm>
            <a:off x="4826000" y="4762500"/>
            <a:ext cx="2540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1" i="0" u="none" strike="noStrike" dirty="0">
                <a:solidFill>
                  <a:srgbClr val="6B7280"/>
                </a:solidFill>
                <a:latin typeface="Aptos" panose="020B0004020202020204" pitchFamily="34" charset="0"/>
                <a:ea typeface="Noto Sans SC"/>
                <a:cs typeface="Noto Sans SC"/>
                <a:sym typeface="Noto Sans SC"/>
              </a:rPr>
              <a:t>Evidence: </a:t>
            </a:r>
            <a:r>
              <a:rPr lang="en-US" sz="1200" b="0" i="0" u="none" strike="noStrike" dirty="0">
                <a:solidFill>
                  <a:srgbClr val="6B7280"/>
                </a:solidFill>
                <a:latin typeface="Aptos" panose="020B0004020202020204" pitchFamily="34" charset="0"/>
                <a:ea typeface="Noto Sans SC"/>
                <a:cs typeface="Noto Sans SC"/>
                <a:sym typeface="Noto Sans SC"/>
              </a:rPr>
              <a:t>Competitive threats and market share challenges explicitly disclosed in the 2025 annual report.</a:t>
            </a:r>
            <a:endParaRPr lang="en-US" sz="1100" dirty="0">
              <a:latin typeface="Aptos" panose="020B0004020202020204" pitchFamily="34" charset="0"/>
            </a:endParaRPr>
          </a:p>
        </p:txBody>
      </p:sp>
      <p:sp>
        <p:nvSpPr>
          <p:cNvPr id="17" name="AutoShape 17"/>
          <p:cNvSpPr/>
          <p:nvPr>
            <p:custDataLst>
              <p:tags r:id="rId15"/>
            </p:custDataLst>
          </p:nvPr>
        </p:nvSpPr>
        <p:spPr>
          <a:xfrm>
            <a:off x="8128000" y="1778000"/>
            <a:ext cx="3302000" cy="4318000"/>
          </a:xfrm>
          <a:prstGeom prst="roundRect">
            <a:avLst>
              <a:gd name="adj" fmla="val 0"/>
            </a:avLst>
          </a:prstGeom>
          <a:solidFill>
            <a:srgbClr val="F9F9F9">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latin typeface="Aptos" panose="020B0004020202020204" pitchFamily="34" charset="0"/>
            </a:endParaRPr>
          </a:p>
        </p:txBody>
      </p:sp>
      <p:sp>
        <p:nvSpPr>
          <p:cNvPr id="18" name="AutoShape 18"/>
          <p:cNvSpPr/>
          <p:nvPr>
            <p:custDataLst>
              <p:tags r:id="rId16"/>
            </p:custDataLst>
          </p:nvPr>
        </p:nvSpPr>
        <p:spPr>
          <a:xfrm>
            <a:off x="8128000" y="1778000"/>
            <a:ext cx="3302000" cy="762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latin typeface="Aptos" panose="020B0004020202020204" pitchFamily="34" charset="0"/>
            </a:endParaRPr>
          </a:p>
        </p:txBody>
      </p:sp>
      <p:pic>
        <p:nvPicPr>
          <p:cNvPr id="19" name="Picture 19"/>
          <p:cNvPicPr>
            <a:picLocks noChangeAspect="1"/>
          </p:cNvPicPr>
          <p:nvPr>
            <p:custDataLst>
              <p:tags r:id="rId17"/>
            </p:custDataLst>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8382000" y="2159000"/>
            <a:ext cx="355600" cy="355600"/>
          </a:xfrm>
          <a:prstGeom prst="rect">
            <a:avLst/>
          </a:prstGeom>
        </p:spPr>
      </p:pic>
      <p:sp>
        <p:nvSpPr>
          <p:cNvPr id="20" name="AutoShape 20"/>
          <p:cNvSpPr/>
          <p:nvPr>
            <p:custDataLst>
              <p:tags r:id="rId18"/>
            </p:custDataLst>
          </p:nvPr>
        </p:nvSpPr>
        <p:spPr>
          <a:xfrm>
            <a:off x="8890000" y="2133600"/>
            <a:ext cx="2540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dirty="0">
                <a:solidFill>
                  <a:srgbClr val="333333"/>
                </a:solidFill>
                <a:latin typeface="Aptos" panose="020B0004020202020204" pitchFamily="34" charset="0"/>
                <a:ea typeface="Noto Sans SC"/>
                <a:cs typeface="Noto Sans SC"/>
                <a:sym typeface="Noto Sans SC"/>
              </a:rPr>
              <a:t>Regulatory &amp; Data Risk</a:t>
            </a:r>
            <a:endParaRPr lang="en-US" sz="1100" dirty="0">
              <a:latin typeface="Aptos" panose="020B0004020202020204" pitchFamily="34" charset="0"/>
            </a:endParaRPr>
          </a:p>
        </p:txBody>
      </p:sp>
      <p:sp>
        <p:nvSpPr>
          <p:cNvPr id="21" name="AutoShape 21"/>
          <p:cNvSpPr/>
          <p:nvPr>
            <p:custDataLst>
              <p:tags r:id="rId19"/>
            </p:custDataLst>
          </p:nvPr>
        </p:nvSpPr>
        <p:spPr>
          <a:xfrm>
            <a:off x="8382000" y="2921000"/>
            <a:ext cx="2794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B5563"/>
                </a:solidFill>
                <a:latin typeface="Aptos" panose="020B0004020202020204" pitchFamily="34" charset="0"/>
                <a:ea typeface="Noto Sans SC"/>
                <a:cs typeface="Noto Sans SC"/>
                <a:sym typeface="Noto Sans SC"/>
              </a:rPr>
              <a:t>Strict enforcement of data privacy laws, AI algorithm regulations, and antitrust laws increase operational costs and restrict business expansion.</a:t>
            </a:r>
            <a:endParaRPr lang="en-US" sz="1100">
              <a:latin typeface="Aptos" panose="020B0004020202020204" pitchFamily="34" charset="0"/>
            </a:endParaRPr>
          </a:p>
        </p:txBody>
      </p:sp>
      <p:sp>
        <p:nvSpPr>
          <p:cNvPr id="22" name="AutoShape 22"/>
          <p:cNvSpPr/>
          <p:nvPr>
            <p:custDataLst>
              <p:tags r:id="rId20"/>
            </p:custDataLst>
          </p:nvPr>
        </p:nvSpPr>
        <p:spPr>
          <a:xfrm>
            <a:off x="8318500" y="4572000"/>
            <a:ext cx="2921000" cy="1270000"/>
          </a:xfrm>
          <a:prstGeom prst="roundRect">
            <a:avLst>
              <a:gd name="adj" fmla="val 0"/>
            </a:avLst>
          </a:prstGeom>
          <a:solidFill>
            <a:srgbClr val="ECFDF5">
              <a:alpha val="100000"/>
            </a:srgbClr>
          </a:solidFill>
          <a:ln w="25400" cap="flat" cmpd="sng">
            <a:noFill/>
            <a:prstDash val="solid"/>
            <a:round/>
          </a:ln>
        </p:spPr>
        <p:txBody>
          <a:bodyPr vert="horz" wrap="square" lIns="63500" tIns="63500" rIns="63500" bIns="63500" rtlCol="0" anchor="ctr"/>
          <a:lstStyle/>
          <a:p>
            <a:pPr algn="ctr">
              <a:defRPr/>
            </a:pPr>
            <a:endParaRPr>
              <a:latin typeface="Aptos" panose="020B0004020202020204" pitchFamily="34" charset="0"/>
            </a:endParaRPr>
          </a:p>
        </p:txBody>
      </p:sp>
      <p:sp>
        <p:nvSpPr>
          <p:cNvPr id="23" name="AutoShape 23"/>
          <p:cNvSpPr/>
          <p:nvPr>
            <p:custDataLst>
              <p:tags r:id="rId21"/>
            </p:custDataLst>
          </p:nvPr>
        </p:nvSpPr>
        <p:spPr>
          <a:xfrm>
            <a:off x="8509000" y="4762500"/>
            <a:ext cx="2540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1" i="0" u="none" strike="noStrike" dirty="0">
                <a:solidFill>
                  <a:srgbClr val="6B7280"/>
                </a:solidFill>
                <a:latin typeface="Aptos" panose="020B0004020202020204" pitchFamily="34" charset="0"/>
                <a:ea typeface="Noto Sans SC"/>
                <a:cs typeface="Noto Sans SC"/>
                <a:sym typeface="Noto Sans SC"/>
              </a:rPr>
              <a:t>Evidence: </a:t>
            </a:r>
            <a:r>
              <a:rPr lang="en-US" sz="1200" b="0" i="0" u="none" strike="noStrike" dirty="0">
                <a:solidFill>
                  <a:srgbClr val="6B7280"/>
                </a:solidFill>
                <a:latin typeface="Aptos" panose="020B0004020202020204" pitchFamily="34" charset="0"/>
                <a:ea typeface="Noto Sans SC"/>
                <a:cs typeface="Noto Sans SC"/>
                <a:sym typeface="Noto Sans SC"/>
              </a:rPr>
              <a:t>Mandatory compliance with the Personal Information Protection Law (PIPL) and China State Council’s AI algorithm regulations.</a:t>
            </a:r>
            <a:endParaRPr lang="en-US" sz="1100" dirty="0">
              <a:latin typeface="Aptos" panose="020B0004020202020204" pitchFamily="34" charset="0"/>
            </a:endParaRPr>
          </a:p>
        </p:txBody>
      </p:sp>
      <p:sp>
        <p:nvSpPr>
          <p:cNvPr id="24" name="Shape 0"/>
          <p:cNvSpPr/>
          <p:nvPr/>
        </p:nvSpPr>
        <p:spPr>
          <a:xfrm>
            <a:off x="0" y="0"/>
            <a:ext cx="12191400" cy="164160"/>
          </a:xfrm>
          <a:prstGeom prst="rect">
            <a:avLst/>
          </a:prstGeom>
          <a:solidFill>
            <a:srgbClr val="FF9900"/>
          </a:solidFill>
          <a:ln w="12700">
            <a:solidFill>
              <a:srgbClr val="FF99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ptos" panose="020B00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47274" y="590080"/>
            <a:ext cx="3797726"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3200" b="1" i="0" u="none" strike="noStrike" dirty="0">
                <a:solidFill>
                  <a:srgbClr val="333333"/>
                </a:solidFill>
                <a:latin typeface="Aptos" panose="020B0004020202020204" pitchFamily="34" charset="0"/>
                <a:ea typeface="Noto Sans SC"/>
                <a:cs typeface="Noto Sans SC"/>
                <a:sym typeface="Noto Sans SC"/>
              </a:rPr>
              <a:t>Recommendations</a:t>
            </a:r>
            <a:endParaRPr lang="en-US" sz="1100" dirty="0">
              <a:latin typeface="Aptos" panose="020B0004020202020204" pitchFamily="34" charset="0"/>
            </a:endParaRPr>
          </a:p>
        </p:txBody>
      </p:sp>
      <p:sp>
        <p:nvSpPr>
          <p:cNvPr id="3" name="AutoShape 3"/>
          <p:cNvSpPr/>
          <p:nvPr/>
        </p:nvSpPr>
        <p:spPr>
          <a:xfrm>
            <a:off x="716844" y="1930400"/>
            <a:ext cx="3335867" cy="4018844"/>
          </a:xfrm>
          <a:prstGeom prst="roundRect">
            <a:avLst>
              <a:gd name="adj" fmla="val 0"/>
            </a:avLst>
          </a:prstGeom>
          <a:solidFill>
            <a:srgbClr val="F9F9F9">
              <a:alpha val="100000"/>
            </a:srgbClr>
          </a:solidFill>
          <a:ln w="12700" cap="flat" cmpd="sng">
            <a:solidFill>
              <a:srgbClr val="E5E5E5">
                <a:alpha val="100000"/>
              </a:srgbClr>
            </a:solidFill>
            <a:prstDash val="solid"/>
            <a:round/>
          </a:ln>
        </p:spPr>
        <p:txBody>
          <a:bodyPr vert="horz" wrap="square" lIns="63500" tIns="63500" rIns="63500" bIns="63500" rtlCol="0" anchor="ctr"/>
          <a:lstStyle/>
          <a:p>
            <a:pPr algn="ctr">
              <a:defRPr/>
            </a:pPr>
            <a:endParaRPr>
              <a:latin typeface="Aptos" panose="020B0004020202020204" pitchFamily="34" charset="0"/>
            </a:endParaRPr>
          </a:p>
        </p:txBody>
      </p:sp>
      <p:sp>
        <p:nvSpPr>
          <p:cNvPr id="4" name="AutoShape 4"/>
          <p:cNvSpPr/>
          <p:nvPr/>
        </p:nvSpPr>
        <p:spPr>
          <a:xfrm>
            <a:off x="911252" y="1946834"/>
            <a:ext cx="2950959" cy="827409"/>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dirty="0">
                <a:solidFill>
                  <a:srgbClr val="333333"/>
                </a:solidFill>
                <a:latin typeface="Aptos" panose="020B0004020202020204" pitchFamily="34" charset="0"/>
                <a:ea typeface="Noto Sans SC"/>
                <a:cs typeface="Noto Sans SC"/>
                <a:sym typeface="Noto Sans SC"/>
              </a:rPr>
              <a:t>Profit Pressure</a:t>
            </a:r>
            <a:endParaRPr lang="en-US" sz="1100" dirty="0">
              <a:latin typeface="Aptos" panose="020B0004020202020204" pitchFamily="34" charset="0"/>
            </a:endParaRPr>
          </a:p>
        </p:txBody>
      </p:sp>
      <p:sp>
        <p:nvSpPr>
          <p:cNvPr id="5" name="AutoShape 5"/>
          <p:cNvSpPr/>
          <p:nvPr/>
        </p:nvSpPr>
        <p:spPr>
          <a:xfrm>
            <a:off x="936001" y="2639625"/>
            <a:ext cx="513210" cy="45719"/>
          </a:xfrm>
          <a:prstGeom prst="roundRect">
            <a:avLst>
              <a:gd name="adj" fmla="val 0"/>
            </a:avLst>
          </a:prstGeom>
          <a:solidFill>
            <a:srgbClr val="0077B6">
              <a:alpha val="100000"/>
            </a:srgbClr>
          </a:solidFill>
          <a:ln w="25400" cap="flat" cmpd="sng">
            <a:noFill/>
            <a:prstDash val="solid"/>
            <a:round/>
          </a:ln>
        </p:spPr>
        <p:txBody>
          <a:bodyPr vert="horz" wrap="square" lIns="63500" tIns="63500" rIns="63500" bIns="63500" rtlCol="0" anchor="ctr"/>
          <a:lstStyle/>
          <a:p>
            <a:pPr algn="ctr">
              <a:defRPr/>
            </a:pPr>
            <a:endParaRPr>
              <a:latin typeface="Aptos" panose="020B0004020202020204" pitchFamily="34" charset="0"/>
            </a:endParaRPr>
          </a:p>
        </p:txBody>
      </p:sp>
      <p:sp>
        <p:nvSpPr>
          <p:cNvPr id="6" name="AutoShape 6"/>
          <p:cNvSpPr/>
          <p:nvPr/>
        </p:nvSpPr>
        <p:spPr>
          <a:xfrm>
            <a:off x="911252" y="3125030"/>
            <a:ext cx="2950959" cy="1300214"/>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1" i="0" u="none" strike="noStrike">
                <a:solidFill>
                  <a:srgbClr val="666666"/>
                </a:solidFill>
                <a:latin typeface="Aptos" panose="020B0004020202020204" pitchFamily="34" charset="0"/>
                <a:ea typeface="Noto Sans SC"/>
                <a:cs typeface="Noto Sans SC"/>
                <a:sym typeface="Noto Sans SC"/>
              </a:rPr>
              <a:t>PRACTICAL RECOMMENDATION</a:t>
            </a:r>
            <a:endParaRPr lang="en-US" sz="1100">
              <a:latin typeface="Aptos" panose="020B0004020202020204" pitchFamily="34" charset="0"/>
            </a:endParaRPr>
          </a:p>
          <a:p>
            <a:pPr marL="0" indent="0" algn="l">
              <a:lnSpc>
                <a:spcPct val="117000"/>
              </a:lnSpc>
              <a:spcBef>
                <a:spcPts val="800"/>
              </a:spcBef>
            </a:pPr>
            <a:r>
              <a:rPr lang="en-US" sz="1400" b="0" i="0" u="none" strike="noStrike">
                <a:solidFill>
                  <a:srgbClr val="333333"/>
                </a:solidFill>
                <a:latin typeface="Aptos" panose="020B0004020202020204" pitchFamily="34" charset="0"/>
                <a:ea typeface="Noto Sans SC"/>
                <a:cs typeface="Noto Sans SC"/>
                <a:sym typeface="Noto Sans SC"/>
              </a:rPr>
              <a:t>Focus AI on improving operational efficiency rather than excessive user subsidies.</a:t>
            </a:r>
          </a:p>
        </p:txBody>
      </p:sp>
      <p:sp>
        <p:nvSpPr>
          <p:cNvPr id="7" name="AutoShape 7"/>
          <p:cNvSpPr/>
          <p:nvPr/>
        </p:nvSpPr>
        <p:spPr>
          <a:xfrm>
            <a:off x="716844" y="4649030"/>
            <a:ext cx="3335867" cy="1300214"/>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endParaRPr>
              <a:latin typeface="Aptos" panose="020B0004020202020204" pitchFamily="34" charset="0"/>
            </a:endParaRPr>
          </a:p>
        </p:txBody>
      </p:sp>
      <p:sp>
        <p:nvSpPr>
          <p:cNvPr id="8" name="AutoShape 8"/>
          <p:cNvSpPr/>
          <p:nvPr/>
        </p:nvSpPr>
        <p:spPr>
          <a:xfrm>
            <a:off x="911252" y="4876634"/>
            <a:ext cx="2950959" cy="94561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1" i="0" u="none" strike="noStrike">
                <a:solidFill>
                  <a:srgbClr val="666666"/>
                </a:solidFill>
                <a:latin typeface="Aptos" panose="020B0004020202020204" pitchFamily="34" charset="0"/>
                <a:ea typeface="Noto Sans SC"/>
                <a:cs typeface="Noto Sans SC"/>
                <a:sym typeface="Noto Sans SC"/>
              </a:rPr>
              <a:t>KPI MEASUREMENT</a:t>
            </a:r>
            <a:endParaRPr lang="en-US" sz="1100">
              <a:latin typeface="Aptos" panose="020B0004020202020204" pitchFamily="34" charset="0"/>
            </a:endParaRPr>
          </a:p>
          <a:p>
            <a:pPr marL="0" indent="0" algn="l">
              <a:lnSpc>
                <a:spcPct val="117000"/>
              </a:lnSpc>
              <a:spcBef>
                <a:spcPts val="800"/>
              </a:spcBef>
            </a:pPr>
            <a:r>
              <a:rPr lang="en-US" sz="1400" b="0" i="0" u="none" strike="noStrike">
                <a:solidFill>
                  <a:srgbClr val="333333"/>
                </a:solidFill>
                <a:latin typeface="Aptos" panose="020B0004020202020204" pitchFamily="34" charset="0"/>
                <a:ea typeface="Noto Sans SC"/>
                <a:cs typeface="Noto Sans SC"/>
                <a:sym typeface="Noto Sans SC"/>
              </a:rPr>
              <a:t>Increase AI-driven conversion rate by</a:t>
            </a:r>
            <a:r>
              <a:rPr lang="en-US" sz="1600" b="1" i="0" u="none" strike="noStrike">
                <a:solidFill>
                  <a:srgbClr val="D93025"/>
                </a:solidFill>
                <a:latin typeface="Aptos" panose="020B0004020202020204" pitchFamily="34" charset="0"/>
                <a:ea typeface="Noto Sans SC"/>
                <a:cs typeface="Noto Sans SC"/>
                <a:sym typeface="Noto Sans SC"/>
              </a:rPr>
              <a:t>5%</a:t>
            </a:r>
          </a:p>
        </p:txBody>
      </p:sp>
      <p:sp>
        <p:nvSpPr>
          <p:cNvPr id="9" name="AutoShape 9"/>
          <p:cNvSpPr/>
          <p:nvPr/>
        </p:nvSpPr>
        <p:spPr>
          <a:xfrm>
            <a:off x="4399844" y="1930400"/>
            <a:ext cx="3335867" cy="4018844"/>
          </a:xfrm>
          <a:prstGeom prst="roundRect">
            <a:avLst>
              <a:gd name="adj" fmla="val 0"/>
            </a:avLst>
          </a:prstGeom>
          <a:solidFill>
            <a:srgbClr val="F9F9F9">
              <a:alpha val="100000"/>
            </a:srgbClr>
          </a:solidFill>
          <a:ln w="12700" cap="flat" cmpd="sng">
            <a:solidFill>
              <a:srgbClr val="E5E5E5">
                <a:alpha val="100000"/>
              </a:srgbClr>
            </a:solidFill>
            <a:prstDash val="solid"/>
            <a:round/>
          </a:ln>
        </p:spPr>
        <p:txBody>
          <a:bodyPr vert="horz" wrap="square" lIns="63500" tIns="63500" rIns="63500" bIns="63500" rtlCol="0" anchor="ctr"/>
          <a:lstStyle/>
          <a:p>
            <a:pPr algn="ctr">
              <a:defRPr/>
            </a:pPr>
            <a:endParaRPr>
              <a:latin typeface="Aptos" panose="020B0004020202020204" pitchFamily="34" charset="0"/>
            </a:endParaRPr>
          </a:p>
        </p:txBody>
      </p:sp>
      <p:sp>
        <p:nvSpPr>
          <p:cNvPr id="10" name="AutoShape 10"/>
          <p:cNvSpPr/>
          <p:nvPr/>
        </p:nvSpPr>
        <p:spPr>
          <a:xfrm>
            <a:off x="4594252" y="1946834"/>
            <a:ext cx="2950959" cy="827409"/>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333333"/>
                </a:solidFill>
                <a:latin typeface="Aptos" panose="020B0004020202020204" pitchFamily="34" charset="0"/>
                <a:ea typeface="Noto Sans SC"/>
                <a:cs typeface="Noto Sans SC"/>
                <a:sym typeface="Noto Sans SC"/>
              </a:rPr>
              <a:t>Competition Risk</a:t>
            </a:r>
            <a:endParaRPr lang="en-US" sz="1100">
              <a:latin typeface="Aptos" panose="020B0004020202020204" pitchFamily="34" charset="0"/>
            </a:endParaRPr>
          </a:p>
        </p:txBody>
      </p:sp>
      <p:sp>
        <p:nvSpPr>
          <p:cNvPr id="11" name="AutoShape 11"/>
          <p:cNvSpPr/>
          <p:nvPr/>
        </p:nvSpPr>
        <p:spPr>
          <a:xfrm>
            <a:off x="4619001" y="2639625"/>
            <a:ext cx="513210" cy="45719"/>
          </a:xfrm>
          <a:prstGeom prst="roundRect">
            <a:avLst>
              <a:gd name="adj" fmla="val 0"/>
            </a:avLst>
          </a:prstGeom>
          <a:solidFill>
            <a:srgbClr val="EAB308">
              <a:alpha val="100000"/>
            </a:srgbClr>
          </a:solidFill>
          <a:ln w="25400" cap="flat" cmpd="sng">
            <a:noFill/>
            <a:prstDash val="solid"/>
            <a:round/>
          </a:ln>
        </p:spPr>
        <p:txBody>
          <a:bodyPr vert="horz" wrap="square" lIns="63500" tIns="63500" rIns="63500" bIns="63500" rtlCol="0" anchor="ctr"/>
          <a:lstStyle/>
          <a:p>
            <a:pPr algn="ctr">
              <a:defRPr/>
            </a:pPr>
            <a:endParaRPr>
              <a:latin typeface="Aptos" panose="020B0004020202020204" pitchFamily="34" charset="0"/>
            </a:endParaRPr>
          </a:p>
        </p:txBody>
      </p:sp>
      <p:sp>
        <p:nvSpPr>
          <p:cNvPr id="12" name="AutoShape 12"/>
          <p:cNvSpPr/>
          <p:nvPr/>
        </p:nvSpPr>
        <p:spPr>
          <a:xfrm>
            <a:off x="4594252" y="3125030"/>
            <a:ext cx="2950959" cy="1300214"/>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1" i="0" u="none" strike="noStrike">
                <a:solidFill>
                  <a:srgbClr val="666666"/>
                </a:solidFill>
                <a:latin typeface="Aptos" panose="020B0004020202020204" pitchFamily="34" charset="0"/>
                <a:ea typeface="Noto Sans SC"/>
                <a:cs typeface="Noto Sans SC"/>
                <a:sym typeface="Noto Sans SC"/>
              </a:rPr>
              <a:t>PRACTICAL RECOMMENDATION</a:t>
            </a:r>
            <a:endParaRPr lang="en-US" sz="1100">
              <a:latin typeface="Aptos" panose="020B0004020202020204" pitchFamily="34" charset="0"/>
            </a:endParaRPr>
          </a:p>
          <a:p>
            <a:pPr marL="0" indent="0" algn="l">
              <a:lnSpc>
                <a:spcPct val="117000"/>
              </a:lnSpc>
              <a:spcBef>
                <a:spcPts val="800"/>
              </a:spcBef>
            </a:pPr>
            <a:r>
              <a:rPr lang="en-US" sz="1400" b="0" i="0" u="none" strike="noStrike">
                <a:solidFill>
                  <a:srgbClr val="333333"/>
                </a:solidFill>
                <a:latin typeface="Aptos" panose="020B0004020202020204" pitchFamily="34" charset="0"/>
                <a:ea typeface="Noto Sans SC"/>
                <a:cs typeface="Noto Sans SC"/>
                <a:sym typeface="Noto Sans SC"/>
              </a:rPr>
              <a:t>Deepen customer intimacy and optimize user experience to enhance loyalty.</a:t>
            </a:r>
          </a:p>
        </p:txBody>
      </p:sp>
      <p:sp>
        <p:nvSpPr>
          <p:cNvPr id="13" name="AutoShape 13"/>
          <p:cNvSpPr/>
          <p:nvPr/>
        </p:nvSpPr>
        <p:spPr>
          <a:xfrm>
            <a:off x="4399844" y="4649030"/>
            <a:ext cx="3335867" cy="1300214"/>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endParaRPr>
              <a:latin typeface="Aptos" panose="020B0004020202020204" pitchFamily="34" charset="0"/>
            </a:endParaRPr>
          </a:p>
        </p:txBody>
      </p:sp>
      <p:sp>
        <p:nvSpPr>
          <p:cNvPr id="14" name="AutoShape 14"/>
          <p:cNvSpPr/>
          <p:nvPr/>
        </p:nvSpPr>
        <p:spPr>
          <a:xfrm>
            <a:off x="4594252" y="4876634"/>
            <a:ext cx="2950959" cy="94561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1" i="0" u="none" strike="noStrike">
                <a:solidFill>
                  <a:srgbClr val="666666"/>
                </a:solidFill>
                <a:latin typeface="Aptos" panose="020B0004020202020204" pitchFamily="34" charset="0"/>
                <a:ea typeface="Noto Sans SC"/>
                <a:cs typeface="Noto Sans SC"/>
                <a:sym typeface="Noto Sans SC"/>
              </a:rPr>
              <a:t>KPI MEASUREMENT</a:t>
            </a:r>
            <a:endParaRPr lang="en-US" sz="1100">
              <a:latin typeface="Aptos" panose="020B0004020202020204" pitchFamily="34" charset="0"/>
            </a:endParaRPr>
          </a:p>
          <a:p>
            <a:pPr marL="0" indent="0" algn="l">
              <a:lnSpc>
                <a:spcPct val="117000"/>
              </a:lnSpc>
              <a:spcBef>
                <a:spcPts val="800"/>
              </a:spcBef>
            </a:pPr>
            <a:r>
              <a:rPr lang="en-US" sz="1400" b="0" i="0" u="none" strike="noStrike">
                <a:solidFill>
                  <a:srgbClr val="333333"/>
                </a:solidFill>
                <a:latin typeface="Aptos" panose="020B0004020202020204" pitchFamily="34" charset="0"/>
                <a:ea typeface="Noto Sans SC"/>
                <a:cs typeface="Noto Sans SC"/>
                <a:sym typeface="Noto Sans SC"/>
              </a:rPr>
              <a:t>Raise user retention rate to over</a:t>
            </a:r>
            <a:r>
              <a:rPr lang="en-US" sz="1600" b="1" i="0" u="none" strike="noStrike">
                <a:solidFill>
                  <a:srgbClr val="D93025"/>
                </a:solidFill>
                <a:latin typeface="Aptos" panose="020B0004020202020204" pitchFamily="34" charset="0"/>
                <a:ea typeface="Noto Sans SC"/>
                <a:cs typeface="Noto Sans SC"/>
                <a:sym typeface="Noto Sans SC"/>
              </a:rPr>
              <a:t>85%</a:t>
            </a:r>
          </a:p>
        </p:txBody>
      </p:sp>
      <p:sp>
        <p:nvSpPr>
          <p:cNvPr id="15" name="AutoShape 15"/>
          <p:cNvSpPr/>
          <p:nvPr/>
        </p:nvSpPr>
        <p:spPr>
          <a:xfrm>
            <a:off x="8082844" y="1930400"/>
            <a:ext cx="3335867" cy="4018844"/>
          </a:xfrm>
          <a:prstGeom prst="roundRect">
            <a:avLst>
              <a:gd name="adj" fmla="val 0"/>
            </a:avLst>
          </a:prstGeom>
          <a:solidFill>
            <a:srgbClr val="F9F9F9">
              <a:alpha val="100000"/>
            </a:srgbClr>
          </a:solidFill>
          <a:ln w="12700" cap="flat" cmpd="sng">
            <a:solidFill>
              <a:srgbClr val="E5E5E5">
                <a:alpha val="100000"/>
              </a:srgbClr>
            </a:solidFill>
            <a:prstDash val="solid"/>
            <a:round/>
          </a:ln>
        </p:spPr>
        <p:txBody>
          <a:bodyPr vert="horz" wrap="square" lIns="63500" tIns="63500" rIns="63500" bIns="63500" rtlCol="0" anchor="ctr"/>
          <a:lstStyle/>
          <a:p>
            <a:pPr algn="ctr">
              <a:defRPr/>
            </a:pPr>
            <a:endParaRPr>
              <a:latin typeface="Aptos" panose="020B0004020202020204" pitchFamily="34" charset="0"/>
            </a:endParaRPr>
          </a:p>
        </p:txBody>
      </p:sp>
      <p:sp>
        <p:nvSpPr>
          <p:cNvPr id="16" name="AutoShape 16"/>
          <p:cNvSpPr/>
          <p:nvPr/>
        </p:nvSpPr>
        <p:spPr>
          <a:xfrm>
            <a:off x="8277252" y="1946834"/>
            <a:ext cx="2950959" cy="827409"/>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333333"/>
                </a:solidFill>
                <a:latin typeface="Aptos" panose="020B0004020202020204" pitchFamily="34" charset="0"/>
                <a:ea typeface="Noto Sans SC"/>
                <a:cs typeface="Noto Sans SC"/>
                <a:sym typeface="Noto Sans SC"/>
              </a:rPr>
              <a:t>Regulatory Risk</a:t>
            </a:r>
            <a:endParaRPr lang="en-US" sz="1100">
              <a:latin typeface="Aptos" panose="020B0004020202020204" pitchFamily="34" charset="0"/>
            </a:endParaRPr>
          </a:p>
        </p:txBody>
      </p:sp>
      <p:sp>
        <p:nvSpPr>
          <p:cNvPr id="17" name="AutoShape 17"/>
          <p:cNvSpPr/>
          <p:nvPr/>
        </p:nvSpPr>
        <p:spPr>
          <a:xfrm>
            <a:off x="8302001" y="2639625"/>
            <a:ext cx="513210" cy="45719"/>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latin typeface="Aptos" panose="020B0004020202020204" pitchFamily="34" charset="0"/>
            </a:endParaRPr>
          </a:p>
        </p:txBody>
      </p:sp>
      <p:sp>
        <p:nvSpPr>
          <p:cNvPr id="18" name="AutoShape 18"/>
          <p:cNvSpPr/>
          <p:nvPr/>
        </p:nvSpPr>
        <p:spPr>
          <a:xfrm>
            <a:off x="8277252" y="3125030"/>
            <a:ext cx="2950959" cy="1300214"/>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1" i="0" u="none" strike="noStrike">
                <a:solidFill>
                  <a:srgbClr val="666666"/>
                </a:solidFill>
                <a:latin typeface="Aptos" panose="020B0004020202020204" pitchFamily="34" charset="0"/>
                <a:ea typeface="Noto Sans SC"/>
                <a:cs typeface="Noto Sans SC"/>
                <a:sym typeface="Noto Sans SC"/>
              </a:rPr>
              <a:t>PRACTICAL RECOMMENDATION</a:t>
            </a:r>
            <a:endParaRPr lang="en-US" sz="1100">
              <a:latin typeface="Aptos" panose="020B0004020202020204" pitchFamily="34" charset="0"/>
            </a:endParaRPr>
          </a:p>
          <a:p>
            <a:pPr marL="0" indent="0" algn="l">
              <a:lnSpc>
                <a:spcPct val="117000"/>
              </a:lnSpc>
              <a:spcBef>
                <a:spcPts val="800"/>
              </a:spcBef>
            </a:pPr>
            <a:r>
              <a:rPr lang="en-US" sz="1400" b="0" i="0" u="none" strike="noStrike">
                <a:solidFill>
                  <a:srgbClr val="333333"/>
                </a:solidFill>
                <a:latin typeface="Aptos" panose="020B0004020202020204" pitchFamily="34" charset="0"/>
                <a:ea typeface="Noto Sans SC"/>
                <a:cs typeface="Noto Sans SC"/>
                <a:sym typeface="Noto Sans SC"/>
              </a:rPr>
              <a:t>Improve algorithm transparency and strengthen data privacy protection.</a:t>
            </a:r>
          </a:p>
        </p:txBody>
      </p:sp>
      <p:sp>
        <p:nvSpPr>
          <p:cNvPr id="19" name="AutoShape 19"/>
          <p:cNvSpPr/>
          <p:nvPr/>
        </p:nvSpPr>
        <p:spPr>
          <a:xfrm>
            <a:off x="8082844" y="4649030"/>
            <a:ext cx="3335867" cy="1300214"/>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endParaRPr>
              <a:latin typeface="Aptos" panose="020B0004020202020204" pitchFamily="34" charset="0"/>
            </a:endParaRPr>
          </a:p>
        </p:txBody>
      </p:sp>
      <p:sp>
        <p:nvSpPr>
          <p:cNvPr id="20" name="AutoShape 20"/>
          <p:cNvSpPr/>
          <p:nvPr/>
        </p:nvSpPr>
        <p:spPr>
          <a:xfrm>
            <a:off x="8277252" y="4876634"/>
            <a:ext cx="2950959" cy="94561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1" i="0" u="none" strike="noStrike">
                <a:solidFill>
                  <a:srgbClr val="666666"/>
                </a:solidFill>
                <a:latin typeface="Aptos" panose="020B0004020202020204" pitchFamily="34" charset="0"/>
                <a:ea typeface="Noto Sans SC"/>
                <a:cs typeface="Noto Sans SC"/>
                <a:sym typeface="Noto Sans SC"/>
              </a:rPr>
              <a:t>KPI MEASUREMENT</a:t>
            </a:r>
            <a:endParaRPr lang="en-US" sz="1100">
              <a:latin typeface="Aptos" panose="020B0004020202020204" pitchFamily="34" charset="0"/>
            </a:endParaRPr>
          </a:p>
          <a:p>
            <a:pPr marL="0" indent="0" algn="l">
              <a:lnSpc>
                <a:spcPct val="117000"/>
              </a:lnSpc>
              <a:spcBef>
                <a:spcPts val="800"/>
              </a:spcBef>
            </a:pPr>
            <a:r>
              <a:rPr lang="en-US" sz="1400" b="0" i="0" u="none" strike="noStrike">
                <a:solidFill>
                  <a:srgbClr val="333333"/>
                </a:solidFill>
                <a:latin typeface="Aptos" panose="020B0004020202020204" pitchFamily="34" charset="0"/>
                <a:ea typeface="Noto Sans SC"/>
                <a:cs typeface="Noto Sans SC"/>
                <a:sym typeface="Noto Sans SC"/>
              </a:rPr>
              <a:t>Reduce privacy complaints to below</a:t>
            </a:r>
            <a:r>
              <a:rPr lang="en-US" sz="1600" b="1" i="0" u="none" strike="noStrike">
                <a:solidFill>
                  <a:srgbClr val="D93025"/>
                </a:solidFill>
                <a:latin typeface="Aptos" panose="020B0004020202020204" pitchFamily="34" charset="0"/>
                <a:ea typeface="Noto Sans SC"/>
                <a:cs typeface="Noto Sans SC"/>
                <a:sym typeface="Noto Sans SC"/>
              </a:rPr>
              <a:t>0.1%</a:t>
            </a:r>
          </a:p>
        </p:txBody>
      </p:sp>
      <p:sp>
        <p:nvSpPr>
          <p:cNvPr id="21" name="Shape 0"/>
          <p:cNvSpPr/>
          <p:nvPr/>
        </p:nvSpPr>
        <p:spPr>
          <a:xfrm>
            <a:off x="0" y="0"/>
            <a:ext cx="12191400" cy="164160"/>
          </a:xfrm>
          <a:prstGeom prst="rect">
            <a:avLst/>
          </a:prstGeom>
          <a:solidFill>
            <a:srgbClr val="FF9900"/>
          </a:solidFill>
          <a:ln w="12700">
            <a:solidFill>
              <a:srgbClr val="FF99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ptos" panose="020B0004020202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2"/>
          <a:stretch>
            <a:fillRect/>
          </a:stretch>
        </p:blipFill>
        <p:spPr>
          <a:xfrm>
            <a:off x="3239" y="0"/>
            <a:ext cx="12185522"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294838" y="338328"/>
            <a:ext cx="118872" cy="41148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Aptos" panose="020B0004020202020204" pitchFamily="34" charset="0"/>
            </a:endParaRPr>
          </a:p>
        </p:txBody>
      </p:sp>
      <p:sp>
        <p:nvSpPr>
          <p:cNvPr id="5" name="Oval 4"/>
          <p:cNvSpPr/>
          <p:nvPr/>
        </p:nvSpPr>
        <p:spPr>
          <a:xfrm>
            <a:off x="4617720" y="2331720"/>
            <a:ext cx="2926080" cy="1325880"/>
          </a:xfrm>
          <a:prstGeom prst="ellipse">
            <a:avLst/>
          </a:prstGeom>
          <a:solidFill>
            <a:srgbClr val="232F3E"/>
          </a:solidFill>
          <a:ln>
            <a:noFill/>
          </a:ln>
        </p:spPr>
        <p:style>
          <a:lnRef idx="1">
            <a:schemeClr val="accent1"/>
          </a:lnRef>
          <a:fillRef idx="3">
            <a:schemeClr val="accent1"/>
          </a:fillRef>
          <a:effectRef idx="2">
            <a:schemeClr val="accent1"/>
          </a:effectRef>
          <a:fontRef idx="minor">
            <a:schemeClr val="lt1"/>
          </a:fontRef>
        </p:style>
        <p:txBody>
          <a:bodyPr lIns="164592" rIns="164592" rtlCol="0" anchor="ctr"/>
          <a:lstStyle/>
          <a:p>
            <a:pPr marL="0" marR="0" lvl="0" indent="0" algn="ctr" defTabSz="457200" rtl="0" eaLnBrk="1" fontAlgn="auto" latinLnBrk="0" hangingPunct="1">
              <a:lnSpc>
                <a:spcPct val="100000"/>
              </a:lnSpc>
              <a:spcBef>
                <a:spcPts val="0"/>
              </a:spcBef>
              <a:spcAft>
                <a:spcPts val="0"/>
              </a:spcAft>
              <a:buClrTx/>
              <a:buSzTx/>
              <a:buFontTx/>
              <a:buNone/>
              <a:defRPr sz="1900" b="1">
                <a:solidFill>
                  <a:srgbClr val="FFFFFF"/>
                </a:solidFill>
                <a:latin typeface="Calibri"/>
              </a:defRPr>
            </a:pPr>
            <a:r>
              <a:rPr kumimoji="0" sz="1900" b="1" i="0" u="none" strike="noStrike" kern="1200" cap="none" spc="0" normalizeH="0" baseline="0" noProof="0" dirty="0">
                <a:ln>
                  <a:noFill/>
                </a:ln>
                <a:solidFill>
                  <a:srgbClr val="FFFFFF"/>
                </a:solidFill>
                <a:effectLst/>
                <a:uLnTx/>
                <a:uFillTx/>
                <a:latin typeface="Aptos" panose="020B0004020202020204" pitchFamily="34" charset="0"/>
              </a:rPr>
              <a:t>Amazon</a:t>
            </a:r>
            <a:br>
              <a:rPr kumimoji="0" sz="1900" b="1" i="0" u="none" strike="noStrike" kern="1200" cap="none" spc="0" normalizeH="0" baseline="0" noProof="0" dirty="0">
                <a:ln>
                  <a:noFill/>
                </a:ln>
                <a:solidFill>
                  <a:srgbClr val="FFFFFF"/>
                </a:solidFill>
                <a:effectLst/>
                <a:uLnTx/>
                <a:uFillTx/>
                <a:latin typeface="Aptos" panose="020B0004020202020204" pitchFamily="34" charset="0"/>
              </a:rPr>
            </a:br>
            <a:r>
              <a:rPr kumimoji="0" sz="1900" b="1" i="0" u="none" strike="noStrike" kern="1200" cap="none" spc="0" normalizeH="0" baseline="0" noProof="0" dirty="0">
                <a:ln>
                  <a:noFill/>
                </a:ln>
                <a:solidFill>
                  <a:srgbClr val="FFFFFF"/>
                </a:solidFill>
                <a:effectLst/>
                <a:uLnTx/>
                <a:uFillTx/>
                <a:latin typeface="Aptos" panose="020B0004020202020204" pitchFamily="34" charset="0"/>
              </a:rPr>
              <a:t>E-Commerce Ecosystem</a:t>
            </a:r>
          </a:p>
        </p:txBody>
      </p:sp>
      <p:sp>
        <p:nvSpPr>
          <p:cNvPr id="6" name="Rounded Rectangle 5"/>
          <p:cNvSpPr/>
          <p:nvPr/>
        </p:nvSpPr>
        <p:spPr>
          <a:xfrm>
            <a:off x="502920" y="1143635"/>
            <a:ext cx="2715895" cy="1023620"/>
          </a:xfrm>
          <a:prstGeom prst="roundRect">
            <a:avLst/>
          </a:prstGeom>
          <a:solidFill>
            <a:srgbClr val="F7F8FA"/>
          </a:solidFill>
          <a:ln w="16510">
            <a:solidFill>
              <a:srgbClr val="FF9900"/>
            </a:solidFill>
          </a:ln>
        </p:spPr>
        <p:style>
          <a:lnRef idx="1">
            <a:schemeClr val="accent1"/>
          </a:lnRef>
          <a:fillRef idx="3">
            <a:schemeClr val="accent1"/>
          </a:fillRef>
          <a:effectRef idx="2">
            <a:schemeClr val="accent1"/>
          </a:effectRef>
          <a:fontRef idx="minor">
            <a:schemeClr val="lt1"/>
          </a:fontRef>
        </p:style>
        <p:txBody>
          <a:bodyPr lIns="109728" tIns="73152" rIns="109728" rtlCol="0" anchor="ctr"/>
          <a:lstStyle/>
          <a:p>
            <a:pPr marL="0" marR="0" lvl="0" indent="0" algn="l" defTabSz="457200" rtl="0" eaLnBrk="1" fontAlgn="auto" latinLnBrk="0" hangingPunct="1">
              <a:lnSpc>
                <a:spcPct val="100000"/>
              </a:lnSpc>
              <a:spcBef>
                <a:spcPts val="0"/>
              </a:spcBef>
              <a:spcAft>
                <a:spcPts val="0"/>
              </a:spcAft>
              <a:buClrTx/>
              <a:buSzTx/>
              <a:buFontTx/>
              <a:buNone/>
              <a:defRPr sz="1200" b="1">
                <a:solidFill>
                  <a:srgbClr val="232F3E"/>
                </a:solidFill>
                <a:latin typeface="Calibri"/>
              </a:defRPr>
            </a:pPr>
            <a:r>
              <a:rPr kumimoji="0" sz="1400" b="1" i="0" u="none" strike="noStrike" kern="1200" cap="none" spc="0" normalizeH="0" baseline="0" noProof="0" dirty="0">
                <a:ln>
                  <a:noFill/>
                </a:ln>
                <a:solidFill>
                  <a:srgbClr val="232F3E"/>
                </a:solidFill>
                <a:effectLst/>
                <a:uLnTx/>
                <a:uFillTx/>
                <a:latin typeface="Aptos" panose="020B0004020202020204" pitchFamily="34" charset="0"/>
              </a:rPr>
              <a:t>Customer Data + Prime</a:t>
            </a:r>
          </a:p>
          <a:p>
            <a:pPr marL="0" marR="0" lvl="0" indent="0" algn="l" defTabSz="457200" rtl="0" eaLnBrk="1" fontAlgn="auto" latinLnBrk="0" hangingPunct="1">
              <a:lnSpc>
                <a:spcPct val="100000"/>
              </a:lnSpc>
              <a:spcBef>
                <a:spcPts val="0"/>
              </a:spcBef>
              <a:spcAft>
                <a:spcPts val="0"/>
              </a:spcAft>
              <a:buClrTx/>
              <a:buSzTx/>
              <a:buFontTx/>
              <a:buNone/>
              <a:defRPr sz="920">
                <a:solidFill>
                  <a:srgbClr val="1F2933"/>
                </a:solidFill>
                <a:latin typeface="Calibri"/>
              </a:defRPr>
            </a:pPr>
            <a:r>
              <a:rPr kumimoji="0" sz="1000" b="0" i="0" u="none" strike="noStrike" kern="1200" cap="none" spc="0" normalizeH="0" baseline="0" noProof="0" dirty="0">
                <a:ln>
                  <a:noFill/>
                </a:ln>
                <a:solidFill>
                  <a:srgbClr val="1F2933"/>
                </a:solidFill>
                <a:effectLst/>
                <a:uLnTx/>
                <a:uFillTx/>
                <a:latin typeface="Aptos" panose="020B0004020202020204" pitchFamily="34" charset="0"/>
              </a:rPr>
              <a:t>Membership, purchase and browsing signals</a:t>
            </a:r>
          </a:p>
        </p:txBody>
      </p:sp>
      <p:sp>
        <p:nvSpPr>
          <p:cNvPr id="7" name="Rounded Rectangle 6"/>
          <p:cNvSpPr/>
          <p:nvPr/>
        </p:nvSpPr>
        <p:spPr>
          <a:xfrm>
            <a:off x="4740910" y="989330"/>
            <a:ext cx="2482850" cy="995045"/>
          </a:xfrm>
          <a:prstGeom prst="roundRect">
            <a:avLst/>
          </a:prstGeom>
          <a:solidFill>
            <a:srgbClr val="F7F8FA"/>
          </a:solidFill>
          <a:ln w="16510">
            <a:solidFill>
              <a:srgbClr val="FF9900"/>
            </a:solidFill>
          </a:ln>
        </p:spPr>
        <p:style>
          <a:lnRef idx="1">
            <a:schemeClr val="accent1"/>
          </a:lnRef>
          <a:fillRef idx="3">
            <a:schemeClr val="accent1"/>
          </a:fillRef>
          <a:effectRef idx="2">
            <a:schemeClr val="accent1"/>
          </a:effectRef>
          <a:fontRef idx="minor">
            <a:schemeClr val="lt1"/>
          </a:fontRef>
        </p:style>
        <p:txBody>
          <a:bodyPr lIns="109728" tIns="73152" rIns="109728" rtlCol="0" anchor="ctr"/>
          <a:lstStyle/>
          <a:p>
            <a:pPr marL="0" marR="0" lvl="0" indent="0" algn="l" defTabSz="457200" rtl="0" eaLnBrk="1" fontAlgn="auto" latinLnBrk="0" hangingPunct="1">
              <a:lnSpc>
                <a:spcPct val="100000"/>
              </a:lnSpc>
              <a:spcBef>
                <a:spcPts val="0"/>
              </a:spcBef>
              <a:spcAft>
                <a:spcPts val="0"/>
              </a:spcAft>
              <a:buClrTx/>
              <a:buSzTx/>
              <a:buFontTx/>
              <a:buNone/>
              <a:defRPr sz="1200" b="1">
                <a:solidFill>
                  <a:srgbClr val="232F3E"/>
                </a:solidFill>
                <a:latin typeface="Calibri"/>
              </a:defRPr>
            </a:pPr>
            <a:r>
              <a:rPr kumimoji="0" sz="1400" b="1" i="0" u="none" strike="noStrike" kern="1200" cap="none" spc="0" normalizeH="0" baseline="0" noProof="0" dirty="0">
                <a:ln>
                  <a:noFill/>
                </a:ln>
                <a:solidFill>
                  <a:srgbClr val="232F3E"/>
                </a:solidFill>
                <a:effectLst/>
                <a:uLnTx/>
                <a:uFillTx/>
                <a:latin typeface="Aptos" panose="020B0004020202020204" pitchFamily="34" charset="0"/>
              </a:rPr>
              <a:t>Personalization</a:t>
            </a:r>
          </a:p>
          <a:p>
            <a:pPr marL="0" marR="0" lvl="0" indent="0" algn="l" defTabSz="457200" rtl="0" eaLnBrk="1" fontAlgn="auto" latinLnBrk="0" hangingPunct="1">
              <a:lnSpc>
                <a:spcPct val="100000"/>
              </a:lnSpc>
              <a:spcBef>
                <a:spcPts val="0"/>
              </a:spcBef>
              <a:spcAft>
                <a:spcPts val="0"/>
              </a:spcAft>
              <a:buClrTx/>
              <a:buSzTx/>
              <a:buFontTx/>
              <a:buNone/>
              <a:defRPr sz="920">
                <a:solidFill>
                  <a:srgbClr val="1F2933"/>
                </a:solidFill>
                <a:latin typeface="Calibri"/>
              </a:defRPr>
            </a:pPr>
            <a:r>
              <a:rPr kumimoji="0" sz="1000" b="0" i="0" u="none" strike="noStrike" kern="1200" cap="none" spc="0" normalizeH="0" baseline="0" noProof="0" dirty="0">
                <a:ln>
                  <a:noFill/>
                </a:ln>
                <a:solidFill>
                  <a:srgbClr val="1F2933"/>
                </a:solidFill>
                <a:effectLst/>
                <a:uLnTx/>
                <a:uFillTx/>
                <a:latin typeface="Aptos" panose="020B0004020202020204" pitchFamily="34" charset="0"/>
              </a:rPr>
              <a:t>Recommendations and targeted experience</a:t>
            </a:r>
          </a:p>
        </p:txBody>
      </p:sp>
      <p:sp>
        <p:nvSpPr>
          <p:cNvPr id="8" name="Rounded Rectangle 7"/>
          <p:cNvSpPr/>
          <p:nvPr/>
        </p:nvSpPr>
        <p:spPr>
          <a:xfrm>
            <a:off x="8961120" y="1097915"/>
            <a:ext cx="2606040" cy="1069340"/>
          </a:xfrm>
          <a:prstGeom prst="roundRect">
            <a:avLst/>
          </a:prstGeom>
          <a:solidFill>
            <a:srgbClr val="F7F8FA"/>
          </a:solidFill>
          <a:ln w="16510">
            <a:solidFill>
              <a:srgbClr val="FF9900"/>
            </a:solidFill>
          </a:ln>
        </p:spPr>
        <p:style>
          <a:lnRef idx="1">
            <a:schemeClr val="accent1"/>
          </a:lnRef>
          <a:fillRef idx="3">
            <a:schemeClr val="accent1"/>
          </a:fillRef>
          <a:effectRef idx="2">
            <a:schemeClr val="accent1"/>
          </a:effectRef>
          <a:fontRef idx="minor">
            <a:schemeClr val="lt1"/>
          </a:fontRef>
        </p:style>
        <p:txBody>
          <a:bodyPr lIns="109728" tIns="73152" rIns="109728" rtlCol="0" anchor="ctr"/>
          <a:lstStyle/>
          <a:p>
            <a:pPr marL="0" marR="0" lvl="0" indent="0" algn="ctr" defTabSz="457200" rtl="0" eaLnBrk="1" fontAlgn="auto" latinLnBrk="0" hangingPunct="1">
              <a:lnSpc>
                <a:spcPct val="100000"/>
              </a:lnSpc>
              <a:spcBef>
                <a:spcPts val="0"/>
              </a:spcBef>
              <a:spcAft>
                <a:spcPts val="0"/>
              </a:spcAft>
              <a:buClrTx/>
              <a:buSzTx/>
              <a:buFontTx/>
              <a:buNone/>
              <a:defRPr sz="1200" b="1">
                <a:solidFill>
                  <a:srgbClr val="232F3E"/>
                </a:solidFill>
                <a:latin typeface="Calibri"/>
              </a:defRPr>
            </a:pPr>
            <a:r>
              <a:rPr kumimoji="0" sz="1400" b="1" i="0" u="none" strike="noStrike" kern="1200" cap="none" spc="0" normalizeH="0" baseline="0" noProof="0" dirty="0">
                <a:ln>
                  <a:noFill/>
                </a:ln>
                <a:solidFill>
                  <a:srgbClr val="232F3E"/>
                </a:solidFill>
                <a:effectLst/>
                <a:uLnTx/>
                <a:uFillTx/>
                <a:latin typeface="Aptos" panose="020B0004020202020204" pitchFamily="34" charset="0"/>
              </a:rPr>
              <a:t>Marketplace + 3P Sellers</a:t>
            </a:r>
          </a:p>
          <a:p>
            <a:pPr marL="0" marR="0" lvl="0" indent="0" algn="ctr" defTabSz="457200" rtl="0" eaLnBrk="1" fontAlgn="auto" latinLnBrk="0" hangingPunct="1">
              <a:lnSpc>
                <a:spcPct val="100000"/>
              </a:lnSpc>
              <a:spcBef>
                <a:spcPts val="0"/>
              </a:spcBef>
              <a:spcAft>
                <a:spcPts val="0"/>
              </a:spcAft>
              <a:buClrTx/>
              <a:buSzTx/>
              <a:buFontTx/>
              <a:buNone/>
              <a:defRPr sz="920">
                <a:solidFill>
                  <a:srgbClr val="1F2933"/>
                </a:solidFill>
                <a:latin typeface="Calibri"/>
              </a:defRPr>
            </a:pPr>
            <a:r>
              <a:rPr kumimoji="0" sz="1000" b="0" i="0" u="none" strike="noStrike" kern="1200" cap="none" spc="0" normalizeH="0" baseline="0" noProof="0" dirty="0">
                <a:ln>
                  <a:noFill/>
                </a:ln>
                <a:solidFill>
                  <a:srgbClr val="1F2933"/>
                </a:solidFill>
                <a:effectLst/>
                <a:uLnTx/>
                <a:uFillTx/>
                <a:latin typeface="Aptos" panose="020B0004020202020204" pitchFamily="34" charset="0"/>
              </a:rPr>
              <a:t>Wider selection and niche products</a:t>
            </a:r>
          </a:p>
        </p:txBody>
      </p:sp>
      <p:sp>
        <p:nvSpPr>
          <p:cNvPr id="9" name="Rounded Rectangle 8"/>
          <p:cNvSpPr/>
          <p:nvPr/>
        </p:nvSpPr>
        <p:spPr>
          <a:xfrm>
            <a:off x="848360" y="3749675"/>
            <a:ext cx="2781935" cy="1069340"/>
          </a:xfrm>
          <a:prstGeom prst="roundRect">
            <a:avLst/>
          </a:prstGeom>
          <a:solidFill>
            <a:srgbClr val="F7F8FA"/>
          </a:solidFill>
          <a:ln w="16510">
            <a:solidFill>
              <a:srgbClr val="FF9900"/>
            </a:solidFill>
          </a:ln>
        </p:spPr>
        <p:style>
          <a:lnRef idx="1">
            <a:schemeClr val="accent1"/>
          </a:lnRef>
          <a:fillRef idx="3">
            <a:schemeClr val="accent1"/>
          </a:fillRef>
          <a:effectRef idx="2">
            <a:schemeClr val="accent1"/>
          </a:effectRef>
          <a:fontRef idx="minor">
            <a:schemeClr val="lt1"/>
          </a:fontRef>
        </p:style>
        <p:txBody>
          <a:bodyPr lIns="109728" tIns="73152" rIns="109728" rtlCol="0" anchor="ctr"/>
          <a:lstStyle/>
          <a:p>
            <a:pPr marL="0" marR="0" lvl="0" indent="0" algn="ctr" defTabSz="457200" rtl="0" eaLnBrk="1" fontAlgn="auto" latinLnBrk="0" hangingPunct="1">
              <a:lnSpc>
                <a:spcPct val="100000"/>
              </a:lnSpc>
              <a:spcBef>
                <a:spcPts val="0"/>
              </a:spcBef>
              <a:spcAft>
                <a:spcPts val="0"/>
              </a:spcAft>
              <a:buClrTx/>
              <a:buSzTx/>
              <a:buFontTx/>
              <a:buNone/>
              <a:defRPr sz="1200" b="1">
                <a:solidFill>
                  <a:srgbClr val="232F3E"/>
                </a:solidFill>
                <a:latin typeface="Calibri"/>
              </a:defRPr>
            </a:pPr>
            <a:r>
              <a:rPr kumimoji="0" sz="1400" b="1" i="0" u="none" strike="noStrike" kern="1200" cap="none" spc="0" normalizeH="0" baseline="0" noProof="0" dirty="0">
                <a:ln>
                  <a:noFill/>
                </a:ln>
                <a:solidFill>
                  <a:srgbClr val="232F3E"/>
                </a:solidFill>
                <a:effectLst/>
                <a:uLnTx/>
                <a:uFillTx/>
                <a:latin typeface="Aptos" panose="020B0004020202020204" pitchFamily="34" charset="0"/>
              </a:rPr>
              <a:t>FBA + Fast Delivery</a:t>
            </a:r>
          </a:p>
          <a:p>
            <a:pPr marL="0" marR="0" lvl="0" indent="0" algn="ctr" defTabSz="457200" rtl="0" eaLnBrk="1" fontAlgn="auto" latinLnBrk="0" hangingPunct="1">
              <a:lnSpc>
                <a:spcPct val="100000"/>
              </a:lnSpc>
              <a:spcBef>
                <a:spcPts val="0"/>
              </a:spcBef>
              <a:spcAft>
                <a:spcPts val="0"/>
              </a:spcAft>
              <a:buClrTx/>
              <a:buSzTx/>
              <a:buFontTx/>
              <a:buNone/>
              <a:defRPr sz="920">
                <a:solidFill>
                  <a:srgbClr val="1F2933"/>
                </a:solidFill>
                <a:latin typeface="Calibri"/>
              </a:defRPr>
            </a:pPr>
            <a:r>
              <a:rPr kumimoji="0" sz="1000" b="0" i="0" u="none" strike="noStrike" kern="1200" cap="none" spc="0" normalizeH="0" baseline="0" noProof="0" dirty="0">
                <a:ln>
                  <a:noFill/>
                </a:ln>
                <a:solidFill>
                  <a:srgbClr val="1F2933"/>
                </a:solidFill>
                <a:effectLst/>
                <a:uLnTx/>
                <a:uFillTx/>
                <a:latin typeface="Aptos" panose="020B0004020202020204" pitchFamily="34" charset="0"/>
              </a:rPr>
              <a:t>Storage, picking, shipping and returns</a:t>
            </a:r>
          </a:p>
        </p:txBody>
      </p:sp>
      <p:sp>
        <p:nvSpPr>
          <p:cNvPr id="10" name="Rounded Rectangle 9"/>
          <p:cNvSpPr/>
          <p:nvPr/>
        </p:nvSpPr>
        <p:spPr>
          <a:xfrm>
            <a:off x="8549640" y="3796030"/>
            <a:ext cx="3107690" cy="1022985"/>
          </a:xfrm>
          <a:prstGeom prst="roundRect">
            <a:avLst/>
          </a:prstGeom>
          <a:solidFill>
            <a:srgbClr val="F7F8FA"/>
          </a:solidFill>
          <a:ln w="16510">
            <a:solidFill>
              <a:srgbClr val="FF9900"/>
            </a:solidFill>
          </a:ln>
        </p:spPr>
        <p:style>
          <a:lnRef idx="1">
            <a:schemeClr val="accent1"/>
          </a:lnRef>
          <a:fillRef idx="3">
            <a:schemeClr val="accent1"/>
          </a:fillRef>
          <a:effectRef idx="2">
            <a:schemeClr val="accent1"/>
          </a:effectRef>
          <a:fontRef idx="minor">
            <a:schemeClr val="lt1"/>
          </a:fontRef>
        </p:style>
        <p:txBody>
          <a:bodyPr lIns="109728" tIns="73152" rIns="109728" rtlCol="0" anchor="ctr"/>
          <a:lstStyle/>
          <a:p>
            <a:pPr marL="0" marR="0" lvl="0" indent="0" algn="ctr" defTabSz="457200" rtl="0" eaLnBrk="1" fontAlgn="auto" latinLnBrk="0" hangingPunct="1">
              <a:lnSpc>
                <a:spcPct val="100000"/>
              </a:lnSpc>
              <a:spcBef>
                <a:spcPts val="0"/>
              </a:spcBef>
              <a:spcAft>
                <a:spcPts val="0"/>
              </a:spcAft>
              <a:buClrTx/>
              <a:buSzTx/>
              <a:buFontTx/>
              <a:buNone/>
              <a:defRPr sz="1200" b="1">
                <a:solidFill>
                  <a:srgbClr val="232F3E"/>
                </a:solidFill>
                <a:latin typeface="Calibri"/>
              </a:defRPr>
            </a:pPr>
            <a:r>
              <a:rPr kumimoji="0" sz="1400" b="1" i="0" u="none" strike="noStrike" kern="1200" cap="none" spc="0" normalizeH="0" baseline="0" noProof="0" dirty="0">
                <a:ln>
                  <a:noFill/>
                </a:ln>
                <a:solidFill>
                  <a:srgbClr val="232F3E"/>
                </a:solidFill>
                <a:effectLst/>
                <a:uLnTx/>
                <a:uFillTx/>
                <a:latin typeface="Aptos" panose="020B0004020202020204" pitchFamily="34" charset="0"/>
              </a:rPr>
              <a:t>Advertising + Hybrid Revenue</a:t>
            </a:r>
          </a:p>
          <a:p>
            <a:pPr marL="0" marR="0" lvl="0" indent="0" algn="ctr" defTabSz="457200" rtl="0" eaLnBrk="1" fontAlgn="auto" latinLnBrk="0" hangingPunct="1">
              <a:lnSpc>
                <a:spcPct val="100000"/>
              </a:lnSpc>
              <a:spcBef>
                <a:spcPts val="0"/>
              </a:spcBef>
              <a:spcAft>
                <a:spcPts val="0"/>
              </a:spcAft>
              <a:buClrTx/>
              <a:buSzTx/>
              <a:buFontTx/>
              <a:buNone/>
              <a:defRPr sz="920">
                <a:solidFill>
                  <a:srgbClr val="1F2933"/>
                </a:solidFill>
                <a:latin typeface="Calibri"/>
              </a:defRPr>
            </a:pPr>
            <a:r>
              <a:rPr kumimoji="0" sz="1000" b="0" i="0" u="none" strike="noStrike" kern="1200" cap="none" spc="0" normalizeH="0" baseline="0" noProof="0" dirty="0">
                <a:ln>
                  <a:noFill/>
                </a:ln>
                <a:solidFill>
                  <a:srgbClr val="1F2933"/>
                </a:solidFill>
                <a:effectLst/>
                <a:uLnTx/>
                <a:uFillTx/>
                <a:latin typeface="Aptos" panose="020B0004020202020204" pitchFamily="34" charset="0"/>
              </a:rPr>
              <a:t>Seller services, ads and membership income</a:t>
            </a:r>
          </a:p>
        </p:txBody>
      </p:sp>
      <p:cxnSp>
        <p:nvCxnSpPr>
          <p:cNvPr id="11" name="Connector 10"/>
          <p:cNvCxnSpPr/>
          <p:nvPr/>
        </p:nvCxnSpPr>
        <p:spPr>
          <a:xfrm>
            <a:off x="3246120" y="1746504"/>
            <a:ext cx="1417320" cy="841248"/>
          </a:xfrm>
          <a:prstGeom prst="line">
            <a:avLst/>
          </a:prstGeom>
          <a:ln w="19050">
            <a:solidFill>
              <a:srgbClr val="FF9900"/>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053328" y="2002536"/>
            <a:ext cx="0" cy="329184"/>
          </a:xfrm>
          <a:prstGeom prst="line">
            <a:avLst/>
          </a:prstGeom>
          <a:ln w="19050">
            <a:solidFill>
              <a:srgbClr val="FF99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7452360" y="1746504"/>
            <a:ext cx="1600200" cy="841248"/>
          </a:xfrm>
          <a:prstGeom prst="line">
            <a:avLst/>
          </a:prstGeom>
          <a:ln w="19050">
            <a:solidFill>
              <a:srgbClr val="FF9900"/>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3611880" y="3246120"/>
            <a:ext cx="1124712" cy="1152144"/>
          </a:xfrm>
          <a:prstGeom prst="line">
            <a:avLst/>
          </a:prstGeom>
          <a:ln w="19050">
            <a:solidFill>
              <a:srgbClr val="FF9900"/>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flipV="1">
            <a:off x="7406640" y="3246120"/>
            <a:ext cx="1143000" cy="1152144"/>
          </a:xfrm>
          <a:prstGeom prst="line">
            <a:avLst/>
          </a:prstGeom>
          <a:ln w="19050">
            <a:solidFill>
              <a:srgbClr val="FF9900"/>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3368260" y="1417320"/>
            <a:ext cx="1202252" cy="169277"/>
          </a:xfrm>
          <a:prstGeom prst="rect">
            <a:avLst/>
          </a:prstGeom>
          <a:noFill/>
        </p:spPr>
        <p:txBody>
          <a:bodyPr wrap="none" lIns="0" tIns="0" rIns="0" bIns="0">
            <a:spAutoFit/>
          </a:bodyPr>
          <a:lstStyle/>
          <a:p>
            <a:pPr marL="0" marR="0" lvl="0" indent="0" algn="ctr" defTabSz="457200" rtl="0" eaLnBrk="1" fontAlgn="auto" latinLnBrk="0" hangingPunct="1">
              <a:lnSpc>
                <a:spcPct val="100000"/>
              </a:lnSpc>
              <a:spcBef>
                <a:spcPts val="0"/>
              </a:spcBef>
              <a:spcAft>
                <a:spcPts val="0"/>
              </a:spcAft>
              <a:buClrTx/>
              <a:buSzTx/>
              <a:buFontTx/>
              <a:buNone/>
              <a:defRPr sz="900" b="1">
                <a:solidFill>
                  <a:srgbClr val="FF9900"/>
                </a:solidFill>
                <a:latin typeface="Calibri"/>
              </a:defRPr>
            </a:pPr>
            <a:r>
              <a:rPr kumimoji="0" sz="1100" b="1" i="0" u="none" strike="noStrike" kern="1200" cap="none" spc="0" normalizeH="0" baseline="0" noProof="0" dirty="0">
                <a:ln>
                  <a:noFill/>
                </a:ln>
                <a:solidFill>
                  <a:srgbClr val="FF9900"/>
                </a:solidFill>
                <a:effectLst/>
                <a:uLnTx/>
                <a:uFillTx/>
                <a:latin typeface="Aptos" panose="020B0004020202020204" pitchFamily="34" charset="0"/>
              </a:rPr>
              <a:t>customer intimacy</a:t>
            </a:r>
          </a:p>
        </p:txBody>
      </p:sp>
      <p:sp>
        <p:nvSpPr>
          <p:cNvPr id="17" name="TextBox 16"/>
          <p:cNvSpPr txBox="1"/>
          <p:nvPr/>
        </p:nvSpPr>
        <p:spPr>
          <a:xfrm>
            <a:off x="7664088" y="1417320"/>
            <a:ext cx="993863" cy="169277"/>
          </a:xfrm>
          <a:prstGeom prst="rect">
            <a:avLst/>
          </a:prstGeom>
          <a:noFill/>
        </p:spPr>
        <p:txBody>
          <a:bodyPr wrap="none" lIns="0" tIns="0" rIns="0" bIns="0">
            <a:spAutoFit/>
          </a:bodyPr>
          <a:lstStyle/>
          <a:p>
            <a:pPr marL="0" marR="0" lvl="0" indent="0" algn="ctr" defTabSz="457200" rtl="0" eaLnBrk="1" fontAlgn="auto" latinLnBrk="0" hangingPunct="1">
              <a:lnSpc>
                <a:spcPct val="100000"/>
              </a:lnSpc>
              <a:spcBef>
                <a:spcPts val="0"/>
              </a:spcBef>
              <a:spcAft>
                <a:spcPts val="0"/>
              </a:spcAft>
              <a:buClrTx/>
              <a:buSzTx/>
              <a:buFontTx/>
              <a:buNone/>
              <a:defRPr sz="900" b="1">
                <a:solidFill>
                  <a:srgbClr val="FF9900"/>
                </a:solidFill>
                <a:latin typeface="Calibri"/>
              </a:defRPr>
            </a:pPr>
            <a:r>
              <a:rPr kumimoji="0" sz="1100" b="1" i="0" u="none" strike="noStrike" kern="1200" cap="none" spc="0" normalizeH="0" baseline="0" noProof="0" dirty="0">
                <a:ln>
                  <a:noFill/>
                </a:ln>
                <a:solidFill>
                  <a:srgbClr val="FF9900"/>
                </a:solidFill>
                <a:effectLst/>
                <a:uLnTx/>
                <a:uFillTx/>
                <a:latin typeface="Aptos" panose="020B0004020202020204" pitchFamily="34" charset="0"/>
              </a:rPr>
              <a:t>long-tail choice</a:t>
            </a:r>
          </a:p>
        </p:txBody>
      </p:sp>
      <p:sp>
        <p:nvSpPr>
          <p:cNvPr id="18" name="TextBox 17"/>
          <p:cNvSpPr txBox="1"/>
          <p:nvPr/>
        </p:nvSpPr>
        <p:spPr>
          <a:xfrm>
            <a:off x="3802690" y="4343400"/>
            <a:ext cx="822341" cy="169277"/>
          </a:xfrm>
          <a:prstGeom prst="rect">
            <a:avLst/>
          </a:prstGeom>
          <a:noFill/>
        </p:spPr>
        <p:txBody>
          <a:bodyPr wrap="none" lIns="0" tIns="0" rIns="0" bIns="0">
            <a:spAutoFit/>
          </a:bodyPr>
          <a:lstStyle/>
          <a:p>
            <a:pPr marL="0" marR="0" lvl="0" indent="0" algn="ctr" defTabSz="457200" rtl="0" eaLnBrk="1" fontAlgn="auto" latinLnBrk="0" hangingPunct="1">
              <a:lnSpc>
                <a:spcPct val="100000"/>
              </a:lnSpc>
              <a:spcBef>
                <a:spcPts val="0"/>
              </a:spcBef>
              <a:spcAft>
                <a:spcPts val="0"/>
              </a:spcAft>
              <a:buClrTx/>
              <a:buSzTx/>
              <a:buFontTx/>
              <a:buNone/>
              <a:defRPr sz="900" b="1">
                <a:solidFill>
                  <a:srgbClr val="FF9900"/>
                </a:solidFill>
                <a:latin typeface="Calibri"/>
              </a:defRPr>
            </a:pPr>
            <a:r>
              <a:rPr kumimoji="0" sz="1100" b="1" i="0" u="none" strike="noStrike" kern="1200" cap="none" spc="0" normalizeH="0" baseline="0" noProof="0" dirty="0">
                <a:ln>
                  <a:noFill/>
                </a:ln>
                <a:solidFill>
                  <a:srgbClr val="FF9900"/>
                </a:solidFill>
                <a:effectLst/>
                <a:uLnTx/>
                <a:uFillTx/>
                <a:latin typeface="Aptos" panose="020B0004020202020204" pitchFamily="34" charset="0"/>
              </a:rPr>
              <a:t>convenience</a:t>
            </a:r>
          </a:p>
        </p:txBody>
      </p:sp>
      <p:sp>
        <p:nvSpPr>
          <p:cNvPr id="19" name="TextBox 18"/>
          <p:cNvSpPr txBox="1"/>
          <p:nvPr/>
        </p:nvSpPr>
        <p:spPr>
          <a:xfrm>
            <a:off x="7468316" y="4343400"/>
            <a:ext cx="836768" cy="169277"/>
          </a:xfrm>
          <a:prstGeom prst="rect">
            <a:avLst/>
          </a:prstGeom>
          <a:noFill/>
        </p:spPr>
        <p:txBody>
          <a:bodyPr wrap="none" lIns="0" tIns="0" rIns="0" bIns="0">
            <a:spAutoFit/>
          </a:bodyPr>
          <a:lstStyle/>
          <a:p>
            <a:pPr marL="0" marR="0" lvl="0" indent="0" algn="ctr" defTabSz="457200" rtl="0" eaLnBrk="1" fontAlgn="auto" latinLnBrk="0" hangingPunct="1">
              <a:lnSpc>
                <a:spcPct val="100000"/>
              </a:lnSpc>
              <a:spcBef>
                <a:spcPts val="0"/>
              </a:spcBef>
              <a:spcAft>
                <a:spcPts val="0"/>
              </a:spcAft>
              <a:buClrTx/>
              <a:buSzTx/>
              <a:buFontTx/>
              <a:buNone/>
              <a:defRPr sz="900" b="1">
                <a:solidFill>
                  <a:srgbClr val="FF9900"/>
                </a:solidFill>
                <a:latin typeface="Calibri"/>
              </a:defRPr>
            </a:pPr>
            <a:r>
              <a:rPr kumimoji="0" sz="1100" b="1" i="0" u="none" strike="noStrike" kern="1200" cap="none" spc="0" normalizeH="0" baseline="0" noProof="0" dirty="0">
                <a:ln>
                  <a:noFill/>
                </a:ln>
                <a:solidFill>
                  <a:srgbClr val="FF9900"/>
                </a:solidFill>
                <a:effectLst/>
                <a:uLnTx/>
                <a:uFillTx/>
                <a:latin typeface="Aptos" panose="020B0004020202020204" pitchFamily="34" charset="0"/>
              </a:rPr>
              <a:t>service sales</a:t>
            </a:r>
          </a:p>
        </p:txBody>
      </p:sp>
      <p:sp>
        <p:nvSpPr>
          <p:cNvPr id="20" name="Rounded Rectangle 19"/>
          <p:cNvSpPr/>
          <p:nvPr/>
        </p:nvSpPr>
        <p:spPr>
          <a:xfrm>
            <a:off x="678180" y="5202936"/>
            <a:ext cx="10835640" cy="658368"/>
          </a:xfrm>
          <a:prstGeom prst="roundRect">
            <a:avLst/>
          </a:prstGeom>
          <a:solidFill>
            <a:srgbClr val="FFFFFF"/>
          </a:solidFill>
          <a:ln w="9525">
            <a:solidFill>
              <a:srgbClr val="E0E4E8"/>
            </a:solidFill>
          </a:ln>
        </p:spPr>
        <p:style>
          <a:lnRef idx="1">
            <a:schemeClr val="accent1"/>
          </a:lnRef>
          <a:fillRef idx="3">
            <a:schemeClr val="accent1"/>
          </a:fillRef>
          <a:effectRef idx="2">
            <a:schemeClr val="accent1"/>
          </a:effectRef>
          <a:fontRef idx="minor">
            <a:schemeClr val="lt1"/>
          </a:fontRef>
        </p:style>
        <p:txBody>
          <a:bodyPr lIns="146304" tIns="73152" rtlCol="0" anchor="ctr"/>
          <a:lstStyle/>
          <a:p>
            <a:pPr marL="0" marR="0" lvl="0" indent="0" algn="ctr" defTabSz="457200" rtl="0" eaLnBrk="1" fontAlgn="auto" latinLnBrk="0" hangingPunct="1">
              <a:lnSpc>
                <a:spcPct val="100000"/>
              </a:lnSpc>
              <a:spcBef>
                <a:spcPts val="0"/>
              </a:spcBef>
              <a:spcAft>
                <a:spcPts val="0"/>
              </a:spcAft>
              <a:buClrTx/>
              <a:buSzTx/>
              <a:buFontTx/>
              <a:buNone/>
              <a:defRPr sz="1350" b="1">
                <a:solidFill>
                  <a:srgbClr val="232F3E"/>
                </a:solidFill>
                <a:latin typeface="Calibri"/>
              </a:defRPr>
            </a:pPr>
            <a:r>
              <a:rPr kumimoji="0" sz="1400" b="1" i="0" u="none" strike="noStrike" kern="1200" cap="none" spc="0" normalizeH="0" baseline="0" noProof="0" dirty="0">
                <a:ln>
                  <a:noFill/>
                </a:ln>
                <a:solidFill>
                  <a:srgbClr val="232F3E"/>
                </a:solidFill>
                <a:effectLst/>
                <a:uLnTx/>
                <a:uFillTx/>
                <a:latin typeface="Aptos" panose="020B0004020202020204" pitchFamily="34" charset="0"/>
              </a:rPr>
              <a:t>Strategic purpose: price + selection + convenience + fast shipping</a:t>
            </a:r>
          </a:p>
          <a:p>
            <a:pPr marL="0" marR="0" lvl="0" indent="0" algn="ctr" defTabSz="457200" rtl="0" eaLnBrk="1" fontAlgn="auto" latinLnBrk="0" hangingPunct="1">
              <a:lnSpc>
                <a:spcPct val="100000"/>
              </a:lnSpc>
              <a:spcBef>
                <a:spcPts val="0"/>
              </a:spcBef>
              <a:spcAft>
                <a:spcPts val="0"/>
              </a:spcAft>
              <a:buClrTx/>
              <a:buSzTx/>
              <a:buFontTx/>
              <a:buNone/>
              <a:defRPr sz="950">
                <a:solidFill>
                  <a:srgbClr val="5B6571"/>
                </a:solidFill>
                <a:latin typeface="Calibri"/>
              </a:defRPr>
            </a:pPr>
            <a:r>
              <a:rPr kumimoji="0" sz="1000" b="0" i="0" u="none" strike="noStrike" kern="1200" cap="none" spc="0" normalizeH="0" baseline="0" noProof="0" dirty="0">
                <a:ln>
                  <a:noFill/>
                </a:ln>
                <a:solidFill>
                  <a:srgbClr val="5B6571"/>
                </a:solidFill>
                <a:effectLst/>
                <a:uLnTx/>
                <a:uFillTx/>
                <a:latin typeface="Aptos" panose="020B0004020202020204" pitchFamily="34" charset="0"/>
              </a:rPr>
              <a:t>Amazon can be </a:t>
            </a:r>
            <a:r>
              <a:rPr kumimoji="0" sz="1000" b="0" i="0" u="none" strike="noStrike" kern="1200" cap="none" spc="0" normalizeH="0" baseline="0" noProof="0" dirty="0" err="1">
                <a:ln>
                  <a:noFill/>
                </a:ln>
                <a:solidFill>
                  <a:srgbClr val="5B6571"/>
                </a:solidFill>
                <a:effectLst/>
                <a:uLnTx/>
                <a:uFillTx/>
                <a:latin typeface="Aptos" panose="020B0004020202020204" pitchFamily="34" charset="0"/>
              </a:rPr>
              <a:t>analysed</a:t>
            </a:r>
            <a:r>
              <a:rPr kumimoji="0" sz="1000" b="0" i="0" u="none" strike="noStrike" kern="1200" cap="none" spc="0" normalizeH="0" baseline="0" noProof="0" dirty="0">
                <a:ln>
                  <a:noFill/>
                </a:ln>
                <a:solidFill>
                  <a:srgbClr val="5B6571"/>
                </a:solidFill>
                <a:effectLst/>
                <a:uLnTx/>
                <a:uFillTx/>
                <a:latin typeface="Aptos" panose="020B0004020202020204" pitchFamily="34" charset="0"/>
              </a:rPr>
              <a:t> as a B2C e-tailer, marketplace and digital ecosystem - not just a simple online shop</a:t>
            </a:r>
            <a:r>
              <a:rPr kumimoji="0" sz="950" b="0" i="0" u="none" strike="noStrike" kern="1200" cap="none" spc="0" normalizeH="0" baseline="0" noProof="0" dirty="0">
                <a:ln>
                  <a:noFill/>
                </a:ln>
                <a:solidFill>
                  <a:srgbClr val="5B6571"/>
                </a:solidFill>
                <a:effectLst/>
                <a:uLnTx/>
                <a:uFillTx/>
                <a:latin typeface="Aptos" panose="020B0004020202020204" pitchFamily="34" charset="0"/>
              </a:rPr>
              <a:t>.</a:t>
            </a:r>
          </a:p>
        </p:txBody>
      </p:sp>
      <p:sp>
        <p:nvSpPr>
          <p:cNvPr id="22" name="TextBox 21"/>
          <p:cNvSpPr txBox="1"/>
          <p:nvPr/>
        </p:nvSpPr>
        <p:spPr>
          <a:xfrm>
            <a:off x="11511765" y="6473952"/>
            <a:ext cx="146835" cy="215444"/>
          </a:xfrm>
          <a:prstGeom prst="rect">
            <a:avLst/>
          </a:prstGeom>
          <a:noFill/>
        </p:spPr>
        <p:txBody>
          <a:bodyPr wrap="none" lIns="0">
            <a:spAutoFit/>
          </a:bodyPr>
          <a:lstStyle/>
          <a:p>
            <a:pPr marL="0" marR="0" lvl="0" indent="0" algn="r" defTabSz="457200" rtl="0" eaLnBrk="1" fontAlgn="auto" latinLnBrk="0" hangingPunct="1">
              <a:lnSpc>
                <a:spcPct val="100000"/>
              </a:lnSpc>
              <a:spcBef>
                <a:spcPts val="0"/>
              </a:spcBef>
              <a:spcAft>
                <a:spcPts val="0"/>
              </a:spcAft>
              <a:buClrTx/>
              <a:buSzTx/>
              <a:buFontTx/>
              <a:buNone/>
              <a:defRPr sz="800">
                <a:solidFill>
                  <a:srgbClr val="5B6571"/>
                </a:solidFill>
                <a:latin typeface="Calibri"/>
              </a:defRPr>
            </a:pPr>
            <a:r>
              <a:rPr kumimoji="0" sz="800" b="0" i="0" u="none" strike="noStrike" kern="1200" cap="none" spc="0" normalizeH="0" baseline="0" noProof="0">
                <a:ln>
                  <a:noFill/>
                </a:ln>
                <a:solidFill>
                  <a:srgbClr val="5B6571"/>
                </a:solidFill>
                <a:effectLst/>
                <a:uLnTx/>
                <a:uFillTx/>
                <a:latin typeface="Aptos" panose="020B0004020202020204" pitchFamily="34" charset="0"/>
              </a:rPr>
              <a:t>1</a:t>
            </a:r>
          </a:p>
        </p:txBody>
      </p:sp>
      <p:sp>
        <p:nvSpPr>
          <p:cNvPr id="23" name="Shape 0"/>
          <p:cNvSpPr/>
          <p:nvPr/>
        </p:nvSpPr>
        <p:spPr>
          <a:xfrm>
            <a:off x="0" y="0"/>
            <a:ext cx="12191400" cy="164160"/>
          </a:xfrm>
          <a:prstGeom prst="rect">
            <a:avLst/>
          </a:prstGeom>
          <a:solidFill>
            <a:srgbClr val="FF9900"/>
          </a:solidFill>
          <a:ln w="12700">
            <a:solidFill>
              <a:srgbClr val="FF99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ptos" panose="020B0004020202020204" pitchFamily="34" charset="0"/>
            </a:endParaRPr>
          </a:p>
        </p:txBody>
      </p:sp>
      <p:sp>
        <p:nvSpPr>
          <p:cNvPr id="24" name="Text 1"/>
          <p:cNvSpPr/>
          <p:nvPr/>
        </p:nvSpPr>
        <p:spPr>
          <a:xfrm>
            <a:off x="502920" y="320040"/>
            <a:ext cx="987516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500" b="1" u="none" strike="noStrike" dirty="0">
                <a:solidFill>
                  <a:srgbClr val="232F3E"/>
                </a:solidFill>
                <a:effectLst/>
                <a:uFillTx/>
                <a:latin typeface="Aptos" panose="020B0004020202020204" pitchFamily="34" charset="0"/>
                <a:ea typeface="Aptos Display"/>
              </a:rPr>
              <a:t>Amazon’s E-Commerce Strategy Overview</a:t>
            </a:r>
            <a:endParaRPr lang="en-US" sz="2500" b="0" u="none" strike="noStrike" dirty="0">
              <a:solidFill>
                <a:srgbClr val="000000"/>
              </a:solidFill>
              <a:effectLst/>
              <a:uFillTx/>
              <a:latin typeface="Aptos" panose="020B0004020202020204" pitchFamily="34" charset="0"/>
            </a:endParaRPr>
          </a:p>
        </p:txBody>
      </p:sp>
      <p:sp>
        <p:nvSpPr>
          <p:cNvPr id="25" name="Text 2"/>
          <p:cNvSpPr/>
          <p:nvPr/>
        </p:nvSpPr>
        <p:spPr>
          <a:xfrm>
            <a:off x="521280" y="749880"/>
            <a:ext cx="1005804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u="none" strike="noStrike" dirty="0">
                <a:solidFill>
                  <a:srgbClr val="5B6770"/>
                </a:solidFill>
                <a:effectLst/>
                <a:uFillTx/>
                <a:latin typeface="Aptos" panose="020B0004020202020204" pitchFamily="34" charset="0"/>
                <a:ea typeface="Aptos"/>
              </a:rPr>
              <a:t>Customer intimacy | Long-tail marketplace | Fulfilment advantage</a:t>
            </a:r>
            <a:endParaRPr lang="en-US" sz="1000" b="0" u="none" strike="noStrike" dirty="0">
              <a:solidFill>
                <a:srgbClr val="000000"/>
              </a:solidFill>
              <a:effectLst/>
              <a:uFillTx/>
              <a:latin typeface="Aptos" panose="020B0004020202020204" pitchFamily="34" charset="0"/>
            </a:endParaRPr>
          </a:p>
        </p:txBody>
      </p:sp>
      <p:sp>
        <p:nvSpPr>
          <p:cNvPr id="26" name="Text 35"/>
          <p:cNvSpPr/>
          <p:nvPr/>
        </p:nvSpPr>
        <p:spPr>
          <a:xfrm>
            <a:off x="502920" y="6556320"/>
            <a:ext cx="1115532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650" b="0" i="1" u="none" strike="noStrike">
                <a:solidFill>
                  <a:srgbClr val="6B7280"/>
                </a:solidFill>
                <a:effectLst/>
                <a:uFillTx/>
                <a:latin typeface="Aptos" panose="020B0004020202020204" pitchFamily="34" charset="0"/>
              </a:rPr>
              <a:t>Source: Amazon.com, Inc. Form 10-K, fiscal year ended Dec. 31, 2025.</a:t>
            </a:r>
            <a:endParaRPr lang="en-US" sz="650" b="0" u="none" strike="noStrike">
              <a:solidFill>
                <a:srgbClr val="000000"/>
              </a:solidFill>
              <a:effectLst/>
              <a:uFillTx/>
              <a:latin typeface="Aptos" panose="020B0004020202020204" pitchFamily="34" charset="0"/>
            </a:endParaRPr>
          </a:p>
        </p:txBody>
      </p:sp>
      <p:pic>
        <p:nvPicPr>
          <p:cNvPr id="37" name="图片 3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02920" y="1113790"/>
            <a:ext cx="473075" cy="473075"/>
          </a:xfrm>
          <a:prstGeom prst="rect">
            <a:avLst/>
          </a:prstGeom>
        </p:spPr>
      </p:pic>
      <p:pic>
        <p:nvPicPr>
          <p:cNvPr id="39" name="图片 3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flipH="1">
            <a:off x="4720590" y="909320"/>
            <a:ext cx="426085" cy="426085"/>
          </a:xfrm>
          <a:prstGeom prst="rect">
            <a:avLst/>
          </a:prstGeom>
        </p:spPr>
      </p:pic>
      <p:pic>
        <p:nvPicPr>
          <p:cNvPr id="41" name="图片 4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961120" y="1057275"/>
            <a:ext cx="473075" cy="473075"/>
          </a:xfrm>
          <a:prstGeom prst="rect">
            <a:avLst/>
          </a:prstGeom>
        </p:spPr>
      </p:pic>
      <p:pic>
        <p:nvPicPr>
          <p:cNvPr id="43" name="图片 4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flipH="1">
            <a:off x="750010" y="3623342"/>
            <a:ext cx="720000" cy="720000"/>
          </a:xfrm>
          <a:prstGeom prst="rect">
            <a:avLst/>
          </a:prstGeom>
        </p:spPr>
      </p:pic>
      <p:pic>
        <p:nvPicPr>
          <p:cNvPr id="45" name="图片 44"/>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490585" y="3657600"/>
            <a:ext cx="556260" cy="55626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4" name="Shape 0"/>
          <p:cNvSpPr/>
          <p:nvPr/>
        </p:nvSpPr>
        <p:spPr>
          <a:xfrm>
            <a:off x="0" y="0"/>
            <a:ext cx="12191400" cy="164160"/>
          </a:xfrm>
          <a:prstGeom prst="rect">
            <a:avLst/>
          </a:prstGeom>
          <a:solidFill>
            <a:srgbClr val="FF9900"/>
          </a:solidFill>
          <a:ln w="12700">
            <a:solidFill>
              <a:srgbClr val="FF99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ptos" panose="020B0004020202020204" pitchFamily="34" charset="0"/>
            </a:endParaRPr>
          </a:p>
        </p:txBody>
      </p:sp>
      <p:sp>
        <p:nvSpPr>
          <p:cNvPr id="45" name="Text 1"/>
          <p:cNvSpPr/>
          <p:nvPr/>
        </p:nvSpPr>
        <p:spPr>
          <a:xfrm>
            <a:off x="502920" y="320040"/>
            <a:ext cx="987516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500" b="1" u="none" strike="noStrike">
                <a:solidFill>
                  <a:srgbClr val="232F3E"/>
                </a:solidFill>
                <a:effectLst/>
                <a:uFillTx/>
                <a:latin typeface="Aptos" panose="020B0004020202020204" pitchFamily="34" charset="0"/>
                <a:ea typeface="Aptos Display"/>
              </a:rPr>
              <a:t>How Amazon’s Strategies Support Business Components</a:t>
            </a:r>
            <a:endParaRPr lang="en-US" sz="2500" b="0" u="none" strike="noStrike">
              <a:solidFill>
                <a:srgbClr val="000000"/>
              </a:solidFill>
              <a:effectLst/>
              <a:uFillTx/>
              <a:latin typeface="Aptos" panose="020B0004020202020204" pitchFamily="34" charset="0"/>
            </a:endParaRPr>
          </a:p>
        </p:txBody>
      </p:sp>
      <p:sp>
        <p:nvSpPr>
          <p:cNvPr id="46" name="Text 2"/>
          <p:cNvSpPr/>
          <p:nvPr/>
        </p:nvSpPr>
        <p:spPr>
          <a:xfrm>
            <a:off x="521280" y="749880"/>
            <a:ext cx="1005804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u="none" strike="noStrike" dirty="0">
                <a:solidFill>
                  <a:srgbClr val="5B6770"/>
                </a:solidFill>
                <a:effectLst/>
                <a:uFillTx/>
                <a:latin typeface="Aptos" panose="020B0004020202020204" pitchFamily="34" charset="0"/>
                <a:ea typeface="Aptos"/>
              </a:rPr>
              <a:t>Strategy → Amazon example → business component → critical point</a:t>
            </a:r>
            <a:endParaRPr lang="en-US" sz="1000" b="0" u="none" strike="noStrike" dirty="0">
              <a:solidFill>
                <a:srgbClr val="000000"/>
              </a:solidFill>
              <a:effectLst/>
              <a:uFillTx/>
              <a:latin typeface="Aptos" panose="020B0004020202020204" pitchFamily="34" charset="0"/>
            </a:endParaRPr>
          </a:p>
        </p:txBody>
      </p:sp>
      <p:sp>
        <p:nvSpPr>
          <p:cNvPr id="47" name="Text 3"/>
          <p:cNvSpPr/>
          <p:nvPr/>
        </p:nvSpPr>
        <p:spPr>
          <a:xfrm>
            <a:off x="10012680" y="356760"/>
            <a:ext cx="15998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B6770"/>
                </a:solidFill>
                <a:effectLst/>
                <a:uFillTx/>
                <a:latin typeface="Aptos" panose="020B0004020202020204" pitchFamily="34" charset="0"/>
              </a:rPr>
              <a:t>IOM302 | Amazon Case</a:t>
            </a:r>
            <a:endParaRPr lang="en-US" sz="850" b="0" u="none" strike="noStrike">
              <a:solidFill>
                <a:srgbClr val="000000"/>
              </a:solidFill>
              <a:effectLst/>
              <a:uFillTx/>
              <a:latin typeface="Aptos" panose="020B0004020202020204" pitchFamily="34" charset="0"/>
            </a:endParaRPr>
          </a:p>
        </p:txBody>
      </p:sp>
      <p:sp>
        <p:nvSpPr>
          <p:cNvPr id="48" name="Shape 4"/>
          <p:cNvSpPr/>
          <p:nvPr/>
        </p:nvSpPr>
        <p:spPr>
          <a:xfrm>
            <a:off x="502920" y="1143000"/>
            <a:ext cx="1919880" cy="411120"/>
          </a:xfrm>
          <a:prstGeom prst="rect">
            <a:avLst/>
          </a:prstGeom>
          <a:solidFill>
            <a:srgbClr val="FF9900"/>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ptos" panose="020B0004020202020204" pitchFamily="34" charset="0"/>
            </a:endParaRPr>
          </a:p>
        </p:txBody>
      </p:sp>
      <p:sp>
        <p:nvSpPr>
          <p:cNvPr id="49" name="Text 5"/>
          <p:cNvSpPr/>
          <p:nvPr/>
        </p:nvSpPr>
        <p:spPr>
          <a:xfrm>
            <a:off x="576000" y="1252800"/>
            <a:ext cx="1773720" cy="1641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algn="ctr" defTabSz="914400">
              <a:lnSpc>
                <a:spcPct val="100000"/>
              </a:lnSpc>
              <a:tabLst>
                <a:tab pos="0" algn="l"/>
              </a:tabLst>
            </a:pPr>
            <a:r>
              <a:rPr lang="en-US" sz="1200" b="1" u="none" strike="noStrike" dirty="0">
                <a:solidFill>
                  <a:srgbClr val="FFFFFF"/>
                </a:solidFill>
                <a:effectLst/>
                <a:uFillTx/>
                <a:latin typeface="Aptos" panose="020B0004020202020204" pitchFamily="34" charset="0"/>
                <a:ea typeface="Aptos"/>
              </a:rPr>
              <a:t>Strategy</a:t>
            </a:r>
            <a:endParaRPr lang="en-US" sz="1200" b="0" u="none" strike="noStrike" dirty="0">
              <a:solidFill>
                <a:srgbClr val="000000"/>
              </a:solidFill>
              <a:effectLst/>
              <a:uFillTx/>
              <a:latin typeface="Aptos" panose="020B0004020202020204" pitchFamily="34" charset="0"/>
            </a:endParaRPr>
          </a:p>
        </p:txBody>
      </p:sp>
      <p:sp>
        <p:nvSpPr>
          <p:cNvPr id="50" name="Shape 6"/>
          <p:cNvSpPr/>
          <p:nvPr/>
        </p:nvSpPr>
        <p:spPr>
          <a:xfrm>
            <a:off x="2423160" y="1143000"/>
            <a:ext cx="2742840" cy="411120"/>
          </a:xfrm>
          <a:prstGeom prst="rect">
            <a:avLst/>
          </a:prstGeom>
          <a:solidFill>
            <a:srgbClr val="232F3E"/>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ptos" panose="020B0004020202020204" pitchFamily="34" charset="0"/>
            </a:endParaRPr>
          </a:p>
        </p:txBody>
      </p:sp>
      <p:sp>
        <p:nvSpPr>
          <p:cNvPr id="51" name="Text 7"/>
          <p:cNvSpPr/>
          <p:nvPr/>
        </p:nvSpPr>
        <p:spPr>
          <a:xfrm>
            <a:off x="2496240" y="1252800"/>
            <a:ext cx="2596680" cy="1641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algn="ctr" defTabSz="914400">
              <a:lnSpc>
                <a:spcPct val="100000"/>
              </a:lnSpc>
              <a:tabLst>
                <a:tab pos="0" algn="l"/>
              </a:tabLst>
            </a:pPr>
            <a:r>
              <a:rPr lang="en-US" sz="1200" b="1" u="none" strike="noStrike" dirty="0">
                <a:solidFill>
                  <a:srgbClr val="FFFFFF"/>
                </a:solidFill>
                <a:effectLst/>
                <a:uFillTx/>
                <a:latin typeface="Aptos" panose="020B0004020202020204" pitchFamily="34" charset="0"/>
                <a:ea typeface="Aptos"/>
              </a:rPr>
              <a:t>Amazon Example</a:t>
            </a:r>
            <a:endParaRPr lang="en-US" sz="1200" b="0" u="none" strike="noStrike" dirty="0">
              <a:solidFill>
                <a:srgbClr val="000000"/>
              </a:solidFill>
              <a:effectLst/>
              <a:uFillTx/>
              <a:latin typeface="Aptos" panose="020B0004020202020204" pitchFamily="34" charset="0"/>
            </a:endParaRPr>
          </a:p>
        </p:txBody>
      </p:sp>
      <p:sp>
        <p:nvSpPr>
          <p:cNvPr id="52" name="Shape 8"/>
          <p:cNvSpPr/>
          <p:nvPr/>
        </p:nvSpPr>
        <p:spPr>
          <a:xfrm>
            <a:off x="5166360" y="1143000"/>
            <a:ext cx="2742840" cy="411120"/>
          </a:xfrm>
          <a:prstGeom prst="rect">
            <a:avLst/>
          </a:prstGeom>
          <a:solidFill>
            <a:srgbClr val="232F3E"/>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ptos" panose="020B0004020202020204" pitchFamily="34" charset="0"/>
            </a:endParaRPr>
          </a:p>
        </p:txBody>
      </p:sp>
      <p:sp>
        <p:nvSpPr>
          <p:cNvPr id="53" name="Text 9"/>
          <p:cNvSpPr/>
          <p:nvPr/>
        </p:nvSpPr>
        <p:spPr>
          <a:xfrm>
            <a:off x="5239440" y="1252800"/>
            <a:ext cx="2596680" cy="1641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algn="ctr" defTabSz="914400">
              <a:lnSpc>
                <a:spcPct val="100000"/>
              </a:lnSpc>
              <a:tabLst>
                <a:tab pos="0" algn="l"/>
              </a:tabLst>
            </a:pPr>
            <a:r>
              <a:rPr lang="en-US" sz="1200" b="1" u="none" strike="noStrike" dirty="0">
                <a:solidFill>
                  <a:srgbClr val="FFFFFF"/>
                </a:solidFill>
                <a:effectLst/>
                <a:uFillTx/>
                <a:latin typeface="Aptos" panose="020B0004020202020204" pitchFamily="34" charset="0"/>
                <a:ea typeface="Aptos"/>
              </a:rPr>
              <a:t>Business Component Supported</a:t>
            </a:r>
            <a:endParaRPr lang="en-US" sz="1200" b="0" u="none" strike="noStrike" dirty="0">
              <a:solidFill>
                <a:srgbClr val="000000"/>
              </a:solidFill>
              <a:effectLst/>
              <a:uFillTx/>
              <a:latin typeface="Aptos" panose="020B0004020202020204" pitchFamily="34" charset="0"/>
            </a:endParaRPr>
          </a:p>
        </p:txBody>
      </p:sp>
      <p:sp>
        <p:nvSpPr>
          <p:cNvPr id="54" name="Shape 10"/>
          <p:cNvSpPr/>
          <p:nvPr/>
        </p:nvSpPr>
        <p:spPr>
          <a:xfrm>
            <a:off x="7909560" y="1143000"/>
            <a:ext cx="3245760" cy="411120"/>
          </a:xfrm>
          <a:prstGeom prst="rect">
            <a:avLst/>
          </a:prstGeom>
          <a:solidFill>
            <a:srgbClr val="232F3E"/>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ptos" panose="020B0004020202020204" pitchFamily="34" charset="0"/>
            </a:endParaRPr>
          </a:p>
        </p:txBody>
      </p:sp>
      <p:sp>
        <p:nvSpPr>
          <p:cNvPr id="55" name="Text 11"/>
          <p:cNvSpPr/>
          <p:nvPr/>
        </p:nvSpPr>
        <p:spPr>
          <a:xfrm>
            <a:off x="7982640" y="1252800"/>
            <a:ext cx="3099600" cy="1641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algn="ctr" defTabSz="914400">
              <a:lnSpc>
                <a:spcPct val="100000"/>
              </a:lnSpc>
              <a:tabLst>
                <a:tab pos="0" algn="l"/>
              </a:tabLst>
            </a:pPr>
            <a:r>
              <a:rPr lang="en-US" sz="1200" b="1" u="none" strike="noStrike" dirty="0">
                <a:solidFill>
                  <a:srgbClr val="FFFFFF"/>
                </a:solidFill>
                <a:effectLst/>
                <a:uFillTx/>
                <a:latin typeface="Aptos" panose="020B0004020202020204" pitchFamily="34" charset="0"/>
                <a:ea typeface="Aptos"/>
              </a:rPr>
              <a:t>Critical Point</a:t>
            </a:r>
            <a:endParaRPr lang="en-US" sz="1200" b="0" u="none" strike="noStrike" dirty="0">
              <a:solidFill>
                <a:srgbClr val="000000"/>
              </a:solidFill>
              <a:effectLst/>
              <a:uFillTx/>
              <a:latin typeface="Aptos" panose="020B0004020202020204" pitchFamily="34" charset="0"/>
            </a:endParaRPr>
          </a:p>
        </p:txBody>
      </p:sp>
      <p:sp>
        <p:nvSpPr>
          <p:cNvPr id="56" name="Shape 12"/>
          <p:cNvSpPr/>
          <p:nvPr/>
        </p:nvSpPr>
        <p:spPr>
          <a:xfrm>
            <a:off x="502920" y="1554480"/>
            <a:ext cx="1919880" cy="767880"/>
          </a:xfrm>
          <a:prstGeom prst="rect">
            <a:avLst/>
          </a:prstGeom>
          <a:solidFill>
            <a:srgbClr val="FFF3E0"/>
          </a:solidFill>
          <a:ln w="7620">
            <a:solidFill>
              <a:srgbClr val="D9DE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ptos" panose="020B0004020202020204" pitchFamily="34" charset="0"/>
            </a:endParaRPr>
          </a:p>
        </p:txBody>
      </p:sp>
      <p:sp>
        <p:nvSpPr>
          <p:cNvPr id="57" name="Text 13"/>
          <p:cNvSpPr/>
          <p:nvPr/>
        </p:nvSpPr>
        <p:spPr>
          <a:xfrm>
            <a:off x="889690" y="1712440"/>
            <a:ext cx="1755360" cy="5572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00" b="1" u="none" strike="noStrike" dirty="0">
                <a:solidFill>
                  <a:srgbClr val="232F3E"/>
                </a:solidFill>
                <a:effectLst/>
                <a:uFillTx/>
                <a:latin typeface="Aptos" panose="020B0004020202020204" pitchFamily="34" charset="0"/>
                <a:ea typeface="Aptos"/>
              </a:rPr>
              <a:t>Customer intimacy</a:t>
            </a:r>
            <a:endParaRPr lang="en-US" sz="1200" b="0" u="none" strike="noStrike" dirty="0">
              <a:solidFill>
                <a:srgbClr val="000000"/>
              </a:solidFill>
              <a:effectLst/>
              <a:uFillTx/>
              <a:latin typeface="Aptos" panose="020B0004020202020204" pitchFamily="34" charset="0"/>
            </a:endParaRPr>
          </a:p>
        </p:txBody>
      </p:sp>
      <p:sp>
        <p:nvSpPr>
          <p:cNvPr id="58" name="Shape 14"/>
          <p:cNvSpPr/>
          <p:nvPr/>
        </p:nvSpPr>
        <p:spPr>
          <a:xfrm>
            <a:off x="2423160" y="1554480"/>
            <a:ext cx="2742840" cy="767880"/>
          </a:xfrm>
          <a:prstGeom prst="rect">
            <a:avLst/>
          </a:prstGeom>
          <a:solidFill>
            <a:srgbClr val="FFFFFF"/>
          </a:solidFill>
          <a:ln w="7620">
            <a:solidFill>
              <a:srgbClr val="D9DE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ptos" panose="020B0004020202020204" pitchFamily="34" charset="0"/>
            </a:endParaRPr>
          </a:p>
        </p:txBody>
      </p:sp>
      <p:sp>
        <p:nvSpPr>
          <p:cNvPr id="59" name="Text 15"/>
          <p:cNvSpPr/>
          <p:nvPr/>
        </p:nvSpPr>
        <p:spPr>
          <a:xfrm>
            <a:off x="2505600" y="1700640"/>
            <a:ext cx="2578320" cy="5572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00" b="0" u="none" strike="noStrike" dirty="0">
                <a:solidFill>
                  <a:srgbClr val="1F2933"/>
                </a:solidFill>
                <a:effectLst/>
                <a:uFillTx/>
                <a:latin typeface="Aptos" panose="020B0004020202020204" pitchFamily="34" charset="0"/>
                <a:ea typeface="Aptos"/>
              </a:rPr>
              <a:t>Personalization / Prime</a:t>
            </a:r>
            <a:endParaRPr lang="en-US" sz="1200" b="0" u="none" strike="noStrike" dirty="0">
              <a:solidFill>
                <a:srgbClr val="000000"/>
              </a:solidFill>
              <a:effectLst/>
              <a:uFillTx/>
              <a:latin typeface="Aptos" panose="020B0004020202020204" pitchFamily="34" charset="0"/>
            </a:endParaRPr>
          </a:p>
        </p:txBody>
      </p:sp>
      <p:sp>
        <p:nvSpPr>
          <p:cNvPr id="60" name="Shape 16"/>
          <p:cNvSpPr/>
          <p:nvPr/>
        </p:nvSpPr>
        <p:spPr>
          <a:xfrm>
            <a:off x="5166360" y="1554480"/>
            <a:ext cx="2742840" cy="767880"/>
          </a:xfrm>
          <a:prstGeom prst="rect">
            <a:avLst/>
          </a:prstGeom>
          <a:solidFill>
            <a:srgbClr val="FFFFFF"/>
          </a:solidFill>
          <a:ln w="7620">
            <a:solidFill>
              <a:srgbClr val="D9DE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ptos" panose="020B0004020202020204" pitchFamily="34" charset="0"/>
            </a:endParaRPr>
          </a:p>
        </p:txBody>
      </p:sp>
      <p:sp>
        <p:nvSpPr>
          <p:cNvPr id="61" name="Text 17"/>
          <p:cNvSpPr/>
          <p:nvPr/>
        </p:nvSpPr>
        <p:spPr>
          <a:xfrm>
            <a:off x="5248800" y="1700640"/>
            <a:ext cx="2578320" cy="5572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00" b="0" u="none" strike="noStrike" dirty="0">
                <a:solidFill>
                  <a:srgbClr val="1F2933"/>
                </a:solidFill>
                <a:effectLst/>
                <a:uFillTx/>
                <a:latin typeface="Aptos" panose="020B0004020202020204" pitchFamily="34" charset="0"/>
                <a:ea typeface="Aptos"/>
              </a:rPr>
              <a:t>Value proposition / customer relationship</a:t>
            </a:r>
            <a:endParaRPr lang="en-US" sz="1200" b="0" u="none" strike="noStrike" dirty="0">
              <a:solidFill>
                <a:srgbClr val="000000"/>
              </a:solidFill>
              <a:effectLst/>
              <a:uFillTx/>
              <a:latin typeface="Aptos" panose="020B0004020202020204" pitchFamily="34" charset="0"/>
            </a:endParaRPr>
          </a:p>
        </p:txBody>
      </p:sp>
      <p:sp>
        <p:nvSpPr>
          <p:cNvPr id="62" name="Shape 18"/>
          <p:cNvSpPr/>
          <p:nvPr/>
        </p:nvSpPr>
        <p:spPr>
          <a:xfrm>
            <a:off x="7909560" y="1554480"/>
            <a:ext cx="3245760" cy="767880"/>
          </a:xfrm>
          <a:prstGeom prst="rect">
            <a:avLst/>
          </a:prstGeom>
          <a:solidFill>
            <a:srgbClr val="FFFFFF"/>
          </a:solidFill>
          <a:ln w="7620">
            <a:solidFill>
              <a:srgbClr val="D9DE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ptos" panose="020B0004020202020204" pitchFamily="34" charset="0"/>
            </a:endParaRPr>
          </a:p>
        </p:txBody>
      </p:sp>
      <p:sp>
        <p:nvSpPr>
          <p:cNvPr id="63" name="Text 19"/>
          <p:cNvSpPr/>
          <p:nvPr/>
        </p:nvSpPr>
        <p:spPr>
          <a:xfrm>
            <a:off x="7992000" y="1700640"/>
            <a:ext cx="3081240" cy="5572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00" b="0" u="none" strike="noStrike" dirty="0">
                <a:solidFill>
                  <a:srgbClr val="1F2933"/>
                </a:solidFill>
                <a:effectLst/>
                <a:uFillTx/>
                <a:latin typeface="Aptos" panose="020B0004020202020204" pitchFamily="34" charset="0"/>
                <a:ea typeface="Aptos"/>
              </a:rPr>
              <a:t>Improves convenience, but depends on customer data</a:t>
            </a:r>
            <a:endParaRPr lang="en-US" sz="1200" b="0" u="none" strike="noStrike" dirty="0">
              <a:solidFill>
                <a:srgbClr val="000000"/>
              </a:solidFill>
              <a:effectLst/>
              <a:uFillTx/>
              <a:latin typeface="Aptos" panose="020B0004020202020204" pitchFamily="34" charset="0"/>
            </a:endParaRPr>
          </a:p>
        </p:txBody>
      </p:sp>
      <p:sp>
        <p:nvSpPr>
          <p:cNvPr id="64" name="Shape 20"/>
          <p:cNvSpPr/>
          <p:nvPr/>
        </p:nvSpPr>
        <p:spPr>
          <a:xfrm>
            <a:off x="502920" y="2322720"/>
            <a:ext cx="1919880" cy="767880"/>
          </a:xfrm>
          <a:prstGeom prst="rect">
            <a:avLst/>
          </a:prstGeom>
          <a:solidFill>
            <a:srgbClr val="FFF8ED"/>
          </a:solidFill>
          <a:ln w="7620">
            <a:solidFill>
              <a:srgbClr val="D9DE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ptos" panose="020B0004020202020204" pitchFamily="34" charset="0"/>
            </a:endParaRPr>
          </a:p>
        </p:txBody>
      </p:sp>
      <p:sp>
        <p:nvSpPr>
          <p:cNvPr id="65" name="Text 21"/>
          <p:cNvSpPr/>
          <p:nvPr/>
        </p:nvSpPr>
        <p:spPr>
          <a:xfrm>
            <a:off x="889690" y="2490620"/>
            <a:ext cx="1755360" cy="5572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00" b="1" u="none" strike="noStrike" dirty="0">
                <a:solidFill>
                  <a:srgbClr val="232F3E"/>
                </a:solidFill>
                <a:effectLst/>
                <a:uFillTx/>
                <a:latin typeface="Aptos" panose="020B0004020202020204" pitchFamily="34" charset="0"/>
                <a:ea typeface="Aptos"/>
              </a:rPr>
              <a:t>Long-tail marketplace</a:t>
            </a:r>
            <a:endParaRPr lang="en-US" sz="1200" b="0" u="none" strike="noStrike" dirty="0">
              <a:solidFill>
                <a:srgbClr val="000000"/>
              </a:solidFill>
              <a:effectLst/>
              <a:uFillTx/>
              <a:latin typeface="Aptos" panose="020B0004020202020204" pitchFamily="34" charset="0"/>
            </a:endParaRPr>
          </a:p>
        </p:txBody>
      </p:sp>
      <p:sp>
        <p:nvSpPr>
          <p:cNvPr id="66" name="Shape 22"/>
          <p:cNvSpPr/>
          <p:nvPr/>
        </p:nvSpPr>
        <p:spPr>
          <a:xfrm>
            <a:off x="2423160" y="2322720"/>
            <a:ext cx="2742840" cy="767880"/>
          </a:xfrm>
          <a:prstGeom prst="rect">
            <a:avLst/>
          </a:prstGeom>
          <a:solidFill>
            <a:srgbClr val="F5F7FA"/>
          </a:solidFill>
          <a:ln w="7620">
            <a:solidFill>
              <a:srgbClr val="D9DE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ptos" panose="020B0004020202020204" pitchFamily="34" charset="0"/>
            </a:endParaRPr>
          </a:p>
        </p:txBody>
      </p:sp>
      <p:sp>
        <p:nvSpPr>
          <p:cNvPr id="67" name="Text 23"/>
          <p:cNvSpPr/>
          <p:nvPr/>
        </p:nvSpPr>
        <p:spPr>
          <a:xfrm>
            <a:off x="2505600" y="2468880"/>
            <a:ext cx="2578320" cy="5572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00" b="0" u="none" strike="noStrike" dirty="0">
                <a:solidFill>
                  <a:srgbClr val="1F2933"/>
                </a:solidFill>
                <a:effectLst/>
                <a:uFillTx/>
                <a:latin typeface="Aptos" panose="020B0004020202020204" pitchFamily="34" charset="0"/>
                <a:ea typeface="Aptos"/>
              </a:rPr>
              <a:t>Third-party sellers offering diverse products</a:t>
            </a:r>
            <a:endParaRPr lang="en-US" sz="1200" b="0" u="none" strike="noStrike" dirty="0">
              <a:solidFill>
                <a:srgbClr val="000000"/>
              </a:solidFill>
              <a:effectLst/>
              <a:uFillTx/>
              <a:latin typeface="Aptos" panose="020B0004020202020204" pitchFamily="34" charset="0"/>
            </a:endParaRPr>
          </a:p>
        </p:txBody>
      </p:sp>
      <p:sp>
        <p:nvSpPr>
          <p:cNvPr id="68" name="Shape 24"/>
          <p:cNvSpPr/>
          <p:nvPr/>
        </p:nvSpPr>
        <p:spPr>
          <a:xfrm>
            <a:off x="5166360" y="2322720"/>
            <a:ext cx="2742840" cy="767880"/>
          </a:xfrm>
          <a:prstGeom prst="rect">
            <a:avLst/>
          </a:prstGeom>
          <a:solidFill>
            <a:srgbClr val="F5F7FA"/>
          </a:solidFill>
          <a:ln w="7620">
            <a:solidFill>
              <a:srgbClr val="D9DE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ptos" panose="020B0004020202020204" pitchFamily="34" charset="0"/>
            </a:endParaRPr>
          </a:p>
        </p:txBody>
      </p:sp>
      <p:sp>
        <p:nvSpPr>
          <p:cNvPr id="69" name="Text 25"/>
          <p:cNvSpPr/>
          <p:nvPr/>
        </p:nvSpPr>
        <p:spPr>
          <a:xfrm>
            <a:off x="5248800" y="2468880"/>
            <a:ext cx="2578320" cy="5572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00" b="0" u="none" strike="noStrike" dirty="0">
                <a:solidFill>
                  <a:srgbClr val="1F2933"/>
                </a:solidFill>
                <a:effectLst/>
                <a:uFillTx/>
                <a:latin typeface="Aptos" panose="020B0004020202020204" pitchFamily="34" charset="0"/>
                <a:ea typeface="Aptos"/>
              </a:rPr>
              <a:t>Market opportunity / customer segments</a:t>
            </a:r>
            <a:endParaRPr lang="en-US" sz="1200" b="0" u="none" strike="noStrike" dirty="0">
              <a:solidFill>
                <a:srgbClr val="000000"/>
              </a:solidFill>
              <a:effectLst/>
              <a:uFillTx/>
              <a:latin typeface="Aptos" panose="020B0004020202020204" pitchFamily="34" charset="0"/>
            </a:endParaRPr>
          </a:p>
        </p:txBody>
      </p:sp>
      <p:sp>
        <p:nvSpPr>
          <p:cNvPr id="70" name="Shape 26"/>
          <p:cNvSpPr/>
          <p:nvPr/>
        </p:nvSpPr>
        <p:spPr>
          <a:xfrm>
            <a:off x="7909560" y="2322720"/>
            <a:ext cx="3245760" cy="767880"/>
          </a:xfrm>
          <a:prstGeom prst="rect">
            <a:avLst/>
          </a:prstGeom>
          <a:solidFill>
            <a:srgbClr val="F5F7FA"/>
          </a:solidFill>
          <a:ln w="7620">
            <a:solidFill>
              <a:srgbClr val="D9DE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ptos" panose="020B0004020202020204" pitchFamily="34" charset="0"/>
            </a:endParaRPr>
          </a:p>
        </p:txBody>
      </p:sp>
      <p:sp>
        <p:nvSpPr>
          <p:cNvPr id="71" name="Text 27"/>
          <p:cNvSpPr/>
          <p:nvPr/>
        </p:nvSpPr>
        <p:spPr>
          <a:xfrm>
            <a:off x="7992000" y="2468880"/>
            <a:ext cx="3081240" cy="5572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00" b="0" u="none" strike="noStrike" dirty="0">
                <a:solidFill>
                  <a:srgbClr val="1F2933"/>
                </a:solidFill>
                <a:effectLst/>
                <a:uFillTx/>
                <a:latin typeface="Aptos" panose="020B0004020202020204" pitchFamily="34" charset="0"/>
                <a:ea typeface="Aptos"/>
              </a:rPr>
              <a:t>Expands choice, but quality control becomes harder</a:t>
            </a:r>
            <a:endParaRPr lang="en-US" sz="1200" b="0" u="none" strike="noStrike" dirty="0">
              <a:solidFill>
                <a:srgbClr val="000000"/>
              </a:solidFill>
              <a:effectLst/>
              <a:uFillTx/>
              <a:latin typeface="Aptos" panose="020B0004020202020204" pitchFamily="34" charset="0"/>
            </a:endParaRPr>
          </a:p>
        </p:txBody>
      </p:sp>
      <p:sp>
        <p:nvSpPr>
          <p:cNvPr id="72" name="Shape 28"/>
          <p:cNvSpPr/>
          <p:nvPr/>
        </p:nvSpPr>
        <p:spPr>
          <a:xfrm>
            <a:off x="502920" y="3090600"/>
            <a:ext cx="1919880" cy="767880"/>
          </a:xfrm>
          <a:prstGeom prst="rect">
            <a:avLst/>
          </a:prstGeom>
          <a:solidFill>
            <a:srgbClr val="FFF3E0"/>
          </a:solidFill>
          <a:ln w="7620">
            <a:solidFill>
              <a:srgbClr val="D9DE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ptos" panose="020B0004020202020204" pitchFamily="34" charset="0"/>
            </a:endParaRPr>
          </a:p>
        </p:txBody>
      </p:sp>
      <p:sp>
        <p:nvSpPr>
          <p:cNvPr id="73" name="Text 29"/>
          <p:cNvSpPr/>
          <p:nvPr/>
        </p:nvSpPr>
        <p:spPr>
          <a:xfrm>
            <a:off x="889690" y="3227120"/>
            <a:ext cx="1755360" cy="5572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00" b="1" u="none" strike="noStrike" dirty="0">
                <a:solidFill>
                  <a:srgbClr val="232F3E"/>
                </a:solidFill>
                <a:effectLst/>
                <a:uFillTx/>
                <a:latin typeface="Aptos" panose="020B0004020202020204" pitchFamily="34" charset="0"/>
                <a:ea typeface="Aptos"/>
              </a:rPr>
              <a:t>Fulfilment advantage</a:t>
            </a:r>
            <a:endParaRPr lang="en-US" sz="1200" b="0" u="none" strike="noStrike" dirty="0">
              <a:solidFill>
                <a:srgbClr val="000000"/>
              </a:solidFill>
              <a:effectLst/>
              <a:uFillTx/>
              <a:latin typeface="Aptos" panose="020B0004020202020204" pitchFamily="34" charset="0"/>
            </a:endParaRPr>
          </a:p>
        </p:txBody>
      </p:sp>
      <p:sp>
        <p:nvSpPr>
          <p:cNvPr id="74" name="Shape 30"/>
          <p:cNvSpPr/>
          <p:nvPr/>
        </p:nvSpPr>
        <p:spPr>
          <a:xfrm>
            <a:off x="2423160" y="3090600"/>
            <a:ext cx="2742840" cy="767880"/>
          </a:xfrm>
          <a:prstGeom prst="rect">
            <a:avLst/>
          </a:prstGeom>
          <a:solidFill>
            <a:srgbClr val="FFFFFF"/>
          </a:solidFill>
          <a:ln w="7620">
            <a:solidFill>
              <a:srgbClr val="D9DE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ptos" panose="020B0004020202020204" pitchFamily="34" charset="0"/>
            </a:endParaRPr>
          </a:p>
        </p:txBody>
      </p:sp>
      <p:sp>
        <p:nvSpPr>
          <p:cNvPr id="75" name="Text 31"/>
          <p:cNvSpPr/>
          <p:nvPr/>
        </p:nvSpPr>
        <p:spPr>
          <a:xfrm>
            <a:off x="2505600" y="3237120"/>
            <a:ext cx="2578320" cy="5572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00" b="0" u="none" strike="noStrike" dirty="0">
                <a:solidFill>
                  <a:srgbClr val="1F2933"/>
                </a:solidFill>
                <a:effectLst/>
                <a:uFillTx/>
                <a:latin typeface="Aptos" panose="020B0004020202020204" pitchFamily="34" charset="0"/>
                <a:ea typeface="Aptos"/>
              </a:rPr>
              <a:t>FBA: storage, picking, packing, shipping, returns</a:t>
            </a:r>
            <a:endParaRPr lang="en-US" sz="1200" b="0" u="none" strike="noStrike" dirty="0">
              <a:solidFill>
                <a:srgbClr val="000000"/>
              </a:solidFill>
              <a:effectLst/>
              <a:uFillTx/>
              <a:latin typeface="Aptos" panose="020B0004020202020204" pitchFamily="34" charset="0"/>
            </a:endParaRPr>
          </a:p>
        </p:txBody>
      </p:sp>
      <p:sp>
        <p:nvSpPr>
          <p:cNvPr id="76" name="Shape 32"/>
          <p:cNvSpPr/>
          <p:nvPr/>
        </p:nvSpPr>
        <p:spPr>
          <a:xfrm>
            <a:off x="5166360" y="3090600"/>
            <a:ext cx="2742840" cy="767880"/>
          </a:xfrm>
          <a:prstGeom prst="rect">
            <a:avLst/>
          </a:prstGeom>
          <a:solidFill>
            <a:srgbClr val="FFFFFF"/>
          </a:solidFill>
          <a:ln w="7620">
            <a:solidFill>
              <a:srgbClr val="D9DE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ptos" panose="020B0004020202020204" pitchFamily="34" charset="0"/>
            </a:endParaRPr>
          </a:p>
        </p:txBody>
      </p:sp>
      <p:sp>
        <p:nvSpPr>
          <p:cNvPr id="77" name="Text 33"/>
          <p:cNvSpPr/>
          <p:nvPr/>
        </p:nvSpPr>
        <p:spPr>
          <a:xfrm>
            <a:off x="5248800" y="3237120"/>
            <a:ext cx="2578320" cy="5572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00" b="0" u="none" strike="noStrike" dirty="0">
                <a:solidFill>
                  <a:srgbClr val="1F2933"/>
                </a:solidFill>
                <a:effectLst/>
                <a:uFillTx/>
                <a:latin typeface="Aptos" panose="020B0004020202020204" pitchFamily="34" charset="0"/>
                <a:ea typeface="Aptos"/>
              </a:rPr>
              <a:t>Competitive advantage / logistics</a:t>
            </a:r>
            <a:endParaRPr lang="en-US" sz="1200" b="0" u="none" strike="noStrike" dirty="0">
              <a:solidFill>
                <a:srgbClr val="000000"/>
              </a:solidFill>
              <a:effectLst/>
              <a:uFillTx/>
              <a:latin typeface="Aptos" panose="020B0004020202020204" pitchFamily="34" charset="0"/>
            </a:endParaRPr>
          </a:p>
        </p:txBody>
      </p:sp>
      <p:sp>
        <p:nvSpPr>
          <p:cNvPr id="78" name="Shape 34"/>
          <p:cNvSpPr/>
          <p:nvPr/>
        </p:nvSpPr>
        <p:spPr>
          <a:xfrm>
            <a:off x="7909560" y="3090600"/>
            <a:ext cx="3245760" cy="767880"/>
          </a:xfrm>
          <a:prstGeom prst="rect">
            <a:avLst/>
          </a:prstGeom>
          <a:solidFill>
            <a:srgbClr val="FFFFFF"/>
          </a:solidFill>
          <a:ln w="7620">
            <a:solidFill>
              <a:srgbClr val="D9DE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ptos" panose="020B0004020202020204" pitchFamily="34" charset="0"/>
            </a:endParaRPr>
          </a:p>
        </p:txBody>
      </p:sp>
      <p:sp>
        <p:nvSpPr>
          <p:cNvPr id="79" name="Text 35"/>
          <p:cNvSpPr/>
          <p:nvPr/>
        </p:nvSpPr>
        <p:spPr>
          <a:xfrm>
            <a:off x="7992000" y="3237120"/>
            <a:ext cx="3081240" cy="5572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00" b="0" u="none" strike="noStrike" dirty="0">
                <a:solidFill>
                  <a:srgbClr val="1F2933"/>
                </a:solidFill>
                <a:effectLst/>
                <a:uFillTx/>
                <a:latin typeface="Aptos" panose="020B0004020202020204" pitchFamily="34" charset="0"/>
                <a:ea typeface="Aptos"/>
              </a:rPr>
              <a:t>Improves reliability, but creates high operating cost</a:t>
            </a:r>
            <a:endParaRPr lang="en-US" sz="1200" b="0" u="none" strike="noStrike" dirty="0">
              <a:solidFill>
                <a:srgbClr val="000000"/>
              </a:solidFill>
              <a:effectLst/>
              <a:uFillTx/>
              <a:latin typeface="Aptos" panose="020B0004020202020204" pitchFamily="34" charset="0"/>
            </a:endParaRPr>
          </a:p>
        </p:txBody>
      </p:sp>
      <p:sp>
        <p:nvSpPr>
          <p:cNvPr id="80" name="Shape 36"/>
          <p:cNvSpPr/>
          <p:nvPr/>
        </p:nvSpPr>
        <p:spPr>
          <a:xfrm>
            <a:off x="502920" y="3858840"/>
            <a:ext cx="1919880" cy="767880"/>
          </a:xfrm>
          <a:prstGeom prst="rect">
            <a:avLst/>
          </a:prstGeom>
          <a:solidFill>
            <a:srgbClr val="FFF8ED"/>
          </a:solidFill>
          <a:ln w="7620">
            <a:solidFill>
              <a:srgbClr val="D9DE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ptos" panose="020B0004020202020204" pitchFamily="34" charset="0"/>
            </a:endParaRPr>
          </a:p>
        </p:txBody>
      </p:sp>
      <p:sp>
        <p:nvSpPr>
          <p:cNvPr id="81" name="Text 37"/>
          <p:cNvSpPr/>
          <p:nvPr/>
        </p:nvSpPr>
        <p:spPr>
          <a:xfrm>
            <a:off x="889690" y="4011930"/>
            <a:ext cx="1755360" cy="5572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00" b="1" u="none" strike="noStrike" dirty="0">
                <a:solidFill>
                  <a:srgbClr val="232F3E"/>
                </a:solidFill>
                <a:effectLst/>
                <a:uFillTx/>
                <a:latin typeface="Aptos" panose="020B0004020202020204" pitchFamily="34" charset="0"/>
                <a:ea typeface="Aptos"/>
              </a:rPr>
              <a:t>Information richness</a:t>
            </a:r>
            <a:endParaRPr lang="en-US" sz="1200" b="0" u="none" strike="noStrike" dirty="0">
              <a:solidFill>
                <a:srgbClr val="000000"/>
              </a:solidFill>
              <a:effectLst/>
              <a:uFillTx/>
              <a:latin typeface="Aptos" panose="020B0004020202020204" pitchFamily="34" charset="0"/>
            </a:endParaRPr>
          </a:p>
        </p:txBody>
      </p:sp>
      <p:sp>
        <p:nvSpPr>
          <p:cNvPr id="82" name="Shape 38"/>
          <p:cNvSpPr/>
          <p:nvPr/>
        </p:nvSpPr>
        <p:spPr>
          <a:xfrm>
            <a:off x="2423160" y="3858840"/>
            <a:ext cx="2742840" cy="767880"/>
          </a:xfrm>
          <a:prstGeom prst="rect">
            <a:avLst/>
          </a:prstGeom>
          <a:solidFill>
            <a:srgbClr val="F5F7FA"/>
          </a:solidFill>
          <a:ln w="7620">
            <a:solidFill>
              <a:srgbClr val="D9DE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ptos" panose="020B0004020202020204" pitchFamily="34" charset="0"/>
            </a:endParaRPr>
          </a:p>
        </p:txBody>
      </p:sp>
      <p:sp>
        <p:nvSpPr>
          <p:cNvPr id="83" name="Text 39"/>
          <p:cNvSpPr/>
          <p:nvPr/>
        </p:nvSpPr>
        <p:spPr>
          <a:xfrm>
            <a:off x="2505600" y="4005000"/>
            <a:ext cx="2578320" cy="5572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00" b="0" u="none" strike="noStrike" dirty="0">
                <a:solidFill>
                  <a:srgbClr val="1F2933"/>
                </a:solidFill>
                <a:effectLst/>
                <a:uFillTx/>
                <a:latin typeface="Aptos" panose="020B0004020202020204" pitchFamily="34" charset="0"/>
                <a:ea typeface="Aptos"/>
              </a:rPr>
              <a:t>Reviews, ratings, product information</a:t>
            </a:r>
            <a:endParaRPr lang="en-US" sz="1200" b="0" u="none" strike="noStrike" dirty="0">
              <a:solidFill>
                <a:srgbClr val="000000"/>
              </a:solidFill>
              <a:effectLst/>
              <a:uFillTx/>
              <a:latin typeface="Aptos" panose="020B0004020202020204" pitchFamily="34" charset="0"/>
            </a:endParaRPr>
          </a:p>
        </p:txBody>
      </p:sp>
      <p:sp>
        <p:nvSpPr>
          <p:cNvPr id="84" name="Shape 40"/>
          <p:cNvSpPr/>
          <p:nvPr/>
        </p:nvSpPr>
        <p:spPr>
          <a:xfrm>
            <a:off x="5166360" y="3858840"/>
            <a:ext cx="2742840" cy="767880"/>
          </a:xfrm>
          <a:prstGeom prst="rect">
            <a:avLst/>
          </a:prstGeom>
          <a:solidFill>
            <a:srgbClr val="F5F7FA"/>
          </a:solidFill>
          <a:ln w="7620">
            <a:solidFill>
              <a:srgbClr val="D9DE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ptos" panose="020B0004020202020204" pitchFamily="34" charset="0"/>
            </a:endParaRPr>
          </a:p>
        </p:txBody>
      </p:sp>
      <p:sp>
        <p:nvSpPr>
          <p:cNvPr id="85" name="Text 41"/>
          <p:cNvSpPr/>
          <p:nvPr/>
        </p:nvSpPr>
        <p:spPr>
          <a:xfrm>
            <a:off x="5248800" y="4005000"/>
            <a:ext cx="2578320" cy="5572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00" b="0" u="none" strike="noStrike" dirty="0">
                <a:solidFill>
                  <a:srgbClr val="1F2933"/>
                </a:solidFill>
                <a:effectLst/>
                <a:uFillTx/>
                <a:latin typeface="Aptos" panose="020B0004020202020204" pitchFamily="34" charset="0"/>
                <a:ea typeface="Aptos"/>
              </a:rPr>
              <a:t>Customer decision-making</a:t>
            </a:r>
            <a:endParaRPr lang="en-US" sz="1200" b="0" u="none" strike="noStrike" dirty="0">
              <a:solidFill>
                <a:srgbClr val="000000"/>
              </a:solidFill>
              <a:effectLst/>
              <a:uFillTx/>
              <a:latin typeface="Aptos" panose="020B0004020202020204" pitchFamily="34" charset="0"/>
            </a:endParaRPr>
          </a:p>
        </p:txBody>
      </p:sp>
      <p:sp>
        <p:nvSpPr>
          <p:cNvPr id="86" name="Shape 42"/>
          <p:cNvSpPr/>
          <p:nvPr/>
        </p:nvSpPr>
        <p:spPr>
          <a:xfrm>
            <a:off x="7909560" y="3858840"/>
            <a:ext cx="3245760" cy="767880"/>
          </a:xfrm>
          <a:prstGeom prst="rect">
            <a:avLst/>
          </a:prstGeom>
          <a:solidFill>
            <a:srgbClr val="F5F7FA"/>
          </a:solidFill>
          <a:ln w="7620">
            <a:solidFill>
              <a:srgbClr val="D9DE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ptos" panose="020B0004020202020204" pitchFamily="34" charset="0"/>
            </a:endParaRPr>
          </a:p>
        </p:txBody>
      </p:sp>
      <p:sp>
        <p:nvSpPr>
          <p:cNvPr id="87" name="Text 43"/>
          <p:cNvSpPr/>
          <p:nvPr/>
        </p:nvSpPr>
        <p:spPr>
          <a:xfrm>
            <a:off x="7992000" y="4005000"/>
            <a:ext cx="3081240" cy="5572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00" b="0" u="none" strike="noStrike" dirty="0">
                <a:solidFill>
                  <a:srgbClr val="1F2933"/>
                </a:solidFill>
                <a:effectLst/>
                <a:uFillTx/>
                <a:latin typeface="Aptos" panose="020B0004020202020204" pitchFamily="34" charset="0"/>
                <a:ea typeface="Aptos"/>
              </a:rPr>
              <a:t>Helps comparison, but trust governance is needed</a:t>
            </a:r>
            <a:endParaRPr lang="en-US" sz="1200" b="0" u="none" strike="noStrike" dirty="0">
              <a:solidFill>
                <a:srgbClr val="000000"/>
              </a:solidFill>
              <a:effectLst/>
              <a:uFillTx/>
              <a:latin typeface="Aptos" panose="020B0004020202020204" pitchFamily="34" charset="0"/>
            </a:endParaRPr>
          </a:p>
        </p:txBody>
      </p:sp>
      <p:sp>
        <p:nvSpPr>
          <p:cNvPr id="88" name="Shape 44"/>
          <p:cNvSpPr/>
          <p:nvPr/>
        </p:nvSpPr>
        <p:spPr>
          <a:xfrm>
            <a:off x="502920" y="4626720"/>
            <a:ext cx="1919880" cy="767880"/>
          </a:xfrm>
          <a:prstGeom prst="rect">
            <a:avLst/>
          </a:prstGeom>
          <a:solidFill>
            <a:srgbClr val="FFF3E0"/>
          </a:solidFill>
          <a:ln w="7620">
            <a:solidFill>
              <a:srgbClr val="D9DE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ptos" panose="020B0004020202020204" pitchFamily="34" charset="0"/>
            </a:endParaRPr>
          </a:p>
        </p:txBody>
      </p:sp>
      <p:sp>
        <p:nvSpPr>
          <p:cNvPr id="89" name="Text 45"/>
          <p:cNvSpPr/>
          <p:nvPr/>
        </p:nvSpPr>
        <p:spPr>
          <a:xfrm>
            <a:off x="889690" y="4741740"/>
            <a:ext cx="1755360" cy="5572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00" b="1" u="none" strike="noStrike" dirty="0">
                <a:solidFill>
                  <a:srgbClr val="232F3E"/>
                </a:solidFill>
                <a:effectLst/>
                <a:uFillTx/>
                <a:latin typeface="Aptos" panose="020B0004020202020204" pitchFamily="34" charset="0"/>
                <a:ea typeface="Aptos"/>
              </a:rPr>
              <a:t>Hybrid revenue model</a:t>
            </a:r>
            <a:endParaRPr lang="en-US" sz="1200" b="0" u="none" strike="noStrike" dirty="0">
              <a:solidFill>
                <a:srgbClr val="000000"/>
              </a:solidFill>
              <a:effectLst/>
              <a:uFillTx/>
              <a:latin typeface="Aptos" panose="020B0004020202020204" pitchFamily="34" charset="0"/>
            </a:endParaRPr>
          </a:p>
        </p:txBody>
      </p:sp>
      <p:sp>
        <p:nvSpPr>
          <p:cNvPr id="90" name="Shape 46"/>
          <p:cNvSpPr/>
          <p:nvPr/>
        </p:nvSpPr>
        <p:spPr>
          <a:xfrm>
            <a:off x="2423160" y="4626720"/>
            <a:ext cx="2742840" cy="767880"/>
          </a:xfrm>
          <a:prstGeom prst="rect">
            <a:avLst/>
          </a:prstGeom>
          <a:solidFill>
            <a:srgbClr val="FFFFFF"/>
          </a:solidFill>
          <a:ln w="7620">
            <a:solidFill>
              <a:srgbClr val="D9DE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ptos" panose="020B0004020202020204" pitchFamily="34" charset="0"/>
            </a:endParaRPr>
          </a:p>
        </p:txBody>
      </p:sp>
      <p:sp>
        <p:nvSpPr>
          <p:cNvPr id="91" name="Text 47"/>
          <p:cNvSpPr/>
          <p:nvPr/>
        </p:nvSpPr>
        <p:spPr>
          <a:xfrm>
            <a:off x="2505600" y="4773240"/>
            <a:ext cx="2578320" cy="5572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00" b="0" u="none" strike="noStrike" dirty="0">
                <a:solidFill>
                  <a:srgbClr val="1F2933"/>
                </a:solidFill>
                <a:effectLst/>
                <a:uFillTx/>
                <a:latin typeface="Aptos" panose="020B0004020202020204" pitchFamily="34" charset="0"/>
                <a:ea typeface="Aptos"/>
              </a:rPr>
              <a:t>Product sales, seller fees, ads, Prime membership</a:t>
            </a:r>
            <a:endParaRPr lang="en-US" sz="1200" b="0" u="none" strike="noStrike" dirty="0">
              <a:solidFill>
                <a:srgbClr val="000000"/>
              </a:solidFill>
              <a:effectLst/>
              <a:uFillTx/>
              <a:latin typeface="Aptos" panose="020B0004020202020204" pitchFamily="34" charset="0"/>
            </a:endParaRPr>
          </a:p>
        </p:txBody>
      </p:sp>
      <p:sp>
        <p:nvSpPr>
          <p:cNvPr id="92" name="Shape 48"/>
          <p:cNvSpPr/>
          <p:nvPr/>
        </p:nvSpPr>
        <p:spPr>
          <a:xfrm>
            <a:off x="5166360" y="4626720"/>
            <a:ext cx="2742840" cy="767880"/>
          </a:xfrm>
          <a:prstGeom prst="rect">
            <a:avLst/>
          </a:prstGeom>
          <a:solidFill>
            <a:srgbClr val="FFFFFF"/>
          </a:solidFill>
          <a:ln w="7620">
            <a:solidFill>
              <a:srgbClr val="D9DE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ptos" panose="020B0004020202020204" pitchFamily="34" charset="0"/>
            </a:endParaRPr>
          </a:p>
        </p:txBody>
      </p:sp>
      <p:sp>
        <p:nvSpPr>
          <p:cNvPr id="93" name="Text 49"/>
          <p:cNvSpPr/>
          <p:nvPr/>
        </p:nvSpPr>
        <p:spPr>
          <a:xfrm>
            <a:off x="5248800" y="4773240"/>
            <a:ext cx="2578320" cy="5572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00" b="0" u="none" strike="noStrike" dirty="0">
                <a:solidFill>
                  <a:srgbClr val="1F2933"/>
                </a:solidFill>
                <a:effectLst/>
                <a:uFillTx/>
                <a:latin typeface="Aptos" panose="020B0004020202020204" pitchFamily="34" charset="0"/>
                <a:ea typeface="Aptos"/>
              </a:rPr>
              <a:t>Revenue model</a:t>
            </a:r>
            <a:endParaRPr lang="en-US" sz="1200" b="0" u="none" strike="noStrike" dirty="0">
              <a:solidFill>
                <a:srgbClr val="000000"/>
              </a:solidFill>
              <a:effectLst/>
              <a:uFillTx/>
              <a:latin typeface="Aptos" panose="020B0004020202020204" pitchFamily="34" charset="0"/>
            </a:endParaRPr>
          </a:p>
        </p:txBody>
      </p:sp>
      <p:sp>
        <p:nvSpPr>
          <p:cNvPr id="94" name="Shape 50"/>
          <p:cNvSpPr/>
          <p:nvPr/>
        </p:nvSpPr>
        <p:spPr>
          <a:xfrm>
            <a:off x="7909560" y="4626720"/>
            <a:ext cx="3245760" cy="767880"/>
          </a:xfrm>
          <a:prstGeom prst="rect">
            <a:avLst/>
          </a:prstGeom>
          <a:solidFill>
            <a:srgbClr val="FFFFFF"/>
          </a:solidFill>
          <a:ln w="7620">
            <a:solidFill>
              <a:srgbClr val="D9DE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ptos" panose="020B0004020202020204" pitchFamily="34" charset="0"/>
            </a:endParaRPr>
          </a:p>
        </p:txBody>
      </p:sp>
      <p:sp>
        <p:nvSpPr>
          <p:cNvPr id="95" name="Text 51"/>
          <p:cNvSpPr/>
          <p:nvPr/>
        </p:nvSpPr>
        <p:spPr>
          <a:xfrm>
            <a:off x="7992000" y="4773240"/>
            <a:ext cx="3081240" cy="5572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00" b="0" u="none" strike="noStrike" dirty="0">
                <a:solidFill>
                  <a:srgbClr val="1F2933"/>
                </a:solidFill>
                <a:effectLst/>
                <a:uFillTx/>
                <a:latin typeface="Aptos" panose="020B0004020202020204" pitchFamily="34" charset="0"/>
                <a:ea typeface="Aptos"/>
              </a:rPr>
              <a:t>Diversifies income, but may increase platform dependence</a:t>
            </a:r>
            <a:endParaRPr lang="en-US" sz="1200" b="0" u="none" strike="noStrike" dirty="0">
              <a:solidFill>
                <a:srgbClr val="000000"/>
              </a:solidFill>
              <a:effectLst/>
              <a:uFillTx/>
              <a:latin typeface="Aptos" panose="020B0004020202020204" pitchFamily="34" charset="0"/>
            </a:endParaRPr>
          </a:p>
        </p:txBody>
      </p:sp>
      <p:sp>
        <p:nvSpPr>
          <p:cNvPr id="96" name="Shape 52"/>
          <p:cNvSpPr/>
          <p:nvPr/>
        </p:nvSpPr>
        <p:spPr>
          <a:xfrm>
            <a:off x="960120" y="5605200"/>
            <a:ext cx="10058040" cy="529920"/>
          </a:xfrm>
          <a:prstGeom prst="roundRect">
            <a:avLst>
              <a:gd name="adj" fmla="val 13793"/>
            </a:avLst>
          </a:prstGeom>
          <a:solidFill>
            <a:srgbClr val="EEF4FA"/>
          </a:solidFill>
          <a:ln w="12700">
            <a:solidFill>
              <a:srgbClr val="C9D7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ptos" panose="020B0004020202020204" pitchFamily="34" charset="0"/>
            </a:endParaRPr>
          </a:p>
        </p:txBody>
      </p:sp>
      <p:sp>
        <p:nvSpPr>
          <p:cNvPr id="97" name="Text 53"/>
          <p:cNvSpPr/>
          <p:nvPr/>
        </p:nvSpPr>
        <p:spPr>
          <a:xfrm>
            <a:off x="1042560" y="5760720"/>
            <a:ext cx="10039680" cy="2106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algn="l" defTabSz="914400">
              <a:lnSpc>
                <a:spcPct val="100000"/>
              </a:lnSpc>
              <a:tabLst>
                <a:tab pos="0" algn="l"/>
              </a:tabLst>
            </a:pPr>
            <a:r>
              <a:rPr lang="en-US" sz="1000" b="1" u="none" strike="noStrike" dirty="0">
                <a:solidFill>
                  <a:srgbClr val="232F3E"/>
                </a:solidFill>
                <a:effectLst/>
                <a:uFillTx/>
                <a:latin typeface="Aptos" panose="020B0004020202020204" pitchFamily="34" charset="0"/>
                <a:ea typeface="Aptos"/>
              </a:rPr>
              <a:t>Key insight: Amazon’s strategies reinforce each other: customer data improves personalization, marketplace scale expands choice, and FBA improves delivery reliability.</a:t>
            </a:r>
            <a:endParaRPr lang="en-US" sz="1000" b="0" u="none" strike="noStrike" dirty="0">
              <a:solidFill>
                <a:srgbClr val="000000"/>
              </a:solidFill>
              <a:effectLst/>
              <a:uFillTx/>
              <a:latin typeface="Aptos" panose="020B0004020202020204" pitchFamily="34" charset="0"/>
            </a:endParaRPr>
          </a:p>
        </p:txBody>
      </p:sp>
      <p:sp>
        <p:nvSpPr>
          <p:cNvPr id="98" name="Text 54"/>
          <p:cNvSpPr/>
          <p:nvPr/>
        </p:nvSpPr>
        <p:spPr>
          <a:xfrm>
            <a:off x="502920" y="6556320"/>
            <a:ext cx="1115532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i="1" u="none" strike="noStrike" dirty="0">
                <a:solidFill>
                  <a:srgbClr val="6B7280"/>
                </a:solidFill>
                <a:effectLst/>
                <a:uFillTx/>
                <a:latin typeface="Aptos" panose="020B0004020202020204" pitchFamily="34" charset="0"/>
              </a:rPr>
              <a:t>Sources: Amazon.com, Inc. Form 10-K, fiscal year ended Dec. 31, 2025; Amazon FBA official page</a:t>
            </a:r>
            <a:r>
              <a:rPr lang="en-US" sz="800" b="0" i="1" u="none" strike="noStrike" dirty="0">
                <a:solidFill>
                  <a:srgbClr val="6B7280"/>
                </a:solidFill>
                <a:effectLst/>
                <a:uFillTx/>
                <a:latin typeface="Aptos" panose="020B0004020202020204" pitchFamily="34" charset="0"/>
              </a:rPr>
              <a:t>.</a:t>
            </a:r>
            <a:endParaRPr lang="en-US" sz="800" b="0" u="none" strike="noStrike" dirty="0">
              <a:solidFill>
                <a:srgbClr val="000000"/>
              </a:solidFill>
              <a:effectLst/>
              <a:uFillTx/>
              <a:latin typeface="Aptos" panose="020B0004020202020204" pitchFamily="34" charset="0"/>
            </a:endParaRPr>
          </a:p>
        </p:txBody>
      </p:sp>
      <p:pic>
        <p:nvPicPr>
          <p:cNvPr id="6" name="图片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5270" y="1826360"/>
            <a:ext cx="333200" cy="333200"/>
          </a:xfrm>
          <a:prstGeom prst="rect">
            <a:avLst/>
          </a:prstGeom>
        </p:spPr>
      </p:pic>
      <p:pic>
        <p:nvPicPr>
          <p:cNvPr id="7" name="图片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24149" y="2573952"/>
            <a:ext cx="344312" cy="344312"/>
          </a:xfrm>
          <a:prstGeom prst="rect">
            <a:avLst/>
          </a:prstGeom>
        </p:spPr>
      </p:pic>
      <p:pic>
        <p:nvPicPr>
          <p:cNvPr id="8" name="图片 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39340" y="4100654"/>
            <a:ext cx="331541" cy="331541"/>
          </a:xfrm>
          <a:prstGeom prst="rect">
            <a:avLst/>
          </a:prstGeom>
        </p:spPr>
      </p:pic>
      <p:pic>
        <p:nvPicPr>
          <p:cNvPr id="9" name="图片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24149" y="3301803"/>
            <a:ext cx="373797" cy="373797"/>
          </a:xfrm>
          <a:prstGeom prst="rect">
            <a:avLst/>
          </a:prstGeom>
        </p:spPr>
      </p:pic>
      <p:pic>
        <p:nvPicPr>
          <p:cNvPr id="10" name="图片 9"/>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39117" y="4838779"/>
            <a:ext cx="314376" cy="31437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9" name="Shape 0"/>
          <p:cNvSpPr/>
          <p:nvPr/>
        </p:nvSpPr>
        <p:spPr>
          <a:xfrm>
            <a:off x="0" y="0"/>
            <a:ext cx="12191400" cy="164160"/>
          </a:xfrm>
          <a:prstGeom prst="rect">
            <a:avLst/>
          </a:prstGeom>
          <a:solidFill>
            <a:srgbClr val="FF9900"/>
          </a:solidFill>
          <a:ln w="12700">
            <a:solidFill>
              <a:srgbClr val="FF99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panose="020B0604020202090204"/>
            </a:endParaRPr>
          </a:p>
        </p:txBody>
      </p:sp>
      <p:sp>
        <p:nvSpPr>
          <p:cNvPr id="100" name="Text 1"/>
          <p:cNvSpPr/>
          <p:nvPr/>
        </p:nvSpPr>
        <p:spPr>
          <a:xfrm>
            <a:off x="502920" y="320040"/>
            <a:ext cx="987516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500" b="1" u="none" strike="noStrike">
                <a:solidFill>
                  <a:srgbClr val="232F3E"/>
                </a:solidFill>
                <a:effectLst/>
                <a:uFillTx/>
                <a:latin typeface="Aptos Display"/>
                <a:ea typeface="Aptos Display"/>
              </a:rPr>
              <a:t>Costs, Risks and Suggestions</a:t>
            </a:r>
            <a:endParaRPr lang="en-US" sz="2500" b="0" u="none" strike="noStrike">
              <a:solidFill>
                <a:srgbClr val="000000"/>
              </a:solidFill>
              <a:effectLst/>
              <a:uFillTx/>
              <a:latin typeface="Arial" panose="020B0604020202090204"/>
            </a:endParaRPr>
          </a:p>
        </p:txBody>
      </p:sp>
      <p:sp>
        <p:nvSpPr>
          <p:cNvPr id="101" name="Text 2"/>
          <p:cNvSpPr/>
          <p:nvPr/>
        </p:nvSpPr>
        <p:spPr>
          <a:xfrm>
            <a:off x="521280" y="749880"/>
            <a:ext cx="1005804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u="none" strike="noStrike" dirty="0">
                <a:solidFill>
                  <a:srgbClr val="5B6770"/>
                </a:solidFill>
                <a:effectLst/>
                <a:uFillTx/>
                <a:latin typeface="Aptos"/>
                <a:ea typeface="Aptos"/>
              </a:rPr>
              <a:t>Critical analysis: e-commerce strategy creates both value and trade-offs</a:t>
            </a:r>
            <a:endParaRPr lang="en-US" sz="1000" b="0" u="none" strike="noStrike" dirty="0">
              <a:solidFill>
                <a:srgbClr val="000000"/>
              </a:solidFill>
              <a:effectLst/>
              <a:uFillTx/>
              <a:latin typeface="Arial" panose="020B0604020202090204"/>
            </a:endParaRPr>
          </a:p>
        </p:txBody>
      </p:sp>
      <p:sp>
        <p:nvSpPr>
          <p:cNvPr id="102" name="Text 3"/>
          <p:cNvSpPr/>
          <p:nvPr/>
        </p:nvSpPr>
        <p:spPr>
          <a:xfrm>
            <a:off x="10012680" y="356760"/>
            <a:ext cx="15998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50" b="0" u="none" strike="noStrike">
                <a:solidFill>
                  <a:srgbClr val="5B6770"/>
                </a:solidFill>
                <a:effectLst/>
                <a:uFillTx/>
                <a:latin typeface="Aptos"/>
              </a:rPr>
              <a:t>IOM302 | Amazon Case</a:t>
            </a:r>
            <a:endParaRPr lang="en-US" sz="850" b="0" u="none" strike="noStrike">
              <a:solidFill>
                <a:srgbClr val="000000"/>
              </a:solidFill>
              <a:effectLst/>
              <a:uFillTx/>
              <a:latin typeface="Arial" panose="020B0604020202090204"/>
            </a:endParaRPr>
          </a:p>
        </p:txBody>
      </p:sp>
      <p:sp>
        <p:nvSpPr>
          <p:cNvPr id="103" name="Shape 4"/>
          <p:cNvSpPr/>
          <p:nvPr/>
        </p:nvSpPr>
        <p:spPr>
          <a:xfrm>
            <a:off x="621720" y="1097280"/>
            <a:ext cx="2057040" cy="429480"/>
          </a:xfrm>
          <a:prstGeom prst="roundRect">
            <a:avLst>
              <a:gd name="adj" fmla="val 6383"/>
            </a:avLst>
          </a:prstGeom>
          <a:solidFill>
            <a:srgbClr val="FF9900"/>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panose="020B0604020202090204"/>
            </a:endParaRPr>
          </a:p>
        </p:txBody>
      </p:sp>
      <p:sp>
        <p:nvSpPr>
          <p:cNvPr id="104" name="Text 5"/>
          <p:cNvSpPr/>
          <p:nvPr/>
        </p:nvSpPr>
        <p:spPr>
          <a:xfrm>
            <a:off x="694800" y="1225440"/>
            <a:ext cx="1910880" cy="1641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algn="ctr" defTabSz="914400">
              <a:lnSpc>
                <a:spcPct val="100000"/>
              </a:lnSpc>
              <a:tabLst>
                <a:tab pos="0" algn="l"/>
              </a:tabLst>
            </a:pPr>
            <a:r>
              <a:rPr lang="en-US" sz="1400" b="1" u="none" strike="noStrike" dirty="0">
                <a:solidFill>
                  <a:srgbClr val="FFFFFF"/>
                </a:solidFill>
                <a:effectLst/>
                <a:uFillTx/>
                <a:latin typeface="Aptos"/>
                <a:ea typeface="Aptos"/>
              </a:rPr>
              <a:t>Risk Area</a:t>
            </a:r>
            <a:endParaRPr lang="en-US" sz="1400" b="0" u="none" strike="noStrike" dirty="0">
              <a:solidFill>
                <a:srgbClr val="000000"/>
              </a:solidFill>
              <a:effectLst/>
              <a:uFillTx/>
              <a:latin typeface="Arial" panose="020B0604020202090204"/>
            </a:endParaRPr>
          </a:p>
        </p:txBody>
      </p:sp>
      <p:sp>
        <p:nvSpPr>
          <p:cNvPr id="105" name="Shape 6"/>
          <p:cNvSpPr/>
          <p:nvPr/>
        </p:nvSpPr>
        <p:spPr>
          <a:xfrm>
            <a:off x="2752200" y="1097280"/>
            <a:ext cx="4800240" cy="429480"/>
          </a:xfrm>
          <a:prstGeom prst="roundRect">
            <a:avLst>
              <a:gd name="adj" fmla="val 6383"/>
            </a:avLst>
          </a:prstGeom>
          <a:solidFill>
            <a:srgbClr val="232F3E"/>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panose="020B0604020202090204"/>
            </a:endParaRPr>
          </a:p>
        </p:txBody>
      </p:sp>
      <p:sp>
        <p:nvSpPr>
          <p:cNvPr id="106" name="Text 7"/>
          <p:cNvSpPr/>
          <p:nvPr/>
        </p:nvSpPr>
        <p:spPr>
          <a:xfrm>
            <a:off x="2825640" y="1225440"/>
            <a:ext cx="4654080" cy="1641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algn="ctr" defTabSz="914400">
              <a:lnSpc>
                <a:spcPct val="100000"/>
              </a:lnSpc>
              <a:tabLst>
                <a:tab pos="0" algn="l"/>
              </a:tabLst>
            </a:pPr>
            <a:r>
              <a:rPr lang="en-US" sz="1200" b="1" u="none" strike="noStrike" dirty="0">
                <a:solidFill>
                  <a:srgbClr val="FFFFFF"/>
                </a:solidFill>
                <a:effectLst/>
                <a:uFillTx/>
                <a:latin typeface="Aptos"/>
                <a:ea typeface="Aptos"/>
              </a:rPr>
              <a:t>Strategic Risk / Cost</a:t>
            </a:r>
            <a:endParaRPr lang="en-US" sz="1200" b="0" u="none" strike="noStrike" dirty="0">
              <a:solidFill>
                <a:srgbClr val="000000"/>
              </a:solidFill>
              <a:effectLst/>
              <a:uFillTx/>
              <a:latin typeface="Arial" panose="020B0604020202090204"/>
            </a:endParaRPr>
          </a:p>
        </p:txBody>
      </p:sp>
      <p:sp>
        <p:nvSpPr>
          <p:cNvPr id="107" name="Shape 8"/>
          <p:cNvSpPr/>
          <p:nvPr/>
        </p:nvSpPr>
        <p:spPr>
          <a:xfrm>
            <a:off x="7626240" y="1097280"/>
            <a:ext cx="4068720" cy="429480"/>
          </a:xfrm>
          <a:prstGeom prst="roundRect">
            <a:avLst>
              <a:gd name="adj" fmla="val 6383"/>
            </a:avLst>
          </a:prstGeom>
          <a:solidFill>
            <a:srgbClr val="232F3E"/>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panose="020B0604020202090204"/>
            </a:endParaRPr>
          </a:p>
        </p:txBody>
      </p:sp>
      <p:sp>
        <p:nvSpPr>
          <p:cNvPr id="108" name="Text 9"/>
          <p:cNvSpPr/>
          <p:nvPr/>
        </p:nvSpPr>
        <p:spPr>
          <a:xfrm>
            <a:off x="7699320" y="1225440"/>
            <a:ext cx="3922560" cy="1641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algn="ctr" defTabSz="914400">
              <a:lnSpc>
                <a:spcPct val="100000"/>
              </a:lnSpc>
              <a:tabLst>
                <a:tab pos="0" algn="l"/>
              </a:tabLst>
            </a:pPr>
            <a:r>
              <a:rPr lang="en-US" sz="1200" b="1" u="none" strike="noStrike" dirty="0">
                <a:solidFill>
                  <a:srgbClr val="FFFFFF"/>
                </a:solidFill>
                <a:effectLst/>
                <a:uFillTx/>
                <a:latin typeface="Aptos"/>
                <a:ea typeface="Aptos"/>
              </a:rPr>
              <a:t>Improvement Suggestion</a:t>
            </a:r>
            <a:endParaRPr lang="en-US" sz="1200" b="0" u="none" strike="noStrike" dirty="0">
              <a:solidFill>
                <a:srgbClr val="000000"/>
              </a:solidFill>
              <a:effectLst/>
              <a:uFillTx/>
              <a:latin typeface="Arial" panose="020B0604020202090204"/>
            </a:endParaRPr>
          </a:p>
        </p:txBody>
      </p:sp>
      <p:sp>
        <p:nvSpPr>
          <p:cNvPr id="109" name="Shape 10"/>
          <p:cNvSpPr/>
          <p:nvPr/>
        </p:nvSpPr>
        <p:spPr>
          <a:xfrm>
            <a:off x="621720" y="1627560"/>
            <a:ext cx="2057040" cy="840960"/>
          </a:xfrm>
          <a:prstGeom prst="rect">
            <a:avLst/>
          </a:prstGeom>
          <a:solidFill>
            <a:srgbClr val="FFF3E0"/>
          </a:solidFill>
          <a:ln w="7620">
            <a:solidFill>
              <a:srgbClr val="D9DE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panose="020B0604020202090204"/>
            </a:endParaRPr>
          </a:p>
        </p:txBody>
      </p:sp>
      <p:sp>
        <p:nvSpPr>
          <p:cNvPr id="111" name="Text 12"/>
          <p:cNvSpPr/>
          <p:nvPr/>
        </p:nvSpPr>
        <p:spPr>
          <a:xfrm>
            <a:off x="1078920" y="1874520"/>
            <a:ext cx="1508400" cy="2556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00" b="1" u="none" strike="noStrike" dirty="0">
                <a:solidFill>
                  <a:srgbClr val="232F3E"/>
                </a:solidFill>
                <a:effectLst/>
                <a:uFillTx/>
                <a:latin typeface="Aptos"/>
                <a:ea typeface="Aptos"/>
              </a:rPr>
              <a:t>Privacy concern</a:t>
            </a:r>
            <a:endParaRPr lang="en-US" sz="1200" b="0" u="none" strike="noStrike" dirty="0">
              <a:solidFill>
                <a:srgbClr val="000000"/>
              </a:solidFill>
              <a:effectLst/>
              <a:uFillTx/>
              <a:latin typeface="Arial" panose="020B0604020202090204"/>
            </a:endParaRPr>
          </a:p>
        </p:txBody>
      </p:sp>
      <p:sp>
        <p:nvSpPr>
          <p:cNvPr id="112" name="Shape 13"/>
          <p:cNvSpPr/>
          <p:nvPr/>
        </p:nvSpPr>
        <p:spPr>
          <a:xfrm>
            <a:off x="2752200" y="1627560"/>
            <a:ext cx="4800240" cy="840960"/>
          </a:xfrm>
          <a:prstGeom prst="rect">
            <a:avLst/>
          </a:prstGeom>
          <a:solidFill>
            <a:srgbClr val="FFFFFF"/>
          </a:solidFill>
          <a:ln w="7620">
            <a:solidFill>
              <a:srgbClr val="D9DE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panose="020B0604020202090204"/>
            </a:endParaRPr>
          </a:p>
        </p:txBody>
      </p:sp>
      <p:sp>
        <p:nvSpPr>
          <p:cNvPr id="113" name="Text 14"/>
          <p:cNvSpPr/>
          <p:nvPr/>
        </p:nvSpPr>
        <p:spPr>
          <a:xfrm>
            <a:off x="2862000" y="1774080"/>
            <a:ext cx="4580640" cy="6580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00" b="0" u="none" strike="noStrike" dirty="0">
                <a:solidFill>
                  <a:srgbClr val="1F2933"/>
                </a:solidFill>
                <a:effectLst/>
                <a:uFillTx/>
                <a:latin typeface="Aptos"/>
                <a:ea typeface="Aptos"/>
              </a:rPr>
              <a:t>Personalization depends on customer data and may reduce trust if data use is unclear</a:t>
            </a:r>
            <a:endParaRPr lang="en-US" sz="1200" b="0" u="none" strike="noStrike" dirty="0">
              <a:solidFill>
                <a:srgbClr val="000000"/>
              </a:solidFill>
              <a:effectLst/>
              <a:uFillTx/>
              <a:latin typeface="Arial" panose="020B0604020202090204"/>
            </a:endParaRPr>
          </a:p>
        </p:txBody>
      </p:sp>
      <p:sp>
        <p:nvSpPr>
          <p:cNvPr id="114" name="Shape 15"/>
          <p:cNvSpPr/>
          <p:nvPr/>
        </p:nvSpPr>
        <p:spPr>
          <a:xfrm>
            <a:off x="7626240" y="1627560"/>
            <a:ext cx="4068720" cy="840960"/>
          </a:xfrm>
          <a:prstGeom prst="rect">
            <a:avLst/>
          </a:prstGeom>
          <a:solidFill>
            <a:srgbClr val="FFFFFF"/>
          </a:solidFill>
          <a:ln w="7620">
            <a:solidFill>
              <a:srgbClr val="D9DE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panose="020B0604020202090204"/>
            </a:endParaRPr>
          </a:p>
        </p:txBody>
      </p:sp>
      <p:sp>
        <p:nvSpPr>
          <p:cNvPr id="115" name="Text 16"/>
          <p:cNvSpPr/>
          <p:nvPr/>
        </p:nvSpPr>
        <p:spPr>
          <a:xfrm>
            <a:off x="7735680" y="1774080"/>
            <a:ext cx="3849120" cy="6580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00" b="0" u="none" strike="noStrike" dirty="0">
                <a:solidFill>
                  <a:srgbClr val="1F2933"/>
                </a:solidFill>
                <a:effectLst/>
                <a:uFillTx/>
                <a:latin typeface="Aptos"/>
                <a:ea typeface="Aptos"/>
              </a:rPr>
              <a:t>Improve transparency in customer data use and provide clearer privacy controls</a:t>
            </a:r>
            <a:endParaRPr lang="en-US" sz="1200" b="0" u="none" strike="noStrike" dirty="0">
              <a:solidFill>
                <a:srgbClr val="000000"/>
              </a:solidFill>
              <a:effectLst/>
              <a:uFillTx/>
              <a:latin typeface="Arial" panose="020B0604020202090204"/>
            </a:endParaRPr>
          </a:p>
        </p:txBody>
      </p:sp>
      <p:sp>
        <p:nvSpPr>
          <p:cNvPr id="116" name="Shape 17"/>
          <p:cNvSpPr/>
          <p:nvPr/>
        </p:nvSpPr>
        <p:spPr>
          <a:xfrm>
            <a:off x="621720" y="2468880"/>
            <a:ext cx="2057040" cy="840960"/>
          </a:xfrm>
          <a:prstGeom prst="rect">
            <a:avLst/>
          </a:prstGeom>
          <a:solidFill>
            <a:srgbClr val="FFF3E0"/>
          </a:solidFill>
          <a:ln w="7620">
            <a:solidFill>
              <a:srgbClr val="D9DE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panose="020B0604020202090204"/>
            </a:endParaRPr>
          </a:p>
        </p:txBody>
      </p:sp>
      <p:sp>
        <p:nvSpPr>
          <p:cNvPr id="118" name="Text 19"/>
          <p:cNvSpPr/>
          <p:nvPr/>
        </p:nvSpPr>
        <p:spPr>
          <a:xfrm>
            <a:off x="1078920" y="2715840"/>
            <a:ext cx="1508400" cy="2556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00" b="1" u="none" strike="noStrike" dirty="0">
                <a:solidFill>
                  <a:srgbClr val="232F3E"/>
                </a:solidFill>
                <a:effectLst/>
                <a:uFillTx/>
                <a:latin typeface="Aptos"/>
                <a:ea typeface="Aptos"/>
              </a:rPr>
              <a:t>Seller dependence</a:t>
            </a:r>
            <a:endParaRPr lang="en-US" sz="1200" b="0" u="none" strike="noStrike" dirty="0">
              <a:solidFill>
                <a:srgbClr val="000000"/>
              </a:solidFill>
              <a:effectLst/>
              <a:uFillTx/>
              <a:latin typeface="Arial" panose="020B0604020202090204"/>
            </a:endParaRPr>
          </a:p>
        </p:txBody>
      </p:sp>
      <p:sp>
        <p:nvSpPr>
          <p:cNvPr id="119" name="Shape 20"/>
          <p:cNvSpPr/>
          <p:nvPr/>
        </p:nvSpPr>
        <p:spPr>
          <a:xfrm>
            <a:off x="2752200" y="2468880"/>
            <a:ext cx="4800240" cy="840960"/>
          </a:xfrm>
          <a:prstGeom prst="rect">
            <a:avLst/>
          </a:prstGeom>
          <a:solidFill>
            <a:srgbClr val="F5F7FA"/>
          </a:solidFill>
          <a:ln w="7620">
            <a:solidFill>
              <a:srgbClr val="D9DE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panose="020B0604020202090204"/>
            </a:endParaRPr>
          </a:p>
        </p:txBody>
      </p:sp>
      <p:sp>
        <p:nvSpPr>
          <p:cNvPr id="120" name="Text 21"/>
          <p:cNvSpPr/>
          <p:nvPr/>
        </p:nvSpPr>
        <p:spPr>
          <a:xfrm>
            <a:off x="2862000" y="2615040"/>
            <a:ext cx="4580640" cy="6580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00" b="0" u="none" strike="noStrike" dirty="0">
                <a:solidFill>
                  <a:srgbClr val="1F2933"/>
                </a:solidFill>
                <a:effectLst/>
                <a:uFillTx/>
                <a:latin typeface="Aptos"/>
                <a:ea typeface="Aptos"/>
              </a:rPr>
              <a:t>Third-party sellers may depend on platform rules, ranking, advertising and fulfilment services</a:t>
            </a:r>
            <a:endParaRPr lang="en-US" sz="1200" b="0" u="none" strike="noStrike" dirty="0">
              <a:solidFill>
                <a:srgbClr val="000000"/>
              </a:solidFill>
              <a:effectLst/>
              <a:uFillTx/>
              <a:latin typeface="Arial" panose="020B0604020202090204"/>
            </a:endParaRPr>
          </a:p>
        </p:txBody>
      </p:sp>
      <p:sp>
        <p:nvSpPr>
          <p:cNvPr id="121" name="Shape 22"/>
          <p:cNvSpPr/>
          <p:nvPr/>
        </p:nvSpPr>
        <p:spPr>
          <a:xfrm>
            <a:off x="7626240" y="2468880"/>
            <a:ext cx="4068720" cy="840960"/>
          </a:xfrm>
          <a:prstGeom prst="rect">
            <a:avLst/>
          </a:prstGeom>
          <a:solidFill>
            <a:srgbClr val="F5F7FA"/>
          </a:solidFill>
          <a:ln w="7620">
            <a:solidFill>
              <a:srgbClr val="D9DE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panose="020B0604020202090204"/>
            </a:endParaRPr>
          </a:p>
        </p:txBody>
      </p:sp>
      <p:sp>
        <p:nvSpPr>
          <p:cNvPr id="122" name="Text 23"/>
          <p:cNvSpPr/>
          <p:nvPr/>
        </p:nvSpPr>
        <p:spPr>
          <a:xfrm>
            <a:off x="7735680" y="2615040"/>
            <a:ext cx="3849120" cy="6580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00" b="0" u="none" strike="noStrike" dirty="0">
                <a:solidFill>
                  <a:srgbClr val="1F2933"/>
                </a:solidFill>
                <a:effectLst/>
                <a:uFillTx/>
                <a:latin typeface="Aptos"/>
                <a:ea typeface="Aptos"/>
              </a:rPr>
              <a:t>Provide clearer and fairer seller rules; improve dispute and governance mechanisms</a:t>
            </a:r>
            <a:endParaRPr lang="en-US" sz="1200" b="0" u="none" strike="noStrike" dirty="0">
              <a:solidFill>
                <a:srgbClr val="000000"/>
              </a:solidFill>
              <a:effectLst/>
              <a:uFillTx/>
              <a:latin typeface="Arial" panose="020B0604020202090204"/>
            </a:endParaRPr>
          </a:p>
        </p:txBody>
      </p:sp>
      <p:sp>
        <p:nvSpPr>
          <p:cNvPr id="123" name="Shape 24"/>
          <p:cNvSpPr/>
          <p:nvPr/>
        </p:nvSpPr>
        <p:spPr>
          <a:xfrm>
            <a:off x="621720" y="3310200"/>
            <a:ext cx="2057040" cy="840960"/>
          </a:xfrm>
          <a:prstGeom prst="rect">
            <a:avLst/>
          </a:prstGeom>
          <a:solidFill>
            <a:srgbClr val="FFF3E0"/>
          </a:solidFill>
          <a:ln w="7620">
            <a:solidFill>
              <a:srgbClr val="D9DE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panose="020B0604020202090204"/>
            </a:endParaRPr>
          </a:p>
        </p:txBody>
      </p:sp>
      <p:sp>
        <p:nvSpPr>
          <p:cNvPr id="125" name="Text 26"/>
          <p:cNvSpPr/>
          <p:nvPr/>
        </p:nvSpPr>
        <p:spPr>
          <a:xfrm>
            <a:off x="1078920" y="3557160"/>
            <a:ext cx="1508400" cy="2556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00" b="1" u="none" strike="noStrike" dirty="0">
                <a:solidFill>
                  <a:srgbClr val="232F3E"/>
                </a:solidFill>
                <a:effectLst/>
                <a:uFillTx/>
                <a:latin typeface="Aptos"/>
                <a:ea typeface="Aptos"/>
              </a:rPr>
              <a:t>Fulfilment cost</a:t>
            </a:r>
            <a:endParaRPr lang="en-US" sz="1200" b="0" u="none" strike="noStrike" dirty="0">
              <a:solidFill>
                <a:srgbClr val="000000"/>
              </a:solidFill>
              <a:effectLst/>
              <a:uFillTx/>
              <a:latin typeface="Arial" panose="020B0604020202090204"/>
            </a:endParaRPr>
          </a:p>
        </p:txBody>
      </p:sp>
      <p:sp>
        <p:nvSpPr>
          <p:cNvPr id="126" name="Shape 27"/>
          <p:cNvSpPr/>
          <p:nvPr/>
        </p:nvSpPr>
        <p:spPr>
          <a:xfrm>
            <a:off x="2752200" y="3310200"/>
            <a:ext cx="4800240" cy="840960"/>
          </a:xfrm>
          <a:prstGeom prst="rect">
            <a:avLst/>
          </a:prstGeom>
          <a:solidFill>
            <a:srgbClr val="FFFFFF"/>
          </a:solidFill>
          <a:ln w="7620">
            <a:solidFill>
              <a:srgbClr val="D9DE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panose="020B0604020202090204"/>
            </a:endParaRPr>
          </a:p>
        </p:txBody>
      </p:sp>
      <p:sp>
        <p:nvSpPr>
          <p:cNvPr id="127" name="Text 28"/>
          <p:cNvSpPr/>
          <p:nvPr/>
        </p:nvSpPr>
        <p:spPr>
          <a:xfrm>
            <a:off x="2862000" y="3456360"/>
            <a:ext cx="4580640" cy="6580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00" b="0" u="none" strike="noStrike" dirty="0">
                <a:solidFill>
                  <a:srgbClr val="1F2933"/>
                </a:solidFill>
                <a:effectLst/>
                <a:uFillTx/>
                <a:latin typeface="Aptos"/>
                <a:ea typeface="Aptos"/>
              </a:rPr>
              <a:t>FBA, fast delivery, warehousing and technology infrastructure create high operating costs</a:t>
            </a:r>
            <a:endParaRPr lang="en-US" sz="1200" b="0" u="none" strike="noStrike" dirty="0">
              <a:solidFill>
                <a:srgbClr val="000000"/>
              </a:solidFill>
              <a:effectLst/>
              <a:uFillTx/>
              <a:latin typeface="Arial" panose="020B0604020202090204"/>
            </a:endParaRPr>
          </a:p>
        </p:txBody>
      </p:sp>
      <p:sp>
        <p:nvSpPr>
          <p:cNvPr id="128" name="Shape 29"/>
          <p:cNvSpPr/>
          <p:nvPr/>
        </p:nvSpPr>
        <p:spPr>
          <a:xfrm>
            <a:off x="7626240" y="3310200"/>
            <a:ext cx="4068720" cy="840960"/>
          </a:xfrm>
          <a:prstGeom prst="rect">
            <a:avLst/>
          </a:prstGeom>
          <a:solidFill>
            <a:srgbClr val="FFFFFF"/>
          </a:solidFill>
          <a:ln w="7620">
            <a:solidFill>
              <a:srgbClr val="D9DE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panose="020B0604020202090204"/>
            </a:endParaRPr>
          </a:p>
        </p:txBody>
      </p:sp>
      <p:sp>
        <p:nvSpPr>
          <p:cNvPr id="129" name="Text 30"/>
          <p:cNvSpPr/>
          <p:nvPr/>
        </p:nvSpPr>
        <p:spPr>
          <a:xfrm>
            <a:off x="7735680" y="3456360"/>
            <a:ext cx="3849120" cy="6580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00" b="0" u="none" strike="noStrike" dirty="0">
                <a:solidFill>
                  <a:srgbClr val="1F2933"/>
                </a:solidFill>
                <a:effectLst/>
                <a:uFillTx/>
                <a:latin typeface="Aptos"/>
                <a:ea typeface="Aptos"/>
              </a:rPr>
              <a:t>Use AI demand forecasting to reduce waste, overstocking and over-fulfilment risk</a:t>
            </a:r>
            <a:endParaRPr lang="en-US" sz="1200" b="0" u="none" strike="noStrike" dirty="0">
              <a:solidFill>
                <a:srgbClr val="000000"/>
              </a:solidFill>
              <a:effectLst/>
              <a:uFillTx/>
              <a:latin typeface="Arial" panose="020B0604020202090204"/>
            </a:endParaRPr>
          </a:p>
        </p:txBody>
      </p:sp>
      <p:sp>
        <p:nvSpPr>
          <p:cNvPr id="130" name="Shape 31"/>
          <p:cNvSpPr/>
          <p:nvPr/>
        </p:nvSpPr>
        <p:spPr>
          <a:xfrm>
            <a:off x="621720" y="4151520"/>
            <a:ext cx="2057040" cy="840960"/>
          </a:xfrm>
          <a:prstGeom prst="rect">
            <a:avLst/>
          </a:prstGeom>
          <a:solidFill>
            <a:srgbClr val="FFF3E0"/>
          </a:solidFill>
          <a:ln w="7620">
            <a:solidFill>
              <a:srgbClr val="D9DE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panose="020B0604020202090204"/>
            </a:endParaRPr>
          </a:p>
        </p:txBody>
      </p:sp>
      <p:sp>
        <p:nvSpPr>
          <p:cNvPr id="132" name="Text 33"/>
          <p:cNvSpPr/>
          <p:nvPr/>
        </p:nvSpPr>
        <p:spPr>
          <a:xfrm>
            <a:off x="1078920" y="4398120"/>
            <a:ext cx="1599480" cy="2556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defTabSz="914400">
              <a:lnSpc>
                <a:spcPct val="100000"/>
              </a:lnSpc>
              <a:tabLst>
                <a:tab pos="0" algn="l"/>
              </a:tabLst>
            </a:pPr>
            <a:r>
              <a:rPr lang="en-US" sz="1200" b="1" u="none" strike="noStrike" dirty="0">
                <a:solidFill>
                  <a:srgbClr val="232F3E"/>
                </a:solidFill>
                <a:effectLst/>
                <a:uFillTx/>
                <a:latin typeface="Aptos"/>
                <a:ea typeface="Aptos"/>
              </a:rPr>
              <a:t>Sustainability pressure</a:t>
            </a:r>
            <a:endParaRPr lang="en-US" sz="1200" b="0" u="none" strike="noStrike" dirty="0">
              <a:solidFill>
                <a:srgbClr val="000000"/>
              </a:solidFill>
              <a:effectLst/>
              <a:uFillTx/>
              <a:latin typeface="Arial" panose="020B0604020202090204"/>
            </a:endParaRPr>
          </a:p>
        </p:txBody>
      </p:sp>
      <p:sp>
        <p:nvSpPr>
          <p:cNvPr id="133" name="Shape 34"/>
          <p:cNvSpPr/>
          <p:nvPr/>
        </p:nvSpPr>
        <p:spPr>
          <a:xfrm>
            <a:off x="2752200" y="4151520"/>
            <a:ext cx="4800240" cy="840960"/>
          </a:xfrm>
          <a:prstGeom prst="rect">
            <a:avLst/>
          </a:prstGeom>
          <a:solidFill>
            <a:srgbClr val="F5F7FA"/>
          </a:solidFill>
          <a:ln w="7620">
            <a:solidFill>
              <a:srgbClr val="D9DE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panose="020B0604020202090204"/>
            </a:endParaRPr>
          </a:p>
        </p:txBody>
      </p:sp>
      <p:sp>
        <p:nvSpPr>
          <p:cNvPr id="134" name="Text 35"/>
          <p:cNvSpPr/>
          <p:nvPr/>
        </p:nvSpPr>
        <p:spPr>
          <a:xfrm>
            <a:off x="2862000" y="4297680"/>
            <a:ext cx="4580640" cy="6580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00" b="0" u="none" strike="noStrike" dirty="0">
                <a:solidFill>
                  <a:srgbClr val="1F2933"/>
                </a:solidFill>
                <a:effectLst/>
                <a:uFillTx/>
                <a:latin typeface="Aptos"/>
                <a:ea typeface="Aptos"/>
              </a:rPr>
              <a:t>Fast fulfilment and packaging may increase environmental and reputational pressure</a:t>
            </a:r>
            <a:endParaRPr lang="en-US" sz="1200" b="0" u="none" strike="noStrike" dirty="0">
              <a:solidFill>
                <a:srgbClr val="000000"/>
              </a:solidFill>
              <a:effectLst/>
              <a:uFillTx/>
              <a:latin typeface="Arial" panose="020B0604020202090204"/>
            </a:endParaRPr>
          </a:p>
        </p:txBody>
      </p:sp>
      <p:sp>
        <p:nvSpPr>
          <p:cNvPr id="135" name="Shape 36"/>
          <p:cNvSpPr/>
          <p:nvPr/>
        </p:nvSpPr>
        <p:spPr>
          <a:xfrm>
            <a:off x="7626240" y="4151520"/>
            <a:ext cx="4068720" cy="840960"/>
          </a:xfrm>
          <a:prstGeom prst="rect">
            <a:avLst/>
          </a:prstGeom>
          <a:solidFill>
            <a:srgbClr val="F5F7FA"/>
          </a:solidFill>
          <a:ln w="7620">
            <a:solidFill>
              <a:srgbClr val="D9DE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panose="020B0604020202090204"/>
            </a:endParaRPr>
          </a:p>
        </p:txBody>
      </p:sp>
      <p:sp>
        <p:nvSpPr>
          <p:cNvPr id="136" name="Text 37"/>
          <p:cNvSpPr/>
          <p:nvPr/>
        </p:nvSpPr>
        <p:spPr>
          <a:xfrm>
            <a:off x="7735680" y="4297680"/>
            <a:ext cx="3849120" cy="6580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tabLst>
                <a:tab pos="0" algn="l"/>
              </a:tabLst>
            </a:pPr>
            <a:r>
              <a:rPr lang="en-US" sz="1200" b="0" u="none" strike="noStrike" dirty="0">
                <a:solidFill>
                  <a:srgbClr val="1F2933"/>
                </a:solidFill>
                <a:effectLst/>
                <a:uFillTx/>
                <a:latin typeface="Aptos"/>
                <a:ea typeface="Aptos"/>
              </a:rPr>
              <a:t>Develop greener fulfilment, packaging and route optimization</a:t>
            </a:r>
            <a:endParaRPr lang="en-US" sz="1200" b="0" u="none" strike="noStrike" dirty="0">
              <a:solidFill>
                <a:srgbClr val="000000"/>
              </a:solidFill>
              <a:effectLst/>
              <a:uFillTx/>
              <a:latin typeface="Arial" panose="020B0604020202090204"/>
            </a:endParaRPr>
          </a:p>
        </p:txBody>
      </p:sp>
      <p:sp>
        <p:nvSpPr>
          <p:cNvPr id="137" name="Shape 38"/>
          <p:cNvSpPr/>
          <p:nvPr/>
        </p:nvSpPr>
        <p:spPr>
          <a:xfrm>
            <a:off x="822960" y="5147820"/>
            <a:ext cx="5977890" cy="365400"/>
          </a:xfrm>
          <a:prstGeom prst="roundRect">
            <a:avLst>
              <a:gd name="adj" fmla="val 10000"/>
            </a:avLst>
          </a:prstGeom>
          <a:solidFill>
            <a:srgbClr val="FFF8ED"/>
          </a:solidFill>
          <a:ln w="12700">
            <a:solidFill>
              <a:srgbClr val="F6C36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panose="020B0604020202090204"/>
            </a:endParaRPr>
          </a:p>
        </p:txBody>
      </p:sp>
      <p:sp>
        <p:nvSpPr>
          <p:cNvPr id="138" name="Text 39"/>
          <p:cNvSpPr/>
          <p:nvPr/>
        </p:nvSpPr>
        <p:spPr>
          <a:xfrm>
            <a:off x="713160" y="5257800"/>
            <a:ext cx="6766560" cy="543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algn="ctr" defTabSz="914400">
              <a:lnSpc>
                <a:spcPct val="100000"/>
              </a:lnSpc>
              <a:tabLst>
                <a:tab pos="0" algn="l"/>
              </a:tabLst>
            </a:pPr>
            <a:r>
              <a:rPr lang="en-US" sz="1000" b="0" u="none" strike="noStrike" dirty="0">
                <a:solidFill>
                  <a:srgbClr val="232F3E"/>
                </a:solidFill>
                <a:effectLst/>
                <a:uFillTx/>
                <a:latin typeface="Aptos"/>
                <a:ea typeface="Aptos"/>
              </a:rPr>
              <a:t>Caution: FTC-related claims should be described as allegations; Amazon disputes the allegations</a:t>
            </a:r>
            <a:r>
              <a:rPr lang="en-US" sz="1050" b="0" u="none" strike="noStrike" dirty="0">
                <a:solidFill>
                  <a:srgbClr val="232F3E"/>
                </a:solidFill>
                <a:effectLst/>
                <a:uFillTx/>
                <a:latin typeface="Aptos"/>
                <a:ea typeface="Aptos"/>
              </a:rPr>
              <a:t>.</a:t>
            </a:r>
            <a:endParaRPr lang="en-US" sz="1050" b="0" u="none" strike="noStrike" dirty="0">
              <a:solidFill>
                <a:srgbClr val="000000"/>
              </a:solidFill>
              <a:effectLst/>
              <a:uFillTx/>
              <a:latin typeface="Arial" panose="020B0604020202090204"/>
            </a:endParaRPr>
          </a:p>
        </p:txBody>
      </p:sp>
      <p:sp>
        <p:nvSpPr>
          <p:cNvPr id="139" name="Shape 40"/>
          <p:cNvSpPr/>
          <p:nvPr/>
        </p:nvSpPr>
        <p:spPr>
          <a:xfrm>
            <a:off x="822960" y="5650920"/>
            <a:ext cx="10469520" cy="502560"/>
          </a:xfrm>
          <a:prstGeom prst="roundRect">
            <a:avLst>
              <a:gd name="adj" fmla="val 14545"/>
            </a:avLst>
          </a:prstGeom>
          <a:solidFill>
            <a:srgbClr val="232F3E"/>
          </a:solidFill>
          <a:ln w="12700">
            <a:solidFill>
              <a:srgbClr val="232F3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l"/>
            <a:endParaRPr lang="en-US" sz="1800" b="0" u="none" strike="noStrike">
              <a:solidFill>
                <a:srgbClr val="FFFFFF"/>
              </a:solidFill>
              <a:effectLst/>
              <a:uFillTx/>
              <a:latin typeface="Arial" panose="020B0604020202090204"/>
            </a:endParaRPr>
          </a:p>
        </p:txBody>
      </p:sp>
      <p:sp>
        <p:nvSpPr>
          <p:cNvPr id="140" name="Text 41"/>
          <p:cNvSpPr/>
          <p:nvPr/>
        </p:nvSpPr>
        <p:spPr>
          <a:xfrm>
            <a:off x="987480" y="5815440"/>
            <a:ext cx="10122120" cy="1825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algn="l" defTabSz="914400">
              <a:lnSpc>
                <a:spcPct val="100000"/>
              </a:lnSpc>
              <a:tabLst>
                <a:tab pos="0" algn="l"/>
              </a:tabLst>
            </a:pPr>
            <a:r>
              <a:rPr lang="en-US" sz="1000" b="1" u="none" strike="noStrike" dirty="0">
                <a:solidFill>
                  <a:srgbClr val="FFFFFF"/>
                </a:solidFill>
                <a:effectLst/>
                <a:uFillTx/>
                <a:latin typeface="Aptos"/>
                <a:ea typeface="Aptos"/>
              </a:rPr>
              <a:t>Overall takeaway: Amazon’s e-commerce advantage depends not only on technology and scale, but also on managing cost, trust, platform governance and sustainability.</a:t>
            </a:r>
            <a:endParaRPr lang="en-US" sz="1000" b="0" u="none" strike="noStrike" dirty="0">
              <a:solidFill>
                <a:srgbClr val="000000"/>
              </a:solidFill>
              <a:effectLst/>
              <a:uFillTx/>
              <a:latin typeface="Arial" panose="020B0604020202090204"/>
            </a:endParaRPr>
          </a:p>
        </p:txBody>
      </p:sp>
      <p:sp>
        <p:nvSpPr>
          <p:cNvPr id="141" name="Text 42"/>
          <p:cNvSpPr/>
          <p:nvPr/>
        </p:nvSpPr>
        <p:spPr>
          <a:xfrm>
            <a:off x="502920" y="6556320"/>
            <a:ext cx="1115532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650" b="0" i="1" u="none" strike="noStrike">
                <a:solidFill>
                  <a:srgbClr val="6B7280"/>
                </a:solidFill>
                <a:effectLst/>
                <a:uFillTx/>
                <a:latin typeface="Aptos"/>
              </a:rPr>
              <a:t>Sources: Amazon.com, Inc. Form 10-K; Amazon Privacy Notice; FTC Second Amended Complaint; AP News; Amazon Sustainability Report.</a:t>
            </a:r>
            <a:endParaRPr lang="en-US" sz="650" b="0" u="none" strike="noStrike">
              <a:solidFill>
                <a:srgbClr val="000000"/>
              </a:solidFill>
              <a:effectLst/>
              <a:uFillTx/>
              <a:latin typeface="Arial" panose="020B0604020202090204"/>
            </a:endParaRPr>
          </a:p>
        </p:txBody>
      </p:sp>
      <p:pic>
        <p:nvPicPr>
          <p:cNvPr id="3" name="图片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94800" y="1813380"/>
            <a:ext cx="360000" cy="360000"/>
          </a:xfrm>
          <a:prstGeom prst="rect">
            <a:avLst/>
          </a:prstGeom>
        </p:spPr>
      </p:pic>
      <p:pic>
        <p:nvPicPr>
          <p:cNvPr id="5" name="图片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flipH="1">
            <a:off x="694800" y="2661840"/>
            <a:ext cx="360000" cy="360000"/>
          </a:xfrm>
          <a:prstGeom prst="rect">
            <a:avLst/>
          </a:prstGeom>
        </p:spPr>
      </p:pic>
      <p:pic>
        <p:nvPicPr>
          <p:cNvPr id="7" name="图片 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18920" y="3498697"/>
            <a:ext cx="360000" cy="360000"/>
          </a:xfrm>
          <a:prstGeom prst="rect">
            <a:avLst/>
          </a:prstGeom>
        </p:spPr>
      </p:pic>
      <p:pic>
        <p:nvPicPr>
          <p:cNvPr id="9" name="图片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94800" y="4341600"/>
            <a:ext cx="360000" cy="360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475488"/>
          </a:xfrm>
          <a:prstGeom prst="rect">
            <a:avLst/>
          </a:prstGeom>
          <a:solidFill>
            <a:srgbClr val="FF9900"/>
          </a:solidFill>
          <a:ln w="12700">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n-ea"/>
            </a:endParaRPr>
          </a:p>
        </p:txBody>
      </p:sp>
      <p:sp>
        <p:nvSpPr>
          <p:cNvPr id="3" name="TextBox 2"/>
          <p:cNvSpPr txBox="1"/>
          <p:nvPr/>
        </p:nvSpPr>
        <p:spPr>
          <a:xfrm>
            <a:off x="256032" y="128016"/>
            <a:ext cx="4114800" cy="186690"/>
          </a:xfrm>
          <a:prstGeom prst="rect">
            <a:avLst/>
          </a:prstGeom>
          <a:noFill/>
        </p:spPr>
        <p:txBody>
          <a:bodyPr wrap="square" lIns="18288" tIns="9144" rIns="18288" bIns="9144" anchor="t">
            <a:spAutoFit/>
          </a:bodyPr>
          <a:lstStyle/>
          <a:p>
            <a:pPr algn="l"/>
            <a:r>
              <a:rPr lang="en-US" sz="1100" b="1" i="0">
                <a:solidFill>
                  <a:srgbClr val="FFFFFF"/>
                </a:solidFill>
                <a:latin typeface="+mn-ea"/>
              </a:rPr>
              <a:t>Xin.he 2145653</a:t>
            </a:r>
            <a:endParaRPr lang="en-US" sz="1100" b="1" i="0">
              <a:solidFill>
                <a:srgbClr val="1F3A5F"/>
              </a:solidFill>
              <a:latin typeface="+mn-ea"/>
            </a:endParaRPr>
          </a:p>
        </p:txBody>
      </p:sp>
      <p:sp>
        <p:nvSpPr>
          <p:cNvPr id="4" name="TextBox 3"/>
          <p:cNvSpPr txBox="1"/>
          <p:nvPr/>
        </p:nvSpPr>
        <p:spPr>
          <a:xfrm>
            <a:off x="9875520" y="128016"/>
            <a:ext cx="2011680" cy="187744"/>
          </a:xfrm>
          <a:prstGeom prst="rect">
            <a:avLst/>
          </a:prstGeom>
          <a:noFill/>
        </p:spPr>
        <p:txBody>
          <a:bodyPr wrap="square" lIns="18288" tIns="9144" rIns="18288" bIns="9144" anchor="t">
            <a:spAutoFit/>
          </a:bodyPr>
          <a:lstStyle/>
          <a:p>
            <a:pPr algn="r"/>
            <a:r>
              <a:rPr sz="1100" b="1" i="0">
                <a:solidFill>
                  <a:srgbClr val="FFFFFF"/>
                </a:solidFill>
                <a:latin typeface="+mn-ea"/>
              </a:rPr>
              <a:t>Warby Parker</a:t>
            </a:r>
            <a:endParaRPr sz="1100" b="1" i="0">
              <a:solidFill>
                <a:srgbClr val="1F3A5F"/>
              </a:solidFill>
              <a:latin typeface="+mn-ea"/>
            </a:endParaRPr>
          </a:p>
        </p:txBody>
      </p:sp>
      <p:pic>
        <p:nvPicPr>
          <p:cNvPr id="5" name="图片 4" descr="截屏2026-05-27 19.07.50"/>
          <p:cNvPicPr>
            <a:picLocks noChangeAspect="1"/>
          </p:cNvPicPr>
          <p:nvPr/>
        </p:nvPicPr>
        <p:blipFill>
          <a:blip r:embed="rId2"/>
          <a:srcRect l="3083" b="-156"/>
          <a:stretch>
            <a:fillRect/>
          </a:stretch>
        </p:blipFill>
        <p:spPr>
          <a:xfrm>
            <a:off x="0" y="475615"/>
            <a:ext cx="12189460" cy="6382385"/>
          </a:xfrm>
          <a:prstGeom prst="rect">
            <a:avLst/>
          </a:prstGeom>
        </p:spPr>
      </p:pic>
      <p:sp>
        <p:nvSpPr>
          <p:cNvPr id="6" name="Rectangle 5"/>
          <p:cNvSpPr/>
          <p:nvPr/>
        </p:nvSpPr>
        <p:spPr>
          <a:xfrm>
            <a:off x="0" y="5440680"/>
            <a:ext cx="12191365" cy="1417320"/>
          </a:xfrm>
          <a:prstGeom prst="rect">
            <a:avLst/>
          </a:prstGeom>
          <a:solidFill>
            <a:srgbClr val="0A1A2E">
              <a:alpha val="7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n-ea"/>
            </a:endParaRPr>
          </a:p>
        </p:txBody>
      </p:sp>
      <p:sp>
        <p:nvSpPr>
          <p:cNvPr id="7" name="Rectangle 6"/>
          <p:cNvSpPr/>
          <p:nvPr/>
        </p:nvSpPr>
        <p:spPr>
          <a:xfrm>
            <a:off x="0" y="5440680"/>
            <a:ext cx="12191365" cy="36576"/>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n-ea"/>
            </a:endParaRPr>
          </a:p>
        </p:txBody>
      </p:sp>
      <p:sp>
        <p:nvSpPr>
          <p:cNvPr id="8" name="TextBox 7"/>
          <p:cNvSpPr txBox="1"/>
          <p:nvPr/>
        </p:nvSpPr>
        <p:spPr>
          <a:xfrm>
            <a:off x="411480" y="5577840"/>
            <a:ext cx="1992020" cy="430887"/>
          </a:xfrm>
          <a:prstGeom prst="rect">
            <a:avLst/>
          </a:prstGeom>
          <a:noFill/>
        </p:spPr>
        <p:txBody>
          <a:bodyPr wrap="none">
            <a:spAutoFit/>
          </a:bodyPr>
          <a:lstStyle/>
          <a:p>
            <a:r>
              <a:rPr sz="2200" b="1">
                <a:solidFill>
                  <a:srgbClr val="FFFFFF"/>
                </a:solidFill>
                <a:latin typeface="+mn-ea"/>
              </a:rPr>
              <a:t>Warby Parker</a:t>
            </a:r>
          </a:p>
        </p:txBody>
      </p:sp>
      <p:sp>
        <p:nvSpPr>
          <p:cNvPr id="9" name="TextBox 8"/>
          <p:cNvSpPr txBox="1"/>
          <p:nvPr/>
        </p:nvSpPr>
        <p:spPr>
          <a:xfrm>
            <a:off x="411480" y="6108192"/>
            <a:ext cx="1297150" cy="261610"/>
          </a:xfrm>
          <a:prstGeom prst="rect">
            <a:avLst/>
          </a:prstGeom>
          <a:noFill/>
        </p:spPr>
        <p:txBody>
          <a:bodyPr wrap="none">
            <a:spAutoFit/>
          </a:bodyPr>
          <a:lstStyle/>
          <a:p>
            <a:r>
              <a:rPr sz="1100" b="0">
                <a:solidFill>
                  <a:srgbClr val="FFCC80"/>
                </a:solidFill>
                <a:latin typeface="+mn-ea"/>
              </a:rPr>
              <a:t>Xinhe  ·  2145653</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475488"/>
          </a:xfrm>
          <a:prstGeom prst="rect">
            <a:avLst/>
          </a:prstGeom>
          <a:solidFill>
            <a:srgbClr val="FF9900"/>
          </a:solidFill>
          <a:ln w="12700">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ptos" panose="020B0004020202020204" pitchFamily="34" charset="0"/>
            </a:endParaRPr>
          </a:p>
        </p:txBody>
      </p:sp>
      <p:sp>
        <p:nvSpPr>
          <p:cNvPr id="3" name="TextBox 2"/>
          <p:cNvSpPr txBox="1"/>
          <p:nvPr/>
        </p:nvSpPr>
        <p:spPr>
          <a:xfrm>
            <a:off x="256032" y="128016"/>
            <a:ext cx="4114800" cy="186690"/>
          </a:xfrm>
          <a:prstGeom prst="rect">
            <a:avLst/>
          </a:prstGeom>
          <a:noFill/>
        </p:spPr>
        <p:txBody>
          <a:bodyPr wrap="square" lIns="18288" tIns="9144" rIns="18288" bIns="9144" anchor="t">
            <a:spAutoFit/>
          </a:bodyPr>
          <a:lstStyle/>
          <a:p>
            <a:pPr algn="l"/>
            <a:r>
              <a:rPr lang="en-US" sz="1100" b="1" i="0">
                <a:solidFill>
                  <a:srgbClr val="FFFFFF"/>
                </a:solidFill>
                <a:latin typeface="Aptos" panose="020B0004020202020204" pitchFamily="34" charset="0"/>
              </a:rPr>
              <a:t>Xin.he 2145653</a:t>
            </a:r>
            <a:endParaRPr lang="en-US" sz="1100" b="1" i="0">
              <a:solidFill>
                <a:srgbClr val="1F3A5F"/>
              </a:solidFill>
              <a:latin typeface="Aptos" panose="020B0004020202020204" pitchFamily="34" charset="0"/>
            </a:endParaRPr>
          </a:p>
        </p:txBody>
      </p:sp>
      <p:sp>
        <p:nvSpPr>
          <p:cNvPr id="4" name="TextBox 3"/>
          <p:cNvSpPr txBox="1"/>
          <p:nvPr/>
        </p:nvSpPr>
        <p:spPr>
          <a:xfrm>
            <a:off x="9875520" y="128016"/>
            <a:ext cx="2011680" cy="187744"/>
          </a:xfrm>
          <a:prstGeom prst="rect">
            <a:avLst/>
          </a:prstGeom>
          <a:noFill/>
        </p:spPr>
        <p:txBody>
          <a:bodyPr wrap="square" lIns="18288" tIns="9144" rIns="18288" bIns="9144" anchor="t">
            <a:spAutoFit/>
          </a:bodyPr>
          <a:lstStyle/>
          <a:p>
            <a:pPr algn="r"/>
            <a:r>
              <a:rPr sz="1100" b="1" i="0">
                <a:solidFill>
                  <a:srgbClr val="FFFFFF"/>
                </a:solidFill>
                <a:latin typeface="Aptos" panose="020B0004020202020204" pitchFamily="34" charset="0"/>
              </a:rPr>
              <a:t>Warby Parker</a:t>
            </a:r>
            <a:endParaRPr sz="1100" b="1" i="0">
              <a:solidFill>
                <a:srgbClr val="1F3A5F"/>
              </a:solidFill>
              <a:latin typeface="Aptos" panose="020B0004020202020204" pitchFamily="34" charset="0"/>
            </a:endParaRPr>
          </a:p>
        </p:txBody>
      </p:sp>
      <p:sp>
        <p:nvSpPr>
          <p:cNvPr id="5" name="TextBox 4"/>
          <p:cNvSpPr txBox="1"/>
          <p:nvPr/>
        </p:nvSpPr>
        <p:spPr>
          <a:xfrm>
            <a:off x="301625" y="610362"/>
            <a:ext cx="11155680" cy="401955"/>
          </a:xfrm>
          <a:prstGeom prst="rect">
            <a:avLst/>
          </a:prstGeom>
          <a:noFill/>
        </p:spPr>
        <p:txBody>
          <a:bodyPr wrap="square" lIns="18288" tIns="9144" rIns="18288" bIns="9144" anchor="t">
            <a:spAutoFit/>
          </a:bodyPr>
          <a:lstStyle/>
          <a:p>
            <a:pPr algn="l"/>
            <a:r>
              <a:rPr sz="2500" b="1" i="0">
                <a:solidFill>
                  <a:srgbClr val="1F3A5F"/>
                </a:solidFill>
                <a:latin typeface="Aptos" panose="020B0004020202020204" pitchFamily="34" charset="0"/>
              </a:rPr>
              <a:t>Warby Parker：</a:t>
            </a:r>
            <a:r>
              <a:rPr lang="en-US" altLang="zh-CN" sz="2500" b="1" i="0">
                <a:solidFill>
                  <a:srgbClr val="1F3A5F"/>
                </a:solidFill>
                <a:latin typeface="Aptos" panose="020B0004020202020204" pitchFamily="34" charset="0"/>
              </a:rPr>
              <a:t>Reshaping Eyewear Retail with E-commerce Strategies</a:t>
            </a:r>
          </a:p>
        </p:txBody>
      </p:sp>
      <p:sp>
        <p:nvSpPr>
          <p:cNvPr id="40" name="Rectangle 39"/>
          <p:cNvSpPr/>
          <p:nvPr/>
        </p:nvSpPr>
        <p:spPr>
          <a:xfrm>
            <a:off x="457200" y="6473952"/>
            <a:ext cx="11247120" cy="9144"/>
          </a:xfrm>
          <a:prstGeom prst="rect">
            <a:avLst/>
          </a:prstGeom>
          <a:solidFill>
            <a:srgbClr val="FF9900"/>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Aptos" panose="020B0004020202020204" pitchFamily="34" charset="0"/>
            </a:endParaRPr>
          </a:p>
        </p:txBody>
      </p:sp>
      <p:pic>
        <p:nvPicPr>
          <p:cNvPr id="45" name="图片 44" descr="截屏2026-05-27 13.15.53"/>
          <p:cNvPicPr>
            <a:picLocks noChangeAspect="1"/>
          </p:cNvPicPr>
          <p:nvPr/>
        </p:nvPicPr>
        <p:blipFill>
          <a:blip r:embed="rId3"/>
          <a:srcRect r="5666"/>
          <a:stretch>
            <a:fillRect/>
          </a:stretch>
        </p:blipFill>
        <p:spPr>
          <a:xfrm>
            <a:off x="9291955" y="1920240"/>
            <a:ext cx="2653030" cy="1651635"/>
          </a:xfrm>
          <a:prstGeom prst="rect">
            <a:avLst/>
          </a:prstGeom>
        </p:spPr>
      </p:pic>
      <p:pic>
        <p:nvPicPr>
          <p:cNvPr id="7" name="图片 6" descr="截屏2026-05-27 14.30.44"/>
          <p:cNvPicPr>
            <a:picLocks noChangeAspect="1"/>
          </p:cNvPicPr>
          <p:nvPr/>
        </p:nvPicPr>
        <p:blipFill>
          <a:blip r:embed="rId4"/>
          <a:srcRect t="12019" r="49657"/>
          <a:stretch>
            <a:fillRect/>
          </a:stretch>
        </p:blipFill>
        <p:spPr>
          <a:xfrm>
            <a:off x="7451725" y="3632200"/>
            <a:ext cx="2283460" cy="1534795"/>
          </a:xfrm>
          <a:prstGeom prst="rect">
            <a:avLst/>
          </a:prstGeom>
        </p:spPr>
      </p:pic>
      <p:pic>
        <p:nvPicPr>
          <p:cNvPr id="12" name="图片 11" descr="截屏2026-05-27 17.55.21"/>
          <p:cNvPicPr>
            <a:picLocks noChangeAspect="1"/>
          </p:cNvPicPr>
          <p:nvPr/>
        </p:nvPicPr>
        <p:blipFill>
          <a:blip r:embed="rId5"/>
          <a:stretch>
            <a:fillRect/>
          </a:stretch>
        </p:blipFill>
        <p:spPr>
          <a:xfrm>
            <a:off x="7451725" y="1920875"/>
            <a:ext cx="1840230" cy="1566545"/>
          </a:xfrm>
          <a:prstGeom prst="rect">
            <a:avLst/>
          </a:prstGeom>
        </p:spPr>
      </p:pic>
      <p:pic>
        <p:nvPicPr>
          <p:cNvPr id="13" name="图片 12" descr="截屏2026-05-27 17.56.04"/>
          <p:cNvPicPr>
            <a:picLocks noChangeAspect="1"/>
          </p:cNvPicPr>
          <p:nvPr/>
        </p:nvPicPr>
        <p:blipFill>
          <a:blip r:embed="rId6"/>
          <a:stretch>
            <a:fillRect/>
          </a:stretch>
        </p:blipFill>
        <p:spPr>
          <a:xfrm>
            <a:off x="10821670" y="3710940"/>
            <a:ext cx="1113790" cy="1257300"/>
          </a:xfrm>
          <a:prstGeom prst="rect">
            <a:avLst/>
          </a:prstGeom>
        </p:spPr>
      </p:pic>
      <p:pic>
        <p:nvPicPr>
          <p:cNvPr id="14" name="图片 13" descr="截屏2026-05-27 14.30.44"/>
          <p:cNvPicPr>
            <a:picLocks noChangeAspect="1"/>
          </p:cNvPicPr>
          <p:nvPr/>
        </p:nvPicPr>
        <p:blipFill>
          <a:blip r:embed="rId4"/>
          <a:srcRect l="74355" t="12019"/>
          <a:stretch>
            <a:fillRect/>
          </a:stretch>
        </p:blipFill>
        <p:spPr>
          <a:xfrm>
            <a:off x="9782810" y="3571875"/>
            <a:ext cx="1163320" cy="1534795"/>
          </a:xfrm>
          <a:prstGeom prst="rect">
            <a:avLst/>
          </a:prstGeom>
        </p:spPr>
      </p:pic>
      <p:graphicFrame>
        <p:nvGraphicFramePr>
          <p:cNvPr id="8" name="表格 7"/>
          <p:cNvGraphicFramePr/>
          <p:nvPr>
            <p:custDataLst>
              <p:tags r:id="rId1"/>
            </p:custDataLst>
            <p:extLst>
              <p:ext uri="{D42A27DB-BD31-4B8C-83A1-F6EECF244321}">
                <p14:modId xmlns:p14="http://schemas.microsoft.com/office/powerpoint/2010/main" val="2645072548"/>
              </p:ext>
            </p:extLst>
          </p:nvPr>
        </p:nvGraphicFramePr>
        <p:xfrm>
          <a:off x="301625" y="1147191"/>
          <a:ext cx="6483350" cy="5262880"/>
        </p:xfrm>
        <a:graphic>
          <a:graphicData uri="http://schemas.openxmlformats.org/drawingml/2006/table">
            <a:tbl>
              <a:tblPr/>
              <a:tblGrid>
                <a:gridCol w="837565">
                  <a:extLst>
                    <a:ext uri="{9D8B030D-6E8A-4147-A177-3AD203B41FA5}">
                      <a16:colId xmlns:a16="http://schemas.microsoft.com/office/drawing/2014/main" val="20000"/>
                    </a:ext>
                  </a:extLst>
                </a:gridCol>
                <a:gridCol w="1818499">
                  <a:extLst>
                    <a:ext uri="{9D8B030D-6E8A-4147-A177-3AD203B41FA5}">
                      <a16:colId xmlns:a16="http://schemas.microsoft.com/office/drawing/2014/main" val="20001"/>
                    </a:ext>
                  </a:extLst>
                </a:gridCol>
                <a:gridCol w="1995311">
                  <a:extLst>
                    <a:ext uri="{9D8B030D-6E8A-4147-A177-3AD203B41FA5}">
                      <a16:colId xmlns:a16="http://schemas.microsoft.com/office/drawing/2014/main" val="20002"/>
                    </a:ext>
                  </a:extLst>
                </a:gridCol>
                <a:gridCol w="1831975">
                  <a:extLst>
                    <a:ext uri="{9D8B030D-6E8A-4147-A177-3AD203B41FA5}">
                      <a16:colId xmlns:a16="http://schemas.microsoft.com/office/drawing/2014/main" val="20003"/>
                    </a:ext>
                  </a:extLst>
                </a:gridCol>
              </a:tblGrid>
              <a:tr h="365760">
                <a:tc>
                  <a:txBody>
                    <a:bodyPr/>
                    <a:lstStyle/>
                    <a:p>
                      <a:pPr algn="l">
                        <a:buNone/>
                      </a:pPr>
                      <a:r>
                        <a:rPr lang="en-US" altLang="zh-CN" sz="1100" b="1">
                          <a:solidFill>
                            <a:srgbClr val="FFFFFF"/>
                          </a:solidFill>
                        </a:rPr>
                        <a:t>Strategy</a:t>
                      </a:r>
                      <a:endParaRPr lang="en-US" altLang="zh-CN" sz="1100"/>
                    </a:p>
                  </a:txBody>
                  <a:tcPr marL="63500" marR="63500" marT="50800" marB="50800">
                    <a:lnL w="6350" cap="flat" cmpd="sng">
                      <a:solidFill>
                        <a:srgbClr val="D0D0D0"/>
                      </a:solidFill>
                      <a:prstDash val="solid"/>
                    </a:lnL>
                    <a:lnR w="6350" cap="flat" cmpd="sng">
                      <a:solidFill>
                        <a:srgbClr val="D0D0D0"/>
                      </a:solidFill>
                      <a:prstDash val="solid"/>
                    </a:lnR>
                    <a:lnT w="6350" cap="flat" cmpd="sng">
                      <a:solidFill>
                        <a:srgbClr val="D0D0D0"/>
                      </a:solidFill>
                      <a:prstDash val="solid"/>
                    </a:lnT>
                    <a:lnB w="6350" cap="flat" cmpd="sng">
                      <a:solidFill>
                        <a:srgbClr val="D0D0D0"/>
                      </a:solidFill>
                      <a:prstDash val="solid"/>
                    </a:lnB>
                    <a:solidFill>
                      <a:srgbClr val="FFAD33"/>
                    </a:solidFill>
                  </a:tcPr>
                </a:tc>
                <a:tc>
                  <a:txBody>
                    <a:bodyPr/>
                    <a:lstStyle/>
                    <a:p>
                      <a:pPr algn="l">
                        <a:buNone/>
                      </a:pPr>
                      <a:r>
                        <a:rPr lang="en-US" altLang="zh-CN" sz="1100" b="1">
                          <a:solidFill>
                            <a:srgbClr val="FFFFFF"/>
                          </a:solidFill>
                        </a:rPr>
                        <a:t>Warby Parker’s Measures</a:t>
                      </a:r>
                      <a:endParaRPr lang="en-US" altLang="zh-CN" sz="1100"/>
                    </a:p>
                  </a:txBody>
                  <a:tcPr marL="63500" marR="63500" marT="50800" marB="50800">
                    <a:lnL w="6350" cap="flat" cmpd="sng">
                      <a:solidFill>
                        <a:srgbClr val="D0D0D0"/>
                      </a:solidFill>
                      <a:prstDash val="solid"/>
                    </a:lnL>
                    <a:lnR w="6350" cap="flat" cmpd="sng">
                      <a:solidFill>
                        <a:srgbClr val="D0D0D0"/>
                      </a:solidFill>
                      <a:prstDash val="solid"/>
                    </a:lnR>
                    <a:lnT w="6350" cap="flat" cmpd="sng">
                      <a:solidFill>
                        <a:srgbClr val="D0D0D0"/>
                      </a:solidFill>
                      <a:prstDash val="solid"/>
                    </a:lnT>
                    <a:lnB w="6350" cap="flat" cmpd="sng">
                      <a:solidFill>
                        <a:srgbClr val="D0D0D0"/>
                      </a:solidFill>
                      <a:prstDash val="solid"/>
                    </a:lnB>
                    <a:solidFill>
                      <a:srgbClr val="FFAD33"/>
                    </a:solidFill>
                  </a:tcPr>
                </a:tc>
                <a:tc>
                  <a:txBody>
                    <a:bodyPr/>
                    <a:lstStyle/>
                    <a:p>
                      <a:pPr algn="l">
                        <a:buNone/>
                      </a:pPr>
                      <a:r>
                        <a:rPr lang="en-US" altLang="zh-CN" sz="1100" b="1">
                          <a:solidFill>
                            <a:srgbClr val="FFFFFF"/>
                          </a:solidFill>
                        </a:rPr>
                        <a:t>Business Components</a:t>
                      </a:r>
                      <a:endParaRPr lang="en-US" altLang="zh-CN" sz="1100"/>
                    </a:p>
                  </a:txBody>
                  <a:tcPr marL="63500" marR="63500" marT="50800" marB="50800">
                    <a:lnL w="6350" cap="flat" cmpd="sng">
                      <a:solidFill>
                        <a:srgbClr val="D0D0D0"/>
                      </a:solidFill>
                      <a:prstDash val="solid"/>
                    </a:lnL>
                    <a:lnR w="6350" cap="flat" cmpd="sng">
                      <a:solidFill>
                        <a:srgbClr val="D0D0D0"/>
                      </a:solidFill>
                      <a:prstDash val="solid"/>
                    </a:lnR>
                    <a:lnT w="6350" cap="flat" cmpd="sng">
                      <a:solidFill>
                        <a:srgbClr val="D0D0D0"/>
                      </a:solidFill>
                      <a:prstDash val="solid"/>
                    </a:lnT>
                    <a:lnB w="6350" cap="flat" cmpd="sng">
                      <a:solidFill>
                        <a:srgbClr val="D0D0D0"/>
                      </a:solidFill>
                      <a:prstDash val="solid"/>
                    </a:lnB>
                    <a:solidFill>
                      <a:srgbClr val="FFAD33"/>
                    </a:solidFill>
                  </a:tcPr>
                </a:tc>
                <a:tc>
                  <a:txBody>
                    <a:bodyPr/>
                    <a:lstStyle/>
                    <a:p>
                      <a:pPr algn="l">
                        <a:buNone/>
                      </a:pPr>
                      <a:r>
                        <a:rPr lang="en-US" altLang="zh-CN" sz="1100" b="1">
                          <a:solidFill>
                            <a:srgbClr val="FFFFFF"/>
                          </a:solidFill>
                        </a:rPr>
                        <a:t>Result</a:t>
                      </a:r>
                      <a:endParaRPr lang="en-US" altLang="zh-CN" sz="1100"/>
                    </a:p>
                  </a:txBody>
                  <a:tcPr marL="63500" marR="63500" marT="50800" marB="50800">
                    <a:lnL w="6350" cap="flat" cmpd="sng">
                      <a:solidFill>
                        <a:srgbClr val="D0D0D0"/>
                      </a:solidFill>
                      <a:prstDash val="solid"/>
                    </a:lnL>
                    <a:lnR w="6350" cap="flat" cmpd="sng">
                      <a:solidFill>
                        <a:srgbClr val="D0D0D0"/>
                      </a:solidFill>
                      <a:prstDash val="solid"/>
                    </a:lnR>
                    <a:lnT w="6350" cap="flat" cmpd="sng">
                      <a:solidFill>
                        <a:srgbClr val="D0D0D0"/>
                      </a:solidFill>
                      <a:prstDash val="solid"/>
                    </a:lnT>
                    <a:lnB w="6350" cap="flat" cmpd="sng">
                      <a:solidFill>
                        <a:srgbClr val="D0D0D0"/>
                      </a:solidFill>
                      <a:prstDash val="solid"/>
                    </a:lnB>
                    <a:solidFill>
                      <a:srgbClr val="FFAD33"/>
                    </a:solidFill>
                  </a:tcPr>
                </a:tc>
                <a:extLst>
                  <a:ext uri="{0D108BD9-81ED-4DB2-BD59-A6C34878D82A}">
                    <a16:rowId xmlns:a16="http://schemas.microsoft.com/office/drawing/2014/main" val="10000"/>
                  </a:ext>
                </a:extLst>
              </a:tr>
              <a:tr h="204470">
                <a:tc>
                  <a:txBody>
                    <a:bodyPr/>
                    <a:lstStyle/>
                    <a:p>
                      <a:pPr algn="l">
                        <a:buNone/>
                      </a:pPr>
                      <a:r>
                        <a:rPr lang="en-US" altLang="zh-CN" sz="1100" b="1">
                          <a:solidFill>
                            <a:srgbClr val="1F3A5F"/>
                          </a:solidFill>
                        </a:rPr>
                        <a:t>Differentiation – Customer Intimacy</a:t>
                      </a:r>
                      <a:endParaRPr lang="en-US" altLang="zh-CN" sz="1100"/>
                    </a:p>
                  </a:txBody>
                  <a:tcPr marL="63500" marR="63500" marT="50800" marB="50800">
                    <a:lnL w="6350" cap="flat" cmpd="sng">
                      <a:solidFill>
                        <a:srgbClr val="D0D0D0"/>
                      </a:solidFill>
                      <a:prstDash val="solid"/>
                    </a:lnL>
                    <a:lnR w="6350" cap="flat" cmpd="sng">
                      <a:solidFill>
                        <a:srgbClr val="D0D0D0"/>
                      </a:solidFill>
                      <a:prstDash val="solid"/>
                    </a:lnR>
                    <a:lnT w="6350" cap="flat" cmpd="sng">
                      <a:solidFill>
                        <a:srgbClr val="D0D0D0"/>
                      </a:solidFill>
                      <a:prstDash val="solid"/>
                    </a:lnT>
                    <a:lnB w="6350" cap="flat" cmpd="sng">
                      <a:solidFill>
                        <a:srgbClr val="D0D0D0"/>
                      </a:solidFill>
                      <a:prstDash val="solid"/>
                    </a:lnB>
                    <a:solidFill>
                      <a:srgbClr val="FFF7ED"/>
                    </a:solidFill>
                  </a:tcPr>
                </a:tc>
                <a:tc>
                  <a:txBody>
                    <a:bodyPr/>
                    <a:lstStyle/>
                    <a:p>
                      <a:pPr marL="171450" indent="-171450">
                        <a:buFont typeface="Arial" panose="020B0604020202090204" pitchFamily="34" charset="0"/>
                        <a:buChar char="•"/>
                      </a:pPr>
                      <a:r>
                        <a:rPr lang="en-US" altLang="zh-CN" sz="1100" b="0">
                          <a:solidFill>
                            <a:srgbClr val="1F2937"/>
                          </a:solidFill>
                        </a:rPr>
                        <a:t>Virtual Try-On + Advisor personalized recommendations</a:t>
                      </a:r>
                      <a:endParaRPr lang="en-US" altLang="zh-CN" sz="1100"/>
                    </a:p>
                    <a:p>
                      <a:pPr marL="171450" indent="-171450">
                        <a:buFont typeface="Arial" panose="020B0604020202090204" pitchFamily="34" charset="0"/>
                        <a:buChar char="•"/>
                      </a:pPr>
                      <a:r>
                        <a:rPr lang="en-US" altLang="zh-CN" sz="1100" b="0">
                          <a:solidFill>
                            <a:srgbClr val="1F2937"/>
                          </a:solidFill>
                        </a:rPr>
                        <a:t> 323 stores by end of 2025; 285 offer in-person eye exams</a:t>
                      </a:r>
                      <a:endParaRPr lang="en-US" altLang="zh-CN" sz="1100"/>
                    </a:p>
                    <a:p>
                      <a:pPr marL="171450" indent="-171450">
                        <a:buFont typeface="Arial" panose="020B0604020202090204" pitchFamily="34" charset="0"/>
                        <a:buChar char="•"/>
                      </a:pPr>
                      <a:r>
                        <a:rPr lang="en-US" altLang="zh-CN" sz="1100" b="0">
                          <a:solidFill>
                            <a:srgbClr val="1F2937"/>
                          </a:solidFill>
                          <a:sym typeface="+mn-ea"/>
                        </a:rPr>
                        <a:t>• </a:t>
                      </a:r>
                      <a:r>
                        <a:rPr lang="en-US" altLang="zh-CN" sz="1100" b="0">
                          <a:solidFill>
                            <a:srgbClr val="1F2937"/>
                          </a:solidFill>
                        </a:rPr>
                        <a:t>Home Try-On discontinued; shifted to Virtual Try-On + in-store experience</a:t>
                      </a:r>
                      <a:endParaRPr lang="en-US" altLang="zh-CN" sz="1100"/>
                    </a:p>
                    <a:p>
                      <a:pPr marL="171450" indent="-171450">
                        <a:buFont typeface="Arial" panose="020B0604020202090204" pitchFamily="34" charset="0"/>
                        <a:buChar char="•"/>
                      </a:pPr>
                      <a:r>
                        <a:rPr lang="en-US" altLang="zh-CN" sz="1100" b="0">
                          <a:solidFill>
                            <a:srgbClr val="1F2937"/>
                          </a:solidFill>
                        </a:rPr>
                        <a:t>(Warby Parker Inc., 2026a; Warby Parker Inc., 2026b; Wassel, 2025)</a:t>
                      </a:r>
                      <a:endParaRPr lang="en-US" altLang="zh-CN" sz="1100"/>
                    </a:p>
                  </a:txBody>
                  <a:tcPr marL="63500" marR="63500" marT="50800" marB="50800">
                    <a:lnL w="6350" cap="flat" cmpd="sng">
                      <a:solidFill>
                        <a:srgbClr val="D0D0D0"/>
                      </a:solidFill>
                      <a:prstDash val="solid"/>
                    </a:lnL>
                    <a:lnR w="6350" cap="flat" cmpd="sng">
                      <a:solidFill>
                        <a:srgbClr val="D0D0D0"/>
                      </a:solidFill>
                      <a:prstDash val="solid"/>
                    </a:lnR>
                    <a:lnT w="6350" cap="flat" cmpd="sng">
                      <a:solidFill>
                        <a:srgbClr val="D0D0D0"/>
                      </a:solidFill>
                      <a:prstDash val="solid"/>
                    </a:lnT>
                    <a:lnB w="6350" cap="flat" cmpd="sng">
                      <a:solidFill>
                        <a:srgbClr val="D0D0D0"/>
                      </a:solidFill>
                      <a:prstDash val="solid"/>
                    </a:lnB>
                    <a:solidFill>
                      <a:srgbClr val="FFFFFF"/>
                    </a:solidFill>
                  </a:tcPr>
                </a:tc>
                <a:tc>
                  <a:txBody>
                    <a:bodyPr/>
                    <a:lstStyle/>
                    <a:p>
                      <a:pPr marL="171450" indent="-171450">
                        <a:buFont typeface="Arial" panose="020B0604020202090204" pitchFamily="34" charset="0"/>
                        <a:buChar char="•"/>
                      </a:pPr>
                      <a:r>
                        <a:rPr lang="en-US" altLang="zh-CN" sz="1100" b="0">
                          <a:solidFill>
                            <a:srgbClr val="1F2937"/>
                          </a:solidFill>
                        </a:rPr>
                        <a:t>Value proposition: Reduce uncertainty of buying prescription glasses online</a:t>
                      </a:r>
                      <a:endParaRPr lang="en-US" altLang="zh-CN" sz="1100"/>
                    </a:p>
                    <a:p>
                      <a:pPr marL="171450" indent="-171450">
                        <a:buFont typeface="Arial" panose="020B0604020202090204" pitchFamily="34" charset="0"/>
                        <a:buChar char="•"/>
                      </a:pPr>
                      <a:r>
                        <a:rPr lang="en-US" altLang="zh-CN" sz="1100" b="0">
                          <a:solidFill>
                            <a:srgbClr val="1F2937"/>
                          </a:solidFill>
                        </a:rPr>
                        <a:t>Market strategy: Boost conversion with AR/AI recommendations + physical stores</a:t>
                      </a:r>
                      <a:endParaRPr lang="en-US" altLang="zh-CN" sz="1100"/>
                    </a:p>
                    <a:p>
                      <a:pPr marL="171450" indent="-171450">
                        <a:buFont typeface="Arial" panose="020B0604020202090204" pitchFamily="34" charset="0"/>
                        <a:buChar char="•"/>
                      </a:pPr>
                      <a:r>
                        <a:rPr lang="en-US" altLang="zh-CN" sz="1100" b="0">
                          <a:solidFill>
                            <a:srgbClr val="1F2937"/>
                          </a:solidFill>
                        </a:rPr>
                        <a:t>Competitive advantage: Online convenience + offline professional service closed-loop</a:t>
                      </a:r>
                      <a:endParaRPr lang="en-US" altLang="zh-CN" sz="1100"/>
                    </a:p>
                  </a:txBody>
                  <a:tcPr marL="63500" marR="63500" marT="50800" marB="50800">
                    <a:lnL w="6350" cap="flat" cmpd="sng">
                      <a:solidFill>
                        <a:srgbClr val="D0D0D0"/>
                      </a:solidFill>
                      <a:prstDash val="solid"/>
                    </a:lnL>
                    <a:lnR w="6350" cap="flat" cmpd="sng">
                      <a:solidFill>
                        <a:srgbClr val="D0D0D0"/>
                      </a:solidFill>
                      <a:prstDash val="solid"/>
                    </a:lnR>
                    <a:lnT w="6350" cap="flat" cmpd="sng">
                      <a:solidFill>
                        <a:srgbClr val="D0D0D0"/>
                      </a:solidFill>
                      <a:prstDash val="solid"/>
                    </a:lnT>
                    <a:lnB w="6350" cap="flat" cmpd="sng">
                      <a:solidFill>
                        <a:srgbClr val="D0D0D0"/>
                      </a:solidFill>
                      <a:prstDash val="solid"/>
                    </a:lnB>
                    <a:solidFill>
                      <a:srgbClr val="FFFFFF"/>
                    </a:solidFill>
                  </a:tcPr>
                </a:tc>
                <a:tc>
                  <a:txBody>
                    <a:bodyPr/>
                    <a:lstStyle/>
                    <a:p>
                      <a:pPr marL="171450" indent="-171450">
                        <a:buFont typeface="Arial" panose="020B0604020202090204" pitchFamily="34" charset="0"/>
                        <a:buChar char="•"/>
                      </a:pPr>
                      <a:r>
                        <a:rPr lang="en-US" altLang="zh-CN" sz="1100" b="0">
                          <a:solidFill>
                            <a:srgbClr val="1F2937"/>
                          </a:solidFill>
                        </a:rPr>
                        <a:t>Creates an omnichannel experience: Discover online → Virtual Try-On → In-store exam → Purchase</a:t>
                      </a:r>
                      <a:endParaRPr lang="en-US" altLang="zh-CN" sz="1100"/>
                    </a:p>
                    <a:p>
                      <a:pPr marL="171450" indent="-171450">
                        <a:buFont typeface="Arial" panose="020B0604020202090204" pitchFamily="34" charset="0"/>
                        <a:buChar char="•"/>
                      </a:pPr>
                      <a:r>
                        <a:rPr lang="en-US" altLang="zh-CN" sz="1100" b="0">
                          <a:solidFill>
                            <a:srgbClr val="1F2937"/>
                          </a:solidFill>
                        </a:rPr>
                        <a:t>3/4 of iOS app users use Virtual Try-On, showing digital experience boosts customer engagement (Wassel, 2025)</a:t>
                      </a:r>
                      <a:endParaRPr lang="en-US" altLang="zh-CN" sz="1100"/>
                    </a:p>
                  </a:txBody>
                  <a:tcPr marL="63500" marR="63500" marT="50800" marB="50800">
                    <a:lnL w="6350" cap="flat" cmpd="sng">
                      <a:solidFill>
                        <a:srgbClr val="D0D0D0"/>
                      </a:solidFill>
                      <a:prstDash val="solid"/>
                    </a:lnL>
                    <a:lnR w="6350" cap="flat" cmpd="sng">
                      <a:solidFill>
                        <a:srgbClr val="D0D0D0"/>
                      </a:solidFill>
                      <a:prstDash val="solid"/>
                    </a:lnR>
                    <a:lnT w="6350" cap="flat" cmpd="sng">
                      <a:solidFill>
                        <a:srgbClr val="D0D0D0"/>
                      </a:solidFill>
                      <a:prstDash val="solid"/>
                    </a:lnT>
                    <a:lnB w="6350" cap="flat" cmpd="sng">
                      <a:solidFill>
                        <a:srgbClr val="D0D0D0"/>
                      </a:solidFill>
                      <a:prstDash val="solid"/>
                    </a:lnB>
                    <a:solidFill>
                      <a:srgbClr val="FFFFFF"/>
                    </a:solidFill>
                  </a:tcPr>
                </a:tc>
                <a:extLst>
                  <a:ext uri="{0D108BD9-81ED-4DB2-BD59-A6C34878D82A}">
                    <a16:rowId xmlns:a16="http://schemas.microsoft.com/office/drawing/2014/main" val="10001"/>
                  </a:ext>
                </a:extLst>
              </a:tr>
              <a:tr h="365760">
                <a:tc>
                  <a:txBody>
                    <a:bodyPr/>
                    <a:lstStyle/>
                    <a:p>
                      <a:pPr algn="l">
                        <a:buClrTx/>
                        <a:buSzTx/>
                        <a:buFontTx/>
                        <a:buNone/>
                      </a:pPr>
                      <a:r>
                        <a:rPr lang="en-US" altLang="zh-CN" sz="1100" b="1">
                          <a:solidFill>
                            <a:srgbClr val="1F3A5F"/>
                          </a:solidFill>
                          <a:sym typeface="+mn-ea"/>
                        </a:rPr>
                        <a:t>Differentiation </a:t>
                      </a:r>
                      <a:r>
                        <a:rPr lang="en-US" altLang="zh-CN" sz="1100" b="1">
                          <a:solidFill>
                            <a:srgbClr val="1F3A5F"/>
                          </a:solidFill>
                        </a:rPr>
                        <a:t>-</a:t>
                      </a:r>
                      <a:r>
                        <a:rPr lang="zh-CN" altLang="en-US" sz="1100" b="1">
                          <a:solidFill>
                            <a:srgbClr val="1F3A5F"/>
                          </a:solidFill>
                        </a:rPr>
                        <a:t>Product Leadership</a:t>
                      </a:r>
                      <a:endParaRPr lang="zh-CN" altLang="en-US" sz="1100"/>
                    </a:p>
                  </a:txBody>
                  <a:tcPr marL="63500" marR="63500" marT="50800" marB="50800">
                    <a:lnL w="6350" cap="flat" cmpd="sng">
                      <a:solidFill>
                        <a:srgbClr val="D0D0D0"/>
                      </a:solidFill>
                      <a:prstDash val="solid"/>
                    </a:lnL>
                    <a:lnR w="6350" cap="flat" cmpd="sng">
                      <a:solidFill>
                        <a:srgbClr val="D0D0D0"/>
                      </a:solidFill>
                      <a:prstDash val="solid"/>
                    </a:lnR>
                    <a:lnT w="6350" cap="flat" cmpd="sng">
                      <a:solidFill>
                        <a:srgbClr val="D0D0D0"/>
                      </a:solidFill>
                      <a:prstDash val="solid"/>
                    </a:lnT>
                    <a:lnB w="6350" cap="flat" cmpd="sng">
                      <a:solidFill>
                        <a:srgbClr val="D0D0D0"/>
                      </a:solidFill>
                      <a:prstDash val="solid"/>
                    </a:lnB>
                    <a:solidFill>
                      <a:srgbClr val="FFF7ED"/>
                    </a:solidFill>
                  </a:tcPr>
                </a:tc>
                <a:tc>
                  <a:txBody>
                    <a:bodyPr/>
                    <a:lstStyle/>
                    <a:p>
                      <a:pPr marL="171450" indent="-171450" algn="l">
                        <a:buClrTx/>
                        <a:buSzTx/>
                        <a:buFont typeface="Arial" panose="020B0604020202090204" pitchFamily="34" charset="0"/>
                        <a:buChar char="•"/>
                      </a:pPr>
                      <a:r>
                        <a:rPr lang="en-US" altLang="zh-CN" sz="1100" b="0">
                          <a:solidFill>
                            <a:srgbClr val="1F2937"/>
                          </a:solidFill>
                        </a:rPr>
                        <a:t>In-house design team for consistent brand aesthetic</a:t>
                      </a:r>
                      <a:endParaRPr lang="en-US" altLang="zh-CN" sz="1100"/>
                    </a:p>
                    <a:p>
                      <a:pPr marL="171450" indent="-171450" algn="l">
                        <a:buClrTx/>
                        <a:buSzTx/>
                        <a:buFont typeface="Arial" panose="020B0604020202090204" pitchFamily="34" charset="0"/>
                        <a:buChar char="•"/>
                      </a:pPr>
                      <a:r>
                        <a:rPr lang="en-US" altLang="zh-CN" sz="1100" b="0">
                          <a:solidFill>
                            <a:srgbClr val="1F2937"/>
                          </a:solidFill>
                        </a:rPr>
                        <a:t>Expanded product lines: eyeglasses, contacts, eye exams, lens upgrades</a:t>
                      </a:r>
                      <a:endParaRPr lang="en-US" altLang="zh-CN" sz="1100"/>
                    </a:p>
                    <a:p>
                      <a:pPr marL="171450" indent="-171450" algn="l">
                        <a:buClrTx/>
                        <a:buSzTx/>
                        <a:buFont typeface="Arial" panose="020B0604020202090204" pitchFamily="34" charset="0"/>
                        <a:buChar char="•"/>
                      </a:pPr>
                      <a:r>
                        <a:rPr lang="en-US" altLang="zh-CN" sz="1100" b="0">
                          <a:solidFill>
                            <a:srgbClr val="1F2937"/>
                          </a:solidFill>
                        </a:rPr>
                        <a:t>Partnered with Google / Samsung to develop intelligent eyewear, launching fall 2026</a:t>
                      </a:r>
                      <a:endParaRPr lang="en-US" altLang="zh-CN" sz="1100"/>
                    </a:p>
                    <a:p>
                      <a:pPr marL="171450" indent="-171450" algn="l">
                        <a:buClrTx/>
                        <a:buSzTx/>
                        <a:buFont typeface="Arial" panose="020B0604020202090204" pitchFamily="34" charset="0"/>
                        <a:buChar char="•"/>
                      </a:pPr>
                      <a:r>
                        <a:rPr lang="en-US" altLang="zh-CN" sz="1100" b="0">
                          <a:solidFill>
                            <a:srgbClr val="1F2937"/>
                          </a:solidFill>
                        </a:rPr>
                        <a:t>(Warby Parker Inc., 2026a; Google, 2026; Samsung Electronics, 2026)</a:t>
                      </a:r>
                      <a:endParaRPr lang="en-US" altLang="zh-CN" sz="1100"/>
                    </a:p>
                  </a:txBody>
                  <a:tcPr marL="63500" marR="63500" marT="50800" marB="50800">
                    <a:lnL w="6350" cap="flat" cmpd="sng">
                      <a:solidFill>
                        <a:srgbClr val="D0D0D0"/>
                      </a:solidFill>
                      <a:prstDash val="solid"/>
                    </a:lnL>
                    <a:lnR w="6350" cap="flat" cmpd="sng">
                      <a:solidFill>
                        <a:srgbClr val="D0D0D0"/>
                      </a:solidFill>
                      <a:prstDash val="solid"/>
                    </a:lnR>
                    <a:lnT w="6350" cap="flat" cmpd="sng">
                      <a:solidFill>
                        <a:srgbClr val="D0D0D0"/>
                      </a:solidFill>
                      <a:prstDash val="solid"/>
                    </a:lnT>
                    <a:lnB w="6350" cap="flat" cmpd="sng">
                      <a:solidFill>
                        <a:srgbClr val="D0D0D0"/>
                      </a:solidFill>
                      <a:prstDash val="solid"/>
                    </a:lnB>
                    <a:solidFill>
                      <a:srgbClr val="FAFBFC"/>
                    </a:solidFill>
                  </a:tcPr>
                </a:tc>
                <a:tc>
                  <a:txBody>
                    <a:bodyPr/>
                    <a:lstStyle/>
                    <a:p>
                      <a:pPr marL="171450" indent="-171450" algn="l">
                        <a:buClrTx/>
                        <a:buSzTx/>
                        <a:buFont typeface="Arial" panose="020B0604020202090204" pitchFamily="34" charset="0"/>
                        <a:buChar char="•"/>
                      </a:pPr>
                      <a:r>
                        <a:rPr lang="en-US" altLang="zh-CN" sz="1100" b="0">
                          <a:solidFill>
                            <a:srgbClr val="1F2937"/>
                          </a:solidFill>
                        </a:rPr>
                        <a:t>Value proposition: Upgraded from “affordable eyewear” to design + vision care + smart eyewear</a:t>
                      </a:r>
                      <a:endParaRPr lang="en-US" altLang="zh-CN" sz="1100"/>
                    </a:p>
                    <a:p>
                      <a:pPr marL="171450" indent="-171450" algn="l">
                        <a:buClrTx/>
                        <a:buSzTx/>
                        <a:buFont typeface="Arial" panose="020B0604020202090204" pitchFamily="34" charset="0"/>
                        <a:buChar char="•"/>
                      </a:pPr>
                      <a:r>
                        <a:rPr lang="en-US" altLang="zh-CN" sz="1100" b="0">
                          <a:solidFill>
                            <a:srgbClr val="1F2937"/>
                          </a:solidFill>
                        </a:rPr>
                        <a:t>Revenue model: Eyeglasses + contact lenses + eye exams + future AI hardware</a:t>
                      </a:r>
                      <a:endParaRPr lang="en-US" altLang="zh-CN" sz="1100"/>
                    </a:p>
                    <a:p>
                      <a:pPr marL="171450" indent="-171450" algn="l">
                        <a:buClrTx/>
                        <a:buSzTx/>
                        <a:buFont typeface="Arial" panose="020B0604020202090204" pitchFamily="34" charset="0"/>
                        <a:buChar char="•"/>
                      </a:pPr>
                      <a:r>
                        <a:rPr lang="en-US" altLang="zh-CN" sz="1100" b="0">
                          <a:solidFill>
                            <a:srgbClr val="1F2937"/>
                          </a:solidFill>
                        </a:rPr>
                        <a:t>Competitive advantage: Prescription eyewear capability + store network + tech partnerships</a:t>
                      </a:r>
                      <a:endParaRPr lang="en-US" altLang="zh-CN" sz="1100"/>
                    </a:p>
                  </a:txBody>
                  <a:tcPr marL="63500" marR="63500" marT="50800" marB="50800">
                    <a:lnL w="6350" cap="flat" cmpd="sng">
                      <a:solidFill>
                        <a:srgbClr val="D0D0D0"/>
                      </a:solidFill>
                      <a:prstDash val="solid"/>
                    </a:lnL>
                    <a:lnR w="6350" cap="flat" cmpd="sng">
                      <a:solidFill>
                        <a:srgbClr val="D0D0D0"/>
                      </a:solidFill>
                      <a:prstDash val="solid"/>
                    </a:lnR>
                    <a:lnT w="6350" cap="flat" cmpd="sng">
                      <a:solidFill>
                        <a:srgbClr val="D0D0D0"/>
                      </a:solidFill>
                      <a:prstDash val="solid"/>
                    </a:lnT>
                    <a:lnB w="6350" cap="flat" cmpd="sng">
                      <a:solidFill>
                        <a:srgbClr val="D0D0D0"/>
                      </a:solidFill>
                      <a:prstDash val="solid"/>
                    </a:lnB>
                    <a:solidFill>
                      <a:srgbClr val="FAFBFC"/>
                    </a:solidFill>
                  </a:tcPr>
                </a:tc>
                <a:tc>
                  <a:txBody>
                    <a:bodyPr/>
                    <a:lstStyle/>
                    <a:p>
                      <a:pPr marL="171450" indent="-171450" algn="l">
                        <a:buClrTx/>
                        <a:buSzTx/>
                        <a:buFont typeface="Arial" panose="020B0604020202090204" pitchFamily="34" charset="0"/>
                        <a:buChar char="•"/>
                      </a:pPr>
                      <a:r>
                        <a:rPr lang="en-US" altLang="zh-CN" sz="1100" b="0" dirty="0">
                          <a:solidFill>
                            <a:srgbClr val="1F2937"/>
                          </a:solidFill>
                        </a:rPr>
                        <a:t>Expanded from an eyewear retailer to a vision-care / consumer-tech brand;</a:t>
                      </a:r>
                      <a:endParaRPr lang="en-US" altLang="zh-CN" sz="1100" dirty="0"/>
                    </a:p>
                    <a:p>
                      <a:pPr marL="171450" indent="-171450" algn="l">
                        <a:buClrTx/>
                        <a:buSzTx/>
                        <a:buFont typeface="Arial" panose="020B0604020202090204" pitchFamily="34" charset="0"/>
                        <a:buChar char="•"/>
                      </a:pPr>
                      <a:r>
                        <a:rPr lang="en-US" altLang="zh-CN" sz="1100" b="0" dirty="0">
                          <a:solidFill>
                            <a:srgbClr val="1F2937"/>
                          </a:solidFill>
                        </a:rPr>
                        <a:t>AI eyewear opens new growth potential (Samsung Electronics, 2026)</a:t>
                      </a:r>
                      <a:endParaRPr lang="en-US" altLang="zh-CN" sz="1100" dirty="0"/>
                    </a:p>
                  </a:txBody>
                  <a:tcPr marL="63500" marR="63500" marT="50800" marB="50800">
                    <a:lnL w="6350" cap="flat" cmpd="sng">
                      <a:solidFill>
                        <a:srgbClr val="D0D0D0"/>
                      </a:solidFill>
                      <a:prstDash val="solid"/>
                    </a:lnL>
                    <a:lnR w="6350" cap="flat" cmpd="sng">
                      <a:solidFill>
                        <a:srgbClr val="D0D0D0"/>
                      </a:solidFill>
                      <a:prstDash val="solid"/>
                    </a:lnR>
                    <a:lnT w="6350" cap="flat" cmpd="sng">
                      <a:solidFill>
                        <a:srgbClr val="D0D0D0"/>
                      </a:solidFill>
                      <a:prstDash val="solid"/>
                    </a:lnT>
                    <a:lnB w="6350" cap="flat" cmpd="sng">
                      <a:solidFill>
                        <a:srgbClr val="D0D0D0"/>
                      </a:solidFill>
                      <a:prstDash val="solid"/>
                    </a:lnB>
                    <a:solidFill>
                      <a:srgbClr val="FAFBFC"/>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475488"/>
          </a:xfrm>
          <a:prstGeom prst="rect">
            <a:avLst/>
          </a:prstGeom>
          <a:solidFill>
            <a:srgbClr val="FF9900"/>
          </a:solidFill>
          <a:ln w="12700">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n-ea"/>
            </a:endParaRPr>
          </a:p>
        </p:txBody>
      </p:sp>
      <p:sp>
        <p:nvSpPr>
          <p:cNvPr id="3" name="TextBox 2"/>
          <p:cNvSpPr txBox="1"/>
          <p:nvPr/>
        </p:nvSpPr>
        <p:spPr>
          <a:xfrm>
            <a:off x="256032" y="128016"/>
            <a:ext cx="4114800" cy="186690"/>
          </a:xfrm>
          <a:prstGeom prst="rect">
            <a:avLst/>
          </a:prstGeom>
          <a:noFill/>
        </p:spPr>
        <p:txBody>
          <a:bodyPr wrap="square" lIns="18288" tIns="9144" rIns="18288" bIns="9144" anchor="t">
            <a:spAutoFit/>
          </a:bodyPr>
          <a:lstStyle/>
          <a:p>
            <a:pPr algn="l"/>
            <a:r>
              <a:rPr lang="en-US" sz="1100" b="1" i="0">
                <a:solidFill>
                  <a:srgbClr val="FFFFFF"/>
                </a:solidFill>
                <a:latin typeface="+mn-ea"/>
              </a:rPr>
              <a:t>Xin.he 2145653</a:t>
            </a:r>
            <a:endParaRPr lang="en-US" sz="1100" b="1" i="0">
              <a:solidFill>
                <a:srgbClr val="1F3A5F"/>
              </a:solidFill>
              <a:latin typeface="+mn-ea"/>
            </a:endParaRPr>
          </a:p>
        </p:txBody>
      </p:sp>
      <p:sp>
        <p:nvSpPr>
          <p:cNvPr id="4" name="TextBox 3"/>
          <p:cNvSpPr txBox="1"/>
          <p:nvPr/>
        </p:nvSpPr>
        <p:spPr>
          <a:xfrm>
            <a:off x="9875520" y="128016"/>
            <a:ext cx="2011680" cy="187744"/>
          </a:xfrm>
          <a:prstGeom prst="rect">
            <a:avLst/>
          </a:prstGeom>
          <a:noFill/>
        </p:spPr>
        <p:txBody>
          <a:bodyPr wrap="square" lIns="18288" tIns="9144" rIns="18288" bIns="9144" anchor="t">
            <a:spAutoFit/>
          </a:bodyPr>
          <a:lstStyle/>
          <a:p>
            <a:pPr algn="r"/>
            <a:r>
              <a:rPr sz="1100" b="1" i="0">
                <a:solidFill>
                  <a:srgbClr val="FFFFFF"/>
                </a:solidFill>
                <a:latin typeface="+mn-ea"/>
              </a:rPr>
              <a:t>Warby Parker</a:t>
            </a:r>
            <a:endParaRPr sz="1100" b="1" i="0">
              <a:solidFill>
                <a:srgbClr val="1F3A5F"/>
              </a:solidFill>
              <a:latin typeface="+mn-ea"/>
            </a:endParaRPr>
          </a:p>
        </p:txBody>
      </p:sp>
      <p:sp>
        <p:nvSpPr>
          <p:cNvPr id="5" name="TextBox 4"/>
          <p:cNvSpPr txBox="1"/>
          <p:nvPr/>
        </p:nvSpPr>
        <p:spPr>
          <a:xfrm>
            <a:off x="301625" y="610362"/>
            <a:ext cx="11155680" cy="401955"/>
          </a:xfrm>
          <a:prstGeom prst="rect">
            <a:avLst/>
          </a:prstGeom>
          <a:noFill/>
        </p:spPr>
        <p:txBody>
          <a:bodyPr wrap="square" lIns="18288" tIns="9144" rIns="18288" bIns="9144" anchor="t">
            <a:spAutoFit/>
          </a:bodyPr>
          <a:lstStyle/>
          <a:p>
            <a:pPr algn="l"/>
            <a:r>
              <a:rPr sz="2500" b="1" i="0">
                <a:solidFill>
                  <a:srgbClr val="1F3A5F"/>
                </a:solidFill>
                <a:latin typeface="+mn-ea"/>
              </a:rPr>
              <a:t>Warby Parker：</a:t>
            </a:r>
            <a:r>
              <a:rPr lang="en-US" altLang="zh-CN" sz="2500" b="1" i="0">
                <a:solidFill>
                  <a:srgbClr val="1F3A5F"/>
                </a:solidFill>
                <a:latin typeface="+mn-ea"/>
              </a:rPr>
              <a:t>Reshaping Eyewear Retail with E-commerce Strategies</a:t>
            </a:r>
          </a:p>
        </p:txBody>
      </p:sp>
      <p:sp>
        <p:nvSpPr>
          <p:cNvPr id="40" name="Rectangle 39"/>
          <p:cNvSpPr/>
          <p:nvPr/>
        </p:nvSpPr>
        <p:spPr>
          <a:xfrm>
            <a:off x="457200" y="6473952"/>
            <a:ext cx="11247120" cy="9144"/>
          </a:xfrm>
          <a:prstGeom prst="rect">
            <a:avLst/>
          </a:prstGeom>
          <a:solidFill>
            <a:srgbClr val="FF9900"/>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n-ea"/>
            </a:endParaRPr>
          </a:p>
        </p:txBody>
      </p:sp>
      <p:pic>
        <p:nvPicPr>
          <p:cNvPr id="45" name="图片 44" descr="截屏2026-05-27 13.15.53"/>
          <p:cNvPicPr>
            <a:picLocks noChangeAspect="1"/>
          </p:cNvPicPr>
          <p:nvPr/>
        </p:nvPicPr>
        <p:blipFill>
          <a:blip r:embed="rId3"/>
          <a:srcRect r="5666"/>
          <a:stretch>
            <a:fillRect/>
          </a:stretch>
        </p:blipFill>
        <p:spPr>
          <a:xfrm>
            <a:off x="9291955" y="1920240"/>
            <a:ext cx="2653030" cy="1651635"/>
          </a:xfrm>
          <a:prstGeom prst="rect">
            <a:avLst/>
          </a:prstGeom>
        </p:spPr>
      </p:pic>
      <p:pic>
        <p:nvPicPr>
          <p:cNvPr id="7" name="图片 6" descr="截屏2026-05-27 14.30.44"/>
          <p:cNvPicPr>
            <a:picLocks noChangeAspect="1"/>
          </p:cNvPicPr>
          <p:nvPr/>
        </p:nvPicPr>
        <p:blipFill>
          <a:blip r:embed="rId4"/>
          <a:srcRect t="12019" r="49657"/>
          <a:stretch>
            <a:fillRect/>
          </a:stretch>
        </p:blipFill>
        <p:spPr>
          <a:xfrm>
            <a:off x="7451725" y="3632200"/>
            <a:ext cx="2283460" cy="1534795"/>
          </a:xfrm>
          <a:prstGeom prst="rect">
            <a:avLst/>
          </a:prstGeom>
        </p:spPr>
      </p:pic>
      <p:pic>
        <p:nvPicPr>
          <p:cNvPr id="12" name="图片 11" descr="截屏2026-05-27 17.55.21"/>
          <p:cNvPicPr>
            <a:picLocks noChangeAspect="1"/>
          </p:cNvPicPr>
          <p:nvPr/>
        </p:nvPicPr>
        <p:blipFill>
          <a:blip r:embed="rId5"/>
          <a:stretch>
            <a:fillRect/>
          </a:stretch>
        </p:blipFill>
        <p:spPr>
          <a:xfrm>
            <a:off x="7451725" y="1920875"/>
            <a:ext cx="1840230" cy="1566545"/>
          </a:xfrm>
          <a:prstGeom prst="rect">
            <a:avLst/>
          </a:prstGeom>
        </p:spPr>
      </p:pic>
      <p:pic>
        <p:nvPicPr>
          <p:cNvPr id="13" name="图片 12" descr="截屏2026-05-27 17.56.04"/>
          <p:cNvPicPr>
            <a:picLocks noChangeAspect="1"/>
          </p:cNvPicPr>
          <p:nvPr/>
        </p:nvPicPr>
        <p:blipFill>
          <a:blip r:embed="rId6"/>
          <a:stretch>
            <a:fillRect/>
          </a:stretch>
        </p:blipFill>
        <p:spPr>
          <a:xfrm>
            <a:off x="10821670" y="3710940"/>
            <a:ext cx="1113790" cy="1257300"/>
          </a:xfrm>
          <a:prstGeom prst="rect">
            <a:avLst/>
          </a:prstGeom>
        </p:spPr>
      </p:pic>
      <p:pic>
        <p:nvPicPr>
          <p:cNvPr id="14" name="图片 13" descr="截屏2026-05-27 14.30.44"/>
          <p:cNvPicPr>
            <a:picLocks noChangeAspect="1"/>
          </p:cNvPicPr>
          <p:nvPr/>
        </p:nvPicPr>
        <p:blipFill>
          <a:blip r:embed="rId4"/>
          <a:srcRect l="74355" t="12019"/>
          <a:stretch>
            <a:fillRect/>
          </a:stretch>
        </p:blipFill>
        <p:spPr>
          <a:xfrm>
            <a:off x="9782810" y="3571875"/>
            <a:ext cx="1163320" cy="1534795"/>
          </a:xfrm>
          <a:prstGeom prst="rect">
            <a:avLst/>
          </a:prstGeom>
        </p:spPr>
      </p:pic>
      <p:graphicFrame>
        <p:nvGraphicFramePr>
          <p:cNvPr id="8" name="表格 7"/>
          <p:cNvGraphicFramePr/>
          <p:nvPr>
            <p:custDataLst>
              <p:tags r:id="rId1"/>
            </p:custDataLst>
            <p:extLst>
              <p:ext uri="{D42A27DB-BD31-4B8C-83A1-F6EECF244321}">
                <p14:modId xmlns:p14="http://schemas.microsoft.com/office/powerpoint/2010/main" val="3702653886"/>
              </p:ext>
            </p:extLst>
          </p:nvPr>
        </p:nvGraphicFramePr>
        <p:xfrm>
          <a:off x="504825" y="1506305"/>
          <a:ext cx="6483350" cy="4663440"/>
        </p:xfrm>
        <a:graphic>
          <a:graphicData uri="http://schemas.openxmlformats.org/drawingml/2006/table">
            <a:tbl>
              <a:tblPr/>
              <a:tblGrid>
                <a:gridCol w="807085">
                  <a:extLst>
                    <a:ext uri="{9D8B030D-6E8A-4147-A177-3AD203B41FA5}">
                      <a16:colId xmlns:a16="http://schemas.microsoft.com/office/drawing/2014/main" val="20000"/>
                    </a:ext>
                  </a:extLst>
                </a:gridCol>
                <a:gridCol w="1727835">
                  <a:extLst>
                    <a:ext uri="{9D8B030D-6E8A-4147-A177-3AD203B41FA5}">
                      <a16:colId xmlns:a16="http://schemas.microsoft.com/office/drawing/2014/main" val="20001"/>
                    </a:ext>
                  </a:extLst>
                </a:gridCol>
                <a:gridCol w="2116455">
                  <a:extLst>
                    <a:ext uri="{9D8B030D-6E8A-4147-A177-3AD203B41FA5}">
                      <a16:colId xmlns:a16="http://schemas.microsoft.com/office/drawing/2014/main" val="20002"/>
                    </a:ext>
                  </a:extLst>
                </a:gridCol>
                <a:gridCol w="1831975">
                  <a:extLst>
                    <a:ext uri="{9D8B030D-6E8A-4147-A177-3AD203B41FA5}">
                      <a16:colId xmlns:a16="http://schemas.microsoft.com/office/drawing/2014/main" val="20003"/>
                    </a:ext>
                  </a:extLst>
                </a:gridCol>
              </a:tblGrid>
              <a:tr h="365760">
                <a:tc>
                  <a:txBody>
                    <a:bodyPr/>
                    <a:lstStyle/>
                    <a:p>
                      <a:pPr algn="l">
                        <a:buNone/>
                      </a:pPr>
                      <a:r>
                        <a:rPr lang="en-US" altLang="zh-CN" sz="1100" b="1">
                          <a:solidFill>
                            <a:srgbClr val="FFFFFF"/>
                          </a:solidFill>
                        </a:rPr>
                        <a:t>Strategy</a:t>
                      </a:r>
                      <a:endParaRPr lang="en-US" altLang="zh-CN" sz="1100"/>
                    </a:p>
                  </a:txBody>
                  <a:tcPr marL="63500" marR="63500" marT="50800" marB="50800">
                    <a:lnL w="6350" cap="flat" cmpd="sng">
                      <a:solidFill>
                        <a:srgbClr val="D0D0D0"/>
                      </a:solidFill>
                      <a:prstDash val="solid"/>
                    </a:lnL>
                    <a:lnR w="6350" cap="flat" cmpd="sng">
                      <a:solidFill>
                        <a:srgbClr val="D0D0D0"/>
                      </a:solidFill>
                      <a:prstDash val="solid"/>
                    </a:lnR>
                    <a:lnT w="6350" cap="flat" cmpd="sng">
                      <a:solidFill>
                        <a:srgbClr val="D0D0D0"/>
                      </a:solidFill>
                      <a:prstDash val="solid"/>
                    </a:lnT>
                    <a:lnB w="6350" cap="flat" cmpd="sng">
                      <a:solidFill>
                        <a:srgbClr val="D0D0D0"/>
                      </a:solidFill>
                      <a:prstDash val="solid"/>
                    </a:lnB>
                    <a:solidFill>
                      <a:srgbClr val="FFAD33"/>
                    </a:solidFill>
                  </a:tcPr>
                </a:tc>
                <a:tc>
                  <a:txBody>
                    <a:bodyPr/>
                    <a:lstStyle/>
                    <a:p>
                      <a:pPr algn="l">
                        <a:buNone/>
                      </a:pPr>
                      <a:r>
                        <a:rPr lang="en-US" altLang="zh-CN" sz="1100" b="1">
                          <a:solidFill>
                            <a:srgbClr val="FFFFFF"/>
                          </a:solidFill>
                        </a:rPr>
                        <a:t>Warby Parker’s Measures</a:t>
                      </a:r>
                      <a:endParaRPr lang="en-US" altLang="zh-CN" sz="1100"/>
                    </a:p>
                  </a:txBody>
                  <a:tcPr marL="63500" marR="63500" marT="50800" marB="50800">
                    <a:lnL w="6350" cap="flat" cmpd="sng">
                      <a:solidFill>
                        <a:srgbClr val="D0D0D0"/>
                      </a:solidFill>
                      <a:prstDash val="solid"/>
                    </a:lnL>
                    <a:lnR w="6350" cap="flat" cmpd="sng">
                      <a:solidFill>
                        <a:srgbClr val="D0D0D0"/>
                      </a:solidFill>
                      <a:prstDash val="solid"/>
                    </a:lnR>
                    <a:lnT w="6350" cap="flat" cmpd="sng">
                      <a:solidFill>
                        <a:srgbClr val="D0D0D0"/>
                      </a:solidFill>
                      <a:prstDash val="solid"/>
                    </a:lnT>
                    <a:lnB w="6350" cap="flat" cmpd="sng">
                      <a:solidFill>
                        <a:srgbClr val="D0D0D0"/>
                      </a:solidFill>
                      <a:prstDash val="solid"/>
                    </a:lnB>
                    <a:solidFill>
                      <a:srgbClr val="FFAD33"/>
                    </a:solidFill>
                  </a:tcPr>
                </a:tc>
                <a:tc>
                  <a:txBody>
                    <a:bodyPr/>
                    <a:lstStyle/>
                    <a:p>
                      <a:pPr algn="l">
                        <a:buNone/>
                      </a:pPr>
                      <a:r>
                        <a:rPr lang="en-US" altLang="zh-CN" sz="1100" b="1">
                          <a:solidFill>
                            <a:srgbClr val="FFFFFF"/>
                          </a:solidFill>
                        </a:rPr>
                        <a:t>Business Components</a:t>
                      </a:r>
                      <a:endParaRPr lang="en-US" altLang="zh-CN" sz="1100"/>
                    </a:p>
                  </a:txBody>
                  <a:tcPr marL="63500" marR="63500" marT="50800" marB="50800">
                    <a:lnL w="6350" cap="flat" cmpd="sng">
                      <a:solidFill>
                        <a:srgbClr val="D0D0D0"/>
                      </a:solidFill>
                      <a:prstDash val="solid"/>
                    </a:lnL>
                    <a:lnR w="6350" cap="flat" cmpd="sng">
                      <a:solidFill>
                        <a:srgbClr val="D0D0D0"/>
                      </a:solidFill>
                      <a:prstDash val="solid"/>
                    </a:lnR>
                    <a:lnT w="6350" cap="flat" cmpd="sng">
                      <a:solidFill>
                        <a:srgbClr val="D0D0D0"/>
                      </a:solidFill>
                      <a:prstDash val="solid"/>
                    </a:lnT>
                    <a:lnB w="6350" cap="flat" cmpd="sng">
                      <a:solidFill>
                        <a:srgbClr val="D0D0D0"/>
                      </a:solidFill>
                      <a:prstDash val="solid"/>
                    </a:lnB>
                    <a:solidFill>
                      <a:srgbClr val="FFAD33"/>
                    </a:solidFill>
                  </a:tcPr>
                </a:tc>
                <a:tc>
                  <a:txBody>
                    <a:bodyPr/>
                    <a:lstStyle/>
                    <a:p>
                      <a:pPr algn="l">
                        <a:buNone/>
                      </a:pPr>
                      <a:r>
                        <a:rPr lang="en-US" altLang="zh-CN" sz="1100" b="1">
                          <a:solidFill>
                            <a:srgbClr val="FFFFFF"/>
                          </a:solidFill>
                        </a:rPr>
                        <a:t>Result</a:t>
                      </a:r>
                      <a:endParaRPr lang="en-US" altLang="zh-CN" sz="1100"/>
                    </a:p>
                  </a:txBody>
                  <a:tcPr marL="63500" marR="63500" marT="50800" marB="50800">
                    <a:lnL w="6350" cap="flat" cmpd="sng">
                      <a:solidFill>
                        <a:srgbClr val="D0D0D0"/>
                      </a:solidFill>
                      <a:prstDash val="solid"/>
                    </a:lnL>
                    <a:lnR w="6350" cap="flat" cmpd="sng">
                      <a:solidFill>
                        <a:srgbClr val="D0D0D0"/>
                      </a:solidFill>
                      <a:prstDash val="solid"/>
                    </a:lnR>
                    <a:lnT w="6350" cap="flat" cmpd="sng">
                      <a:solidFill>
                        <a:srgbClr val="D0D0D0"/>
                      </a:solidFill>
                      <a:prstDash val="solid"/>
                    </a:lnT>
                    <a:lnB w="6350" cap="flat" cmpd="sng">
                      <a:solidFill>
                        <a:srgbClr val="D0D0D0"/>
                      </a:solidFill>
                      <a:prstDash val="solid"/>
                    </a:lnB>
                    <a:solidFill>
                      <a:srgbClr val="FFAD33"/>
                    </a:solidFill>
                  </a:tcPr>
                </a:tc>
                <a:extLst>
                  <a:ext uri="{0D108BD9-81ED-4DB2-BD59-A6C34878D82A}">
                    <a16:rowId xmlns:a16="http://schemas.microsoft.com/office/drawing/2014/main" val="10000"/>
                  </a:ext>
                </a:extLst>
              </a:tr>
              <a:tr h="365760">
                <a:tc>
                  <a:txBody>
                    <a:bodyPr/>
                    <a:lstStyle/>
                    <a:p>
                      <a:pPr algn="l">
                        <a:buNone/>
                      </a:pPr>
                      <a:r>
                        <a:rPr lang="en-US" altLang="zh-CN" sz="1100" b="1">
                          <a:solidFill>
                            <a:srgbClr val="1F3A5F"/>
                          </a:solidFill>
                        </a:rPr>
                        <a:t>Focus / Niche Strategy</a:t>
                      </a:r>
                      <a:endParaRPr lang="en-US" altLang="zh-CN" sz="1100"/>
                    </a:p>
                  </a:txBody>
                  <a:tcPr marL="63500" marR="63500" marT="50800" marB="50800">
                    <a:lnL w="6350" cap="flat" cmpd="sng">
                      <a:solidFill>
                        <a:srgbClr val="D0D0D0"/>
                      </a:solidFill>
                      <a:prstDash val="solid"/>
                    </a:lnL>
                    <a:lnR w="6350" cap="flat" cmpd="sng">
                      <a:solidFill>
                        <a:srgbClr val="D0D0D0"/>
                      </a:solidFill>
                      <a:prstDash val="solid"/>
                    </a:lnR>
                    <a:lnT w="6350" cap="flat" cmpd="sng">
                      <a:solidFill>
                        <a:srgbClr val="D0D0D0"/>
                      </a:solidFill>
                      <a:prstDash val="solid"/>
                    </a:lnT>
                    <a:lnB w="6350" cap="flat" cmpd="sng">
                      <a:solidFill>
                        <a:srgbClr val="D0D0D0"/>
                      </a:solidFill>
                      <a:prstDash val="solid"/>
                    </a:lnB>
                    <a:solidFill>
                      <a:srgbClr val="FFF7ED"/>
                    </a:solidFill>
                  </a:tcPr>
                </a:tc>
                <a:tc>
                  <a:txBody>
                    <a:bodyPr/>
                    <a:lstStyle/>
                    <a:p>
                      <a:pPr marL="171450" indent="-171450">
                        <a:buFont typeface="Arial" panose="020B0604020202090204" pitchFamily="34" charset="0"/>
                        <a:buChar char="•"/>
                      </a:pPr>
                      <a:r>
                        <a:rPr lang="en-US" altLang="zh-CN" sz="1100" b="0">
                          <a:solidFill>
                            <a:srgbClr val="1F2937"/>
                          </a:solidFill>
                        </a:rPr>
                        <a:t>Targets digital-native, design-focused, price-sensitive young consumers</a:t>
                      </a:r>
                      <a:endParaRPr lang="en-US" altLang="zh-CN" sz="1100"/>
                    </a:p>
                    <a:p>
                      <a:pPr marL="171450" indent="-171450">
                        <a:buFont typeface="Arial" panose="020B0604020202090204" pitchFamily="34" charset="0"/>
                        <a:buChar char="•"/>
                      </a:pPr>
                      <a:r>
                        <a:rPr lang="en-US" altLang="zh-CN" sz="1100" b="0">
                          <a:solidFill>
                            <a:srgbClr val="1F2937"/>
                          </a:solidFill>
                        </a:rPr>
                        <a:t>Starts at $95, emphasizes affordable design</a:t>
                      </a:r>
                      <a:endParaRPr lang="en-US" altLang="zh-CN" sz="1100"/>
                    </a:p>
                    <a:p>
                      <a:pPr marL="171450" indent="-171450">
                        <a:buFont typeface="Arial" panose="020B0604020202090204" pitchFamily="34" charset="0"/>
                        <a:buChar char="•"/>
                      </a:pPr>
                      <a:r>
                        <a:rPr lang="en-US" altLang="zh-CN" sz="1100" b="0">
                          <a:solidFill>
                            <a:srgbClr val="1F2937"/>
                          </a:solidFill>
                        </a:rPr>
                        <a:t>Social media + brand storytelling + Buy a Pair, Give a Pair</a:t>
                      </a:r>
                      <a:endParaRPr lang="en-US" altLang="zh-CN" sz="1100"/>
                    </a:p>
                    <a:p>
                      <a:pPr marL="171450" indent="-171450">
                        <a:buFont typeface="Arial" panose="020B0604020202090204" pitchFamily="34" charset="0"/>
                        <a:buChar char="•"/>
                      </a:pPr>
                      <a:r>
                        <a:rPr lang="en-US" altLang="zh-CN" sz="1100" b="0">
                          <a:solidFill>
                            <a:srgbClr val="1F2937"/>
                          </a:solidFill>
                        </a:rPr>
                        <a:t>(Warby Parker Inc., 2026a; Earnest Analytics, 2024)</a:t>
                      </a:r>
                      <a:endParaRPr lang="en-US" altLang="zh-CN" sz="1100"/>
                    </a:p>
                  </a:txBody>
                  <a:tcPr marL="63500" marR="63500" marT="50800" marB="50800">
                    <a:lnL w="6350" cap="flat" cmpd="sng">
                      <a:solidFill>
                        <a:srgbClr val="D0D0D0"/>
                      </a:solidFill>
                      <a:prstDash val="solid"/>
                    </a:lnL>
                    <a:lnR w="6350" cap="flat" cmpd="sng">
                      <a:solidFill>
                        <a:srgbClr val="D0D0D0"/>
                      </a:solidFill>
                      <a:prstDash val="solid"/>
                    </a:lnR>
                    <a:lnT w="6350" cap="flat" cmpd="sng">
                      <a:solidFill>
                        <a:srgbClr val="D0D0D0"/>
                      </a:solidFill>
                      <a:prstDash val="solid"/>
                    </a:lnT>
                    <a:lnB w="6350" cap="flat" cmpd="sng">
                      <a:solidFill>
                        <a:srgbClr val="D0D0D0"/>
                      </a:solidFill>
                      <a:prstDash val="solid"/>
                    </a:lnB>
                    <a:solidFill>
                      <a:srgbClr val="FFFFFF"/>
                    </a:solidFill>
                  </a:tcPr>
                </a:tc>
                <a:tc>
                  <a:txBody>
                    <a:bodyPr/>
                    <a:lstStyle/>
                    <a:p>
                      <a:pPr marL="171450" indent="-171450">
                        <a:buFont typeface="Arial" panose="020B0604020202090204" pitchFamily="34" charset="0"/>
                        <a:buChar char="•"/>
                      </a:pPr>
                      <a:r>
                        <a:rPr lang="en-US" altLang="zh-CN" sz="1100" b="0">
                          <a:solidFill>
                            <a:srgbClr val="1F2937"/>
                          </a:solidFill>
                        </a:rPr>
                        <a:t>Market opportunity: Serves the design + affordable niche, avoiding direct competition with Luxottica</a:t>
                      </a:r>
                      <a:endParaRPr lang="en-US" altLang="zh-CN" sz="1100"/>
                    </a:p>
                    <a:p>
                      <a:pPr marL="171450" indent="-171450">
                        <a:buFont typeface="Arial" panose="020B0604020202090204" pitchFamily="34" charset="0"/>
                        <a:buChar char="•"/>
                      </a:pPr>
                      <a:r>
                        <a:rPr lang="en-US" altLang="zh-CN" sz="1100" b="0">
                          <a:solidFill>
                            <a:srgbClr val="1F2937"/>
                          </a:solidFill>
                        </a:rPr>
                        <a:t>Market strategy: Reach target consumers via social media, brand storytelling, and affordable positioning</a:t>
                      </a:r>
                      <a:endParaRPr lang="en-US" altLang="zh-CN" sz="1100"/>
                    </a:p>
                    <a:p>
                      <a:pPr marL="171450" indent="-171450">
                        <a:buFont typeface="Arial" panose="020B0604020202090204" pitchFamily="34" charset="0"/>
                        <a:buChar char="•"/>
                      </a:pPr>
                      <a:r>
                        <a:rPr lang="en-US" altLang="zh-CN" sz="1100" b="0">
                          <a:solidFill>
                            <a:srgbClr val="1F2937"/>
                          </a:solidFill>
                        </a:rPr>
                        <a:t>Competitive advantage: Priced above Zenni, below traditional brands, creating a differentiated buffer zone</a:t>
                      </a:r>
                      <a:endParaRPr lang="en-US" altLang="zh-CN" sz="1100"/>
                    </a:p>
                  </a:txBody>
                  <a:tcPr marL="63500" marR="63500" marT="50800" marB="50800">
                    <a:lnL w="6350" cap="flat" cmpd="sng">
                      <a:solidFill>
                        <a:srgbClr val="D0D0D0"/>
                      </a:solidFill>
                      <a:prstDash val="solid"/>
                    </a:lnL>
                    <a:lnR w="6350" cap="flat" cmpd="sng">
                      <a:solidFill>
                        <a:srgbClr val="D0D0D0"/>
                      </a:solidFill>
                      <a:prstDash val="solid"/>
                    </a:lnR>
                    <a:lnT w="6350" cap="flat" cmpd="sng">
                      <a:solidFill>
                        <a:srgbClr val="D0D0D0"/>
                      </a:solidFill>
                      <a:prstDash val="solid"/>
                    </a:lnT>
                    <a:lnB w="6350" cap="flat" cmpd="sng">
                      <a:solidFill>
                        <a:srgbClr val="D0D0D0"/>
                      </a:solidFill>
                      <a:prstDash val="solid"/>
                    </a:lnB>
                    <a:solidFill>
                      <a:srgbClr val="FFFFFF"/>
                    </a:solidFill>
                  </a:tcPr>
                </a:tc>
                <a:tc>
                  <a:txBody>
                    <a:bodyPr/>
                    <a:lstStyle/>
                    <a:p>
                      <a:pPr marL="171450" indent="-171450">
                        <a:buFont typeface="Arial" panose="020B0604020202090204" pitchFamily="34" charset="0"/>
                        <a:buChar char="•"/>
                      </a:pPr>
                      <a:r>
                        <a:rPr lang="en-US" altLang="zh-CN" sz="1100" b="0">
                          <a:solidFill>
                            <a:srgbClr val="1F2937"/>
                          </a:solidFill>
                        </a:rPr>
                        <a:t>Market share: 7.2% (2024), up from 6.8% in Q4 2023</a:t>
                      </a:r>
                      <a:endParaRPr lang="en-US" altLang="zh-CN" sz="1100"/>
                    </a:p>
                    <a:p>
                      <a:pPr marL="171450" indent="-171450">
                        <a:buFont typeface="Arial" panose="020B0604020202090204" pitchFamily="34" charset="0"/>
                        <a:buChar char="•"/>
                      </a:pPr>
                      <a:r>
                        <a:rPr lang="en-US" altLang="zh-CN" sz="1100" b="0">
                          <a:solidFill>
                            <a:srgbClr val="1F2937"/>
                          </a:solidFill>
                        </a:rPr>
                        <a:t>Customers switching from LensCrafters to WP: +3.4% YoY (Earnest Analytics, 2024)</a:t>
                      </a:r>
                      <a:endParaRPr lang="en-US" altLang="zh-CN" sz="1100"/>
                    </a:p>
                  </a:txBody>
                  <a:tcPr marL="63500" marR="63500" marT="50800" marB="50800">
                    <a:lnL w="6350" cap="flat" cmpd="sng">
                      <a:solidFill>
                        <a:srgbClr val="D0D0D0"/>
                      </a:solidFill>
                      <a:prstDash val="solid"/>
                    </a:lnL>
                    <a:lnR w="6350" cap="flat" cmpd="sng">
                      <a:solidFill>
                        <a:srgbClr val="D0D0D0"/>
                      </a:solidFill>
                      <a:prstDash val="solid"/>
                    </a:lnR>
                    <a:lnT w="6350" cap="flat" cmpd="sng">
                      <a:solidFill>
                        <a:srgbClr val="D0D0D0"/>
                      </a:solidFill>
                      <a:prstDash val="solid"/>
                    </a:lnT>
                    <a:lnB w="6350" cap="flat" cmpd="sng">
                      <a:solidFill>
                        <a:srgbClr val="D0D0D0"/>
                      </a:solidFill>
                      <a:prstDash val="solid"/>
                    </a:lnB>
                    <a:solidFill>
                      <a:srgbClr val="FFFFFF"/>
                    </a:solidFill>
                  </a:tcPr>
                </a:tc>
                <a:extLst>
                  <a:ext uri="{0D108BD9-81ED-4DB2-BD59-A6C34878D82A}">
                    <a16:rowId xmlns:a16="http://schemas.microsoft.com/office/drawing/2014/main" val="10001"/>
                  </a:ext>
                </a:extLst>
              </a:tr>
              <a:tr h="365760">
                <a:tc>
                  <a:txBody>
                    <a:bodyPr/>
                    <a:lstStyle/>
                    <a:p>
                      <a:pPr algn="l">
                        <a:buNone/>
                      </a:pPr>
                      <a:r>
                        <a:rPr lang="en-US" altLang="zh-CN" sz="1100" b="1">
                          <a:solidFill>
                            <a:srgbClr val="1F3A5F"/>
                          </a:solidFill>
                        </a:rPr>
                        <a:t>DTC Cost Advantage</a:t>
                      </a:r>
                      <a:endParaRPr lang="en-US" altLang="zh-CN" sz="1100"/>
                    </a:p>
                  </a:txBody>
                  <a:tcPr marL="63500" marR="63500" marT="50800" marB="50800">
                    <a:lnL w="6350" cap="flat" cmpd="sng">
                      <a:solidFill>
                        <a:srgbClr val="D0D0D0"/>
                      </a:solidFill>
                      <a:prstDash val="solid"/>
                    </a:lnL>
                    <a:lnR w="6350" cap="flat" cmpd="sng">
                      <a:solidFill>
                        <a:srgbClr val="D0D0D0"/>
                      </a:solidFill>
                      <a:prstDash val="solid"/>
                    </a:lnR>
                    <a:lnT w="6350" cap="flat" cmpd="sng">
                      <a:solidFill>
                        <a:srgbClr val="D0D0D0"/>
                      </a:solidFill>
                      <a:prstDash val="solid"/>
                    </a:lnT>
                    <a:lnB w="6350" cap="flat" cmpd="sng">
                      <a:solidFill>
                        <a:srgbClr val="D0D0D0"/>
                      </a:solidFill>
                      <a:prstDash val="solid"/>
                    </a:lnB>
                    <a:solidFill>
                      <a:srgbClr val="FFF7ED"/>
                    </a:solidFill>
                  </a:tcPr>
                </a:tc>
                <a:tc>
                  <a:txBody>
                    <a:bodyPr/>
                    <a:lstStyle/>
                    <a:p>
                      <a:pPr marL="171450" indent="-171450">
                        <a:buFont typeface="Arial" panose="020B0604020202090204" pitchFamily="34" charset="0"/>
                        <a:buChar char="•"/>
                      </a:pPr>
                      <a:r>
                        <a:rPr lang="en-US" altLang="zh-CN" sz="1100" b="0">
                          <a:solidFill>
                            <a:srgbClr val="1F2937"/>
                          </a:solidFill>
                        </a:rPr>
                        <a:t>Direct-to-consumer via official website &amp; app</a:t>
                      </a:r>
                      <a:endParaRPr lang="en-US" altLang="zh-CN" sz="1100"/>
                    </a:p>
                    <a:p>
                      <a:pPr marL="171450" indent="-171450">
                        <a:buFont typeface="Arial" panose="020B0604020202090204" pitchFamily="34" charset="0"/>
                        <a:buChar char="•"/>
                      </a:pPr>
                      <a:r>
                        <a:rPr lang="en-US" altLang="zh-CN" sz="1100" b="0">
                          <a:solidFill>
                            <a:srgbClr val="1F2937"/>
                          </a:solidFill>
                        </a:rPr>
                        <a:t>In-house design, reduced reliance on brand licensing</a:t>
                      </a:r>
                      <a:endParaRPr lang="en-US" altLang="zh-CN" sz="1100"/>
                    </a:p>
                    <a:p>
                      <a:pPr marL="171450" indent="-171450">
                        <a:buFont typeface="Arial" panose="020B0604020202090204" pitchFamily="34" charset="0"/>
                        <a:buChar char="•"/>
                      </a:pPr>
                      <a:r>
                        <a:rPr lang="en-US" altLang="zh-CN" sz="1100" b="0">
                          <a:solidFill>
                            <a:srgbClr val="1F2937"/>
                          </a:solidFill>
                        </a:rPr>
                        <a:t>Integrated owned stores + e-commerce channels</a:t>
                      </a:r>
                      <a:endParaRPr lang="en-US" altLang="zh-CN" sz="1100"/>
                    </a:p>
                    <a:p>
                      <a:pPr marL="171450" indent="-171450">
                        <a:buFont typeface="Arial" panose="020B0604020202090204" pitchFamily="34" charset="0"/>
                        <a:buChar char="•"/>
                      </a:pPr>
                      <a:r>
                        <a:rPr lang="en-US" altLang="zh-CN" sz="1100" b="0">
                          <a:solidFill>
                            <a:srgbClr val="1F2937"/>
                          </a:solidFill>
                        </a:rPr>
                        <a:t>Starting at $95</a:t>
                      </a:r>
                      <a:endParaRPr lang="en-US" altLang="zh-CN" sz="1100"/>
                    </a:p>
                    <a:p>
                      <a:pPr marL="171450" indent="-171450">
                        <a:buFont typeface="Arial" panose="020B0604020202090204" pitchFamily="34" charset="0"/>
                        <a:buChar char="•"/>
                      </a:pPr>
                      <a:r>
                        <a:rPr lang="en-US" altLang="zh-CN" sz="1100" b="0">
                          <a:solidFill>
                            <a:srgbClr val="1F2937"/>
                          </a:solidFill>
                        </a:rPr>
                        <a:t>(Warby Parker Inc., 2026a)</a:t>
                      </a:r>
                      <a:endParaRPr lang="en-US" altLang="zh-CN" sz="1100"/>
                    </a:p>
                  </a:txBody>
                  <a:tcPr marL="63500" marR="63500" marT="50800" marB="50800">
                    <a:lnL w="6350" cap="flat" cmpd="sng">
                      <a:solidFill>
                        <a:srgbClr val="D0D0D0"/>
                      </a:solidFill>
                      <a:prstDash val="solid"/>
                    </a:lnL>
                    <a:lnR w="6350" cap="flat" cmpd="sng">
                      <a:solidFill>
                        <a:srgbClr val="D0D0D0"/>
                      </a:solidFill>
                      <a:prstDash val="solid"/>
                    </a:lnR>
                    <a:lnT w="6350" cap="flat" cmpd="sng">
                      <a:solidFill>
                        <a:srgbClr val="D0D0D0"/>
                      </a:solidFill>
                      <a:prstDash val="solid"/>
                    </a:lnT>
                    <a:lnB w="6350" cap="flat" cmpd="sng">
                      <a:solidFill>
                        <a:srgbClr val="D0D0D0"/>
                      </a:solidFill>
                      <a:prstDash val="solid"/>
                    </a:lnB>
                    <a:solidFill>
                      <a:srgbClr val="FAFBFC"/>
                    </a:solidFill>
                  </a:tcPr>
                </a:tc>
                <a:tc>
                  <a:txBody>
                    <a:bodyPr/>
                    <a:lstStyle/>
                    <a:p>
                      <a:pPr marL="171450" indent="-171450">
                        <a:buFont typeface="Arial" panose="020B0604020202090204" pitchFamily="34" charset="0"/>
                        <a:buChar char="•"/>
                      </a:pPr>
                      <a:r>
                        <a:rPr lang="en-US" altLang="zh-CN" sz="1100" b="0">
                          <a:solidFill>
                            <a:srgbClr val="1F2937"/>
                          </a:solidFill>
                        </a:rPr>
                        <a:t>Revenue model: Cut out middlemen, revenue flows directly to the brand</a:t>
                      </a:r>
                      <a:endParaRPr lang="en-US" altLang="zh-CN" sz="1100"/>
                    </a:p>
                    <a:p>
                      <a:pPr marL="171450" indent="-171450">
                        <a:buFont typeface="Arial" panose="020B0604020202090204" pitchFamily="34" charset="0"/>
                        <a:buChar char="•"/>
                      </a:pPr>
                      <a:r>
                        <a:rPr lang="en-US" altLang="zh-CN" sz="1100" b="0">
                          <a:solidFill>
                            <a:srgbClr val="1F2937"/>
                          </a:solidFill>
                        </a:rPr>
                        <a:t>Competitive advantage: Cost savings support low prices and experience investment</a:t>
                      </a:r>
                      <a:endParaRPr lang="en-US" altLang="zh-CN" sz="1100"/>
                    </a:p>
                    <a:p>
                      <a:pPr marL="171450" indent="-171450">
                        <a:buFont typeface="Arial" panose="020B0604020202090204" pitchFamily="34" charset="0"/>
                        <a:buChar char="•"/>
                      </a:pPr>
                      <a:r>
                        <a:rPr lang="en-US" altLang="zh-CN" sz="1100" b="0">
                          <a:solidFill>
                            <a:srgbClr val="1F2937"/>
                          </a:solidFill>
                        </a:rPr>
                        <a:t>Value proposition: Supports affordable design positioning</a:t>
                      </a:r>
                      <a:endParaRPr lang="en-US" altLang="zh-CN" sz="1100"/>
                    </a:p>
                  </a:txBody>
                  <a:tcPr marL="63500" marR="63500" marT="50800" marB="50800">
                    <a:lnL w="6350" cap="flat" cmpd="sng">
                      <a:solidFill>
                        <a:srgbClr val="D0D0D0"/>
                      </a:solidFill>
                      <a:prstDash val="solid"/>
                    </a:lnL>
                    <a:lnR w="6350" cap="flat" cmpd="sng">
                      <a:solidFill>
                        <a:srgbClr val="D0D0D0"/>
                      </a:solidFill>
                      <a:prstDash val="solid"/>
                    </a:lnR>
                    <a:lnT w="6350" cap="flat" cmpd="sng">
                      <a:solidFill>
                        <a:srgbClr val="D0D0D0"/>
                      </a:solidFill>
                      <a:prstDash val="solid"/>
                    </a:lnT>
                    <a:lnB w="6350" cap="flat" cmpd="sng">
                      <a:solidFill>
                        <a:srgbClr val="D0D0D0"/>
                      </a:solidFill>
                      <a:prstDash val="solid"/>
                    </a:lnB>
                    <a:solidFill>
                      <a:srgbClr val="FAFBFC"/>
                    </a:solidFill>
                  </a:tcPr>
                </a:tc>
                <a:tc>
                  <a:txBody>
                    <a:bodyPr/>
                    <a:lstStyle/>
                    <a:p>
                      <a:pPr marL="171450" indent="-171450">
                        <a:buFont typeface="Arial" panose="020B0604020202090204" pitchFamily="34" charset="0"/>
                        <a:buChar char="•"/>
                      </a:pPr>
                      <a:r>
                        <a:rPr lang="en-US" altLang="zh-CN" sz="1100" b="0" dirty="0">
                          <a:solidFill>
                            <a:srgbClr val="1F2937"/>
                          </a:solidFill>
                        </a:rPr>
                        <a:t>2025 net revenue: $871.9M, +13.0% YoY</a:t>
                      </a:r>
                      <a:endParaRPr lang="en-US" altLang="zh-CN" sz="1100" dirty="0"/>
                    </a:p>
                    <a:p>
                      <a:pPr marL="171450" indent="-171450">
                        <a:buFont typeface="Arial" panose="020B0604020202090204" pitchFamily="34" charset="0"/>
                        <a:buChar char="•"/>
                      </a:pPr>
                      <a:r>
                        <a:rPr lang="en-US" altLang="zh-CN" sz="1100" b="0" dirty="0">
                          <a:solidFill>
                            <a:srgbClr val="1F2937"/>
                          </a:solidFill>
                        </a:rPr>
                        <a:t>Gross margin: 54.0%</a:t>
                      </a:r>
                      <a:endParaRPr lang="en-US" altLang="zh-CN" sz="1100" dirty="0"/>
                    </a:p>
                    <a:p>
                      <a:pPr marL="171450" indent="-171450">
                        <a:buFont typeface="Arial" panose="020B0604020202090204" pitchFamily="34" charset="0"/>
                        <a:buChar char="•"/>
                      </a:pPr>
                      <a:r>
                        <a:rPr lang="en-US" altLang="zh-CN" sz="1100" b="0" dirty="0">
                          <a:solidFill>
                            <a:srgbClr val="1F2937"/>
                          </a:solidFill>
                        </a:rPr>
                        <a:t>Adjusted EBITDA margin: 10.9%</a:t>
                      </a:r>
                      <a:endParaRPr lang="en-US" altLang="zh-CN" sz="1100" dirty="0"/>
                    </a:p>
                    <a:p>
                      <a:pPr marL="171450" indent="-171450">
                        <a:buFont typeface="Arial" panose="020B0604020202090204" pitchFamily="34" charset="0"/>
                        <a:buChar char="•"/>
                      </a:pPr>
                      <a:r>
                        <a:rPr lang="en-US" altLang="zh-CN" sz="1100" b="0" dirty="0">
                          <a:solidFill>
                            <a:srgbClr val="1F2937"/>
                          </a:solidFill>
                        </a:rPr>
                        <a:t>Full-year net profit: $1.6M (first positive annual profit)</a:t>
                      </a:r>
                      <a:endParaRPr lang="en-US" altLang="zh-CN" sz="1100" dirty="0"/>
                    </a:p>
                    <a:p>
                      <a:pPr marL="171450" indent="-171450">
                        <a:buFont typeface="Arial" panose="020B0604020202090204" pitchFamily="34" charset="0"/>
                        <a:buChar char="•"/>
                      </a:pPr>
                      <a:r>
                        <a:rPr lang="en-US" altLang="zh-CN" sz="1100" b="0" dirty="0">
                          <a:solidFill>
                            <a:srgbClr val="1F2937"/>
                          </a:solidFill>
                        </a:rPr>
                        <a:t>(Warby Parker Inc., 2026a)</a:t>
                      </a:r>
                      <a:endParaRPr lang="en-US" altLang="zh-CN" sz="1100" dirty="0"/>
                    </a:p>
                  </a:txBody>
                  <a:tcPr marL="63500" marR="63500" marT="50800" marB="50800">
                    <a:lnL w="6350" cap="flat" cmpd="sng">
                      <a:solidFill>
                        <a:srgbClr val="D0D0D0"/>
                      </a:solidFill>
                      <a:prstDash val="solid"/>
                    </a:lnL>
                    <a:lnR w="6350" cap="flat" cmpd="sng">
                      <a:solidFill>
                        <a:srgbClr val="D0D0D0"/>
                      </a:solidFill>
                      <a:prstDash val="solid"/>
                    </a:lnR>
                    <a:lnT w="6350" cap="flat" cmpd="sng">
                      <a:solidFill>
                        <a:srgbClr val="D0D0D0"/>
                      </a:solidFill>
                      <a:prstDash val="solid"/>
                    </a:lnT>
                    <a:lnB w="6350" cap="flat" cmpd="sng">
                      <a:solidFill>
                        <a:srgbClr val="D0D0D0"/>
                      </a:solidFill>
                      <a:prstDash val="solid"/>
                    </a:lnB>
                    <a:solidFill>
                      <a:srgbClr val="FAFBFC"/>
                    </a:solidFill>
                  </a:tcPr>
                </a:tc>
                <a:extLst>
                  <a:ext uri="{0D108BD9-81ED-4DB2-BD59-A6C34878D82A}">
                    <a16:rowId xmlns:a16="http://schemas.microsoft.com/office/drawing/2014/main" val="10002"/>
                  </a:ext>
                </a:extLst>
              </a:tr>
            </a:tbl>
          </a:graphicData>
        </a:graphic>
      </p:graphicFrame>
      <p:sp>
        <p:nvSpPr>
          <p:cNvPr id="9" name="文本框 8"/>
          <p:cNvSpPr txBox="1"/>
          <p:nvPr/>
        </p:nvSpPr>
        <p:spPr>
          <a:xfrm>
            <a:off x="5485765" y="5836285"/>
            <a:ext cx="4064000" cy="368300"/>
          </a:xfrm>
          <a:prstGeom prst="rect">
            <a:avLst/>
          </a:prstGeom>
          <a:noFill/>
        </p:spPr>
        <p:txBody>
          <a:bodyPr wrap="square" rtlCol="0">
            <a:spAutoFit/>
          </a:bodyPr>
          <a:lstStyle/>
          <a:p>
            <a:endParaRPr lang="zh-CN" altLang="en-US">
              <a:latin typeface="+mn-e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475488"/>
          </a:xfrm>
          <a:prstGeom prst="rect">
            <a:avLst/>
          </a:prstGeom>
          <a:solidFill>
            <a:srgbClr val="FF9900"/>
          </a:solidFill>
          <a:ln w="12700">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n-ea"/>
            </a:endParaRPr>
          </a:p>
        </p:txBody>
      </p:sp>
      <p:sp>
        <p:nvSpPr>
          <p:cNvPr id="3" name="TextBox 2"/>
          <p:cNvSpPr txBox="1"/>
          <p:nvPr/>
        </p:nvSpPr>
        <p:spPr>
          <a:xfrm>
            <a:off x="256032" y="128016"/>
            <a:ext cx="4114800" cy="356235"/>
          </a:xfrm>
          <a:prstGeom prst="rect">
            <a:avLst/>
          </a:prstGeom>
          <a:noFill/>
        </p:spPr>
        <p:txBody>
          <a:bodyPr wrap="square" lIns="18288" tIns="9144" rIns="18288" bIns="9144" anchor="t">
            <a:spAutoFit/>
          </a:bodyPr>
          <a:lstStyle/>
          <a:p>
            <a:pPr algn="l"/>
            <a:r>
              <a:rPr lang="en-US" sz="1100" b="1">
                <a:solidFill>
                  <a:srgbClr val="FFFFFF"/>
                </a:solidFill>
                <a:latin typeface="+mn-ea"/>
                <a:sym typeface="+mn-ea"/>
              </a:rPr>
              <a:t>Xin.he 2145653</a:t>
            </a:r>
            <a:endParaRPr lang="en-US" sz="1100" b="1" i="0">
              <a:solidFill>
                <a:srgbClr val="1F3A5F"/>
              </a:solidFill>
              <a:latin typeface="+mn-ea"/>
            </a:endParaRPr>
          </a:p>
          <a:p>
            <a:pPr algn="l"/>
            <a:endParaRPr sz="1100" b="1" i="0">
              <a:solidFill>
                <a:srgbClr val="1F3A5F"/>
              </a:solidFill>
              <a:latin typeface="+mn-ea"/>
            </a:endParaRPr>
          </a:p>
        </p:txBody>
      </p:sp>
      <p:sp>
        <p:nvSpPr>
          <p:cNvPr id="4" name="TextBox 3"/>
          <p:cNvSpPr txBox="1"/>
          <p:nvPr/>
        </p:nvSpPr>
        <p:spPr>
          <a:xfrm>
            <a:off x="9875520" y="128016"/>
            <a:ext cx="2011680" cy="187744"/>
          </a:xfrm>
          <a:prstGeom prst="rect">
            <a:avLst/>
          </a:prstGeom>
          <a:noFill/>
        </p:spPr>
        <p:txBody>
          <a:bodyPr wrap="square" lIns="18288" tIns="9144" rIns="18288" bIns="9144" anchor="t">
            <a:spAutoFit/>
          </a:bodyPr>
          <a:lstStyle/>
          <a:p>
            <a:pPr algn="r"/>
            <a:r>
              <a:rPr sz="1100" b="1" i="0">
                <a:solidFill>
                  <a:srgbClr val="FFFFFF"/>
                </a:solidFill>
                <a:latin typeface="+mn-ea"/>
              </a:rPr>
              <a:t>Warby Parker</a:t>
            </a:r>
            <a:endParaRPr sz="1100" b="1" i="0">
              <a:solidFill>
                <a:srgbClr val="1F3A5F"/>
              </a:solidFill>
              <a:latin typeface="+mn-ea"/>
            </a:endParaRPr>
          </a:p>
        </p:txBody>
      </p:sp>
      <p:sp>
        <p:nvSpPr>
          <p:cNvPr id="5" name="TextBox 4"/>
          <p:cNvSpPr txBox="1"/>
          <p:nvPr/>
        </p:nvSpPr>
        <p:spPr>
          <a:xfrm>
            <a:off x="356235" y="598932"/>
            <a:ext cx="11155680" cy="401955"/>
          </a:xfrm>
          <a:prstGeom prst="rect">
            <a:avLst/>
          </a:prstGeom>
          <a:noFill/>
        </p:spPr>
        <p:txBody>
          <a:bodyPr wrap="square" lIns="18288" tIns="9144" rIns="18288" bIns="9144" anchor="t">
            <a:spAutoFit/>
          </a:bodyPr>
          <a:lstStyle/>
          <a:p>
            <a:pPr algn="l"/>
            <a:r>
              <a:rPr lang="en-US" altLang="zh-CN" sz="2500" b="1" i="0">
                <a:solidFill>
                  <a:srgbClr val="1F3A5F"/>
                </a:solidFill>
                <a:latin typeface="+mn-ea"/>
              </a:rPr>
              <a:t>Feasibility Analysis &amp; Recommendations</a:t>
            </a:r>
          </a:p>
        </p:txBody>
      </p:sp>
      <p:sp>
        <p:nvSpPr>
          <p:cNvPr id="9" name="Rectangle 8"/>
          <p:cNvSpPr/>
          <p:nvPr/>
        </p:nvSpPr>
        <p:spPr>
          <a:xfrm>
            <a:off x="457200" y="6473952"/>
            <a:ext cx="11247120" cy="9144"/>
          </a:xfrm>
          <a:prstGeom prst="rect">
            <a:avLst/>
          </a:prstGeom>
          <a:solidFill>
            <a:srgbClr val="FF9900"/>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n-ea"/>
            </a:endParaRPr>
          </a:p>
        </p:txBody>
      </p:sp>
      <p:graphicFrame>
        <p:nvGraphicFramePr>
          <p:cNvPr id="7" name="表格 6"/>
          <p:cNvGraphicFramePr/>
          <p:nvPr/>
        </p:nvGraphicFramePr>
        <p:xfrm>
          <a:off x="1170940" y="1940560"/>
          <a:ext cx="9097010" cy="4189730"/>
        </p:xfrm>
        <a:graphic>
          <a:graphicData uri="http://schemas.openxmlformats.org/drawingml/2006/table">
            <a:tbl>
              <a:tblPr/>
              <a:tblGrid>
                <a:gridCol w="1235075">
                  <a:extLst>
                    <a:ext uri="{9D8B030D-6E8A-4147-A177-3AD203B41FA5}">
                      <a16:colId xmlns:a16="http://schemas.microsoft.com/office/drawing/2014/main" val="20000"/>
                    </a:ext>
                  </a:extLst>
                </a:gridCol>
                <a:gridCol w="3030855">
                  <a:extLst>
                    <a:ext uri="{9D8B030D-6E8A-4147-A177-3AD203B41FA5}">
                      <a16:colId xmlns:a16="http://schemas.microsoft.com/office/drawing/2014/main" val="20001"/>
                    </a:ext>
                  </a:extLst>
                </a:gridCol>
                <a:gridCol w="2374900">
                  <a:extLst>
                    <a:ext uri="{9D8B030D-6E8A-4147-A177-3AD203B41FA5}">
                      <a16:colId xmlns:a16="http://schemas.microsoft.com/office/drawing/2014/main" val="20002"/>
                    </a:ext>
                  </a:extLst>
                </a:gridCol>
                <a:gridCol w="2456180">
                  <a:extLst>
                    <a:ext uri="{9D8B030D-6E8A-4147-A177-3AD203B41FA5}">
                      <a16:colId xmlns:a16="http://schemas.microsoft.com/office/drawing/2014/main" val="20003"/>
                    </a:ext>
                  </a:extLst>
                </a:gridCol>
              </a:tblGrid>
              <a:tr h="379730">
                <a:tc>
                  <a:txBody>
                    <a:bodyPr/>
                    <a:lstStyle/>
                    <a:p>
                      <a:pPr algn="l">
                        <a:buNone/>
                      </a:pPr>
                      <a:r>
                        <a:rPr lang="en-US" altLang="zh-CN" sz="1000" b="1">
                          <a:solidFill>
                            <a:srgbClr val="FFFFFF"/>
                          </a:solidFill>
                        </a:rPr>
                        <a:t>Viability Analysis</a:t>
                      </a:r>
                    </a:p>
                  </a:txBody>
                  <a:tcPr marL="63500" marR="63500" marT="50800" marB="50800">
                    <a:lnL w="6350" cap="flat" cmpd="sng">
                      <a:solidFill>
                        <a:srgbClr val="D0D0D0"/>
                      </a:solidFill>
                      <a:prstDash val="solid"/>
                    </a:lnL>
                    <a:lnR w="6350" cap="flat" cmpd="sng">
                      <a:solidFill>
                        <a:srgbClr val="D0D0D0"/>
                      </a:solidFill>
                      <a:prstDash val="solid"/>
                    </a:lnR>
                    <a:lnT w="6350" cap="flat" cmpd="sng">
                      <a:solidFill>
                        <a:srgbClr val="D0D0D0"/>
                      </a:solidFill>
                      <a:prstDash val="solid"/>
                    </a:lnT>
                    <a:lnB w="6350" cap="flat" cmpd="sng">
                      <a:solidFill>
                        <a:srgbClr val="D0D0D0"/>
                      </a:solidFill>
                      <a:prstDash val="solid"/>
                    </a:lnB>
                    <a:solidFill>
                      <a:srgbClr val="FFAD33"/>
                    </a:solidFill>
                  </a:tcPr>
                </a:tc>
                <a:tc>
                  <a:txBody>
                    <a:bodyPr/>
                    <a:lstStyle/>
                    <a:p>
                      <a:pPr algn="l">
                        <a:buNone/>
                      </a:pPr>
                      <a:r>
                        <a:rPr lang="en-US" altLang="zh-CN" sz="1000" b="1">
                          <a:solidFill>
                            <a:srgbClr val="FFFFFF"/>
                          </a:solidFill>
                        </a:rPr>
                        <a:t>Warby Parker Status</a:t>
                      </a:r>
                    </a:p>
                  </a:txBody>
                  <a:tcPr marL="63500" marR="63500" marT="50800" marB="50800">
                    <a:lnL w="6350" cap="flat" cmpd="sng">
                      <a:solidFill>
                        <a:srgbClr val="D0D0D0"/>
                      </a:solidFill>
                      <a:prstDash val="solid"/>
                    </a:lnL>
                    <a:lnR w="6350" cap="flat" cmpd="sng">
                      <a:solidFill>
                        <a:srgbClr val="D0D0D0"/>
                      </a:solidFill>
                      <a:prstDash val="solid"/>
                    </a:lnR>
                    <a:lnT w="6350" cap="flat" cmpd="sng">
                      <a:solidFill>
                        <a:srgbClr val="D0D0D0"/>
                      </a:solidFill>
                      <a:prstDash val="solid"/>
                    </a:lnT>
                    <a:lnB w="6350" cap="flat" cmpd="sng">
                      <a:solidFill>
                        <a:srgbClr val="D0D0D0"/>
                      </a:solidFill>
                      <a:prstDash val="solid"/>
                    </a:lnB>
                    <a:solidFill>
                      <a:srgbClr val="FFAD33"/>
                    </a:solidFill>
                  </a:tcPr>
                </a:tc>
                <a:tc>
                  <a:txBody>
                    <a:bodyPr/>
                    <a:lstStyle/>
                    <a:p>
                      <a:pPr algn="l">
                        <a:buNone/>
                      </a:pPr>
                      <a:r>
                        <a:rPr lang="en-US" altLang="zh-CN" sz="1000" b="1">
                          <a:solidFill>
                            <a:srgbClr val="FFFFFF"/>
                          </a:solidFill>
                        </a:rPr>
                        <a:t>Risks</a:t>
                      </a:r>
                    </a:p>
                  </a:txBody>
                  <a:tcPr marL="63500" marR="63500" marT="50800" marB="50800">
                    <a:lnL w="6350" cap="flat" cmpd="sng">
                      <a:solidFill>
                        <a:srgbClr val="D0D0D0"/>
                      </a:solidFill>
                      <a:prstDash val="solid"/>
                    </a:lnL>
                    <a:lnR w="6350" cap="flat" cmpd="sng">
                      <a:solidFill>
                        <a:srgbClr val="D0D0D0"/>
                      </a:solidFill>
                      <a:prstDash val="solid"/>
                    </a:lnR>
                    <a:lnT w="6350" cap="flat" cmpd="sng">
                      <a:solidFill>
                        <a:srgbClr val="D0D0D0"/>
                      </a:solidFill>
                      <a:prstDash val="solid"/>
                    </a:lnT>
                    <a:lnB w="6350" cap="flat" cmpd="sng">
                      <a:solidFill>
                        <a:srgbClr val="D0D0D0"/>
                      </a:solidFill>
                      <a:prstDash val="solid"/>
                    </a:lnB>
                    <a:solidFill>
                      <a:srgbClr val="FFAD33"/>
                    </a:solidFill>
                  </a:tcPr>
                </a:tc>
                <a:tc>
                  <a:txBody>
                    <a:bodyPr/>
                    <a:lstStyle/>
                    <a:p>
                      <a:pPr algn="l">
                        <a:buNone/>
                      </a:pPr>
                      <a:r>
                        <a:rPr lang="en-US" altLang="zh-CN" sz="1000" b="1">
                          <a:solidFill>
                            <a:srgbClr val="FFFFFF"/>
                          </a:solidFill>
                        </a:rPr>
                        <a:t>Suggestions</a:t>
                      </a:r>
                    </a:p>
                  </a:txBody>
                  <a:tcPr marL="63500" marR="63500" marT="50800" marB="50800">
                    <a:lnL w="6350" cap="flat" cmpd="sng">
                      <a:solidFill>
                        <a:srgbClr val="D0D0D0"/>
                      </a:solidFill>
                      <a:prstDash val="solid"/>
                    </a:lnL>
                    <a:lnR w="6350" cap="flat" cmpd="sng">
                      <a:solidFill>
                        <a:srgbClr val="D0D0D0"/>
                      </a:solidFill>
                      <a:prstDash val="solid"/>
                    </a:lnR>
                    <a:lnT w="6350" cap="flat" cmpd="sng">
                      <a:solidFill>
                        <a:srgbClr val="D0D0D0"/>
                      </a:solidFill>
                      <a:prstDash val="solid"/>
                    </a:lnT>
                    <a:lnB w="6350" cap="flat" cmpd="sng">
                      <a:solidFill>
                        <a:srgbClr val="D0D0D0"/>
                      </a:solidFill>
                      <a:prstDash val="solid"/>
                    </a:lnB>
                    <a:solidFill>
                      <a:srgbClr val="FFAD33"/>
                    </a:solidFill>
                  </a:tcPr>
                </a:tc>
                <a:extLst>
                  <a:ext uri="{0D108BD9-81ED-4DB2-BD59-A6C34878D82A}">
                    <a16:rowId xmlns:a16="http://schemas.microsoft.com/office/drawing/2014/main" val="10000"/>
                  </a:ext>
                </a:extLst>
              </a:tr>
              <a:tr h="381000">
                <a:tc>
                  <a:txBody>
                    <a:bodyPr/>
                    <a:lstStyle/>
                    <a:p>
                      <a:pPr algn="l">
                        <a:buNone/>
                      </a:pPr>
                      <a:r>
                        <a:rPr lang="en-US" altLang="zh-CN" sz="1000" b="1">
                          <a:solidFill>
                            <a:srgbClr val="1F3A5F"/>
                          </a:solidFill>
                        </a:rPr>
                        <a:t>Strategic Analysis — Industry</a:t>
                      </a:r>
                    </a:p>
                  </a:txBody>
                  <a:tcPr marL="63500" marR="63500" marT="50800" marB="50800">
                    <a:lnL w="6350" cap="flat" cmpd="sng">
                      <a:solidFill>
                        <a:srgbClr val="D0D0D0"/>
                      </a:solidFill>
                      <a:prstDash val="solid"/>
                    </a:lnL>
                    <a:lnR w="6350" cap="flat" cmpd="sng">
                      <a:solidFill>
                        <a:srgbClr val="D0D0D0"/>
                      </a:solidFill>
                      <a:prstDash val="solid"/>
                    </a:lnR>
                    <a:lnT w="6350" cap="flat" cmpd="sng">
                      <a:solidFill>
                        <a:srgbClr val="D0D0D0"/>
                      </a:solidFill>
                      <a:prstDash val="solid"/>
                    </a:lnT>
                    <a:lnB w="6350" cap="flat" cmpd="sng">
                      <a:solidFill>
                        <a:srgbClr val="D0D0D0"/>
                      </a:solidFill>
                      <a:prstDash val="solid"/>
                    </a:lnB>
                    <a:solidFill>
                      <a:srgbClr val="FFF7ED"/>
                    </a:solidFill>
                  </a:tcPr>
                </a:tc>
                <a:tc>
                  <a:txBody>
                    <a:bodyPr/>
                    <a:lstStyle/>
                    <a:p>
                      <a:pPr marL="171450" indent="-171450">
                        <a:buFont typeface="Arial" panose="020B0604020202090204" pitchFamily="34" charset="0"/>
                        <a:buChar char="•"/>
                      </a:pPr>
                      <a:r>
                        <a:rPr lang="en-US" altLang="zh-CN" sz="1000" b="0">
                          <a:solidFill>
                            <a:srgbClr val="1F2937"/>
                          </a:solidFill>
                        </a:rPr>
                        <a:t>U.S. eyewear retail remains highly competitive; Luxottica holds ~28% market share</a:t>
                      </a:r>
                      <a:endParaRPr lang="en-US" altLang="zh-CN" sz="1000"/>
                    </a:p>
                    <a:p>
                      <a:pPr marL="171450" indent="-171450">
                        <a:buFont typeface="Arial" panose="020B0604020202090204" pitchFamily="34" charset="0"/>
                        <a:buChar char="•"/>
                      </a:pPr>
                      <a:r>
                        <a:rPr lang="en-US" altLang="zh-CN" sz="1000" b="0">
                          <a:solidFill>
                            <a:srgbClr val="1F2937"/>
                          </a:solidFill>
                        </a:rPr>
                        <a:t>Warby Parker: 7.2% share, up from 6.8% in Q4 2023</a:t>
                      </a:r>
                      <a:endParaRPr lang="en-US" altLang="zh-CN" sz="1000"/>
                    </a:p>
                    <a:p>
                      <a:pPr marL="171450" indent="-171450">
                        <a:buFont typeface="Arial" panose="020B0604020202090204" pitchFamily="34" charset="0"/>
                        <a:buChar char="•"/>
                      </a:pPr>
                      <a:r>
                        <a:rPr lang="en-US" altLang="zh-CN" sz="1000" b="0">
                          <a:solidFill>
                            <a:srgbClr val="1F2937"/>
                          </a:solidFill>
                        </a:rPr>
                        <a:t>“Other” small retailers: 32% share, indicating a fragmented market with many entrants</a:t>
                      </a:r>
                      <a:endParaRPr lang="en-US" altLang="zh-CN" sz="1000"/>
                    </a:p>
                    <a:p>
                      <a:pPr marL="171450" indent="-171450">
                        <a:buFont typeface="Arial" panose="020B0604020202090204" pitchFamily="34" charset="0"/>
                        <a:buChar char="•"/>
                      </a:pPr>
                      <a:r>
                        <a:rPr lang="en-US" altLang="zh-CN" sz="1000" b="0">
                          <a:solidFill>
                            <a:srgbClr val="1F2937"/>
                          </a:solidFill>
                        </a:rPr>
                        <a:t>(Consumer Edge, 2024)</a:t>
                      </a:r>
                      <a:endParaRPr lang="en-US" altLang="zh-CN" sz="1000"/>
                    </a:p>
                  </a:txBody>
                  <a:tcPr marL="63500" marR="63500" marT="50800" marB="50800">
                    <a:lnL w="6350" cap="flat" cmpd="sng">
                      <a:solidFill>
                        <a:srgbClr val="D0D0D0"/>
                      </a:solidFill>
                      <a:prstDash val="solid"/>
                    </a:lnL>
                    <a:lnR w="6350" cap="flat" cmpd="sng">
                      <a:solidFill>
                        <a:srgbClr val="D0D0D0"/>
                      </a:solidFill>
                      <a:prstDash val="solid"/>
                    </a:lnR>
                    <a:lnT w="6350" cap="flat" cmpd="sng">
                      <a:solidFill>
                        <a:srgbClr val="D0D0D0"/>
                      </a:solidFill>
                      <a:prstDash val="solid"/>
                    </a:lnT>
                    <a:lnB w="6350" cap="flat" cmpd="sng">
                      <a:solidFill>
                        <a:srgbClr val="D0D0D0"/>
                      </a:solidFill>
                      <a:prstDash val="solid"/>
                    </a:lnB>
                    <a:solidFill>
                      <a:srgbClr val="FFFFFF"/>
                    </a:solidFill>
                  </a:tcPr>
                </a:tc>
                <a:tc>
                  <a:txBody>
                    <a:bodyPr/>
                    <a:lstStyle/>
                    <a:p>
                      <a:pPr marL="171450" indent="-171450">
                        <a:buFont typeface="Arial" panose="020B0604020202090204" pitchFamily="34" charset="0"/>
                        <a:buChar char="•"/>
                      </a:pPr>
                      <a:r>
                        <a:rPr lang="en-US" altLang="zh-CN" sz="1000" b="0">
                          <a:solidFill>
                            <a:srgbClr val="1F2937"/>
                          </a:solidFill>
                        </a:rPr>
                        <a:t>Competition from low-cost online brands &amp; traditional optical stores</a:t>
                      </a:r>
                      <a:endParaRPr lang="en-US" altLang="zh-CN" sz="1000"/>
                    </a:p>
                    <a:p>
                      <a:pPr marL="171450" indent="-171450">
                        <a:buFont typeface="Arial" panose="020B0604020202090204" pitchFamily="34" charset="0"/>
                        <a:buChar char="•"/>
                      </a:pPr>
                      <a:r>
                        <a:rPr lang="en-US" altLang="zh-CN" sz="1000" b="0">
                          <a:solidFill>
                            <a:srgbClr val="1F2937"/>
                          </a:solidFill>
                        </a:rPr>
                        <a:t>Low comparison cost; customers are price-sensitive</a:t>
                      </a:r>
                      <a:endParaRPr lang="en-US" altLang="zh-CN" sz="1000"/>
                    </a:p>
                    <a:p>
                      <a:pPr marL="171450" indent="-171450">
                        <a:buFont typeface="Arial" panose="020B0604020202090204" pitchFamily="34" charset="0"/>
                        <a:buChar char="•"/>
                      </a:pPr>
                      <a:r>
                        <a:rPr lang="en-US" altLang="zh-CN" sz="1000" b="0">
                          <a:solidFill>
                            <a:srgbClr val="1F2937"/>
                          </a:solidFill>
                        </a:rPr>
                        <a:t>AI eyewear segment faces competition from tech companies</a:t>
                      </a:r>
                      <a:endParaRPr lang="en-US" altLang="zh-CN" sz="1000"/>
                    </a:p>
                  </a:txBody>
                  <a:tcPr marL="63500" marR="63500" marT="50800" marB="50800">
                    <a:lnL w="6350" cap="flat" cmpd="sng">
                      <a:solidFill>
                        <a:srgbClr val="D0D0D0"/>
                      </a:solidFill>
                      <a:prstDash val="solid"/>
                    </a:lnL>
                    <a:lnR w="6350" cap="flat" cmpd="sng">
                      <a:solidFill>
                        <a:srgbClr val="D0D0D0"/>
                      </a:solidFill>
                      <a:prstDash val="solid"/>
                    </a:lnR>
                    <a:lnT w="6350" cap="flat" cmpd="sng">
                      <a:solidFill>
                        <a:srgbClr val="D0D0D0"/>
                      </a:solidFill>
                      <a:prstDash val="solid"/>
                    </a:lnT>
                    <a:lnB w="6350" cap="flat" cmpd="sng">
                      <a:solidFill>
                        <a:srgbClr val="D0D0D0"/>
                      </a:solidFill>
                      <a:prstDash val="solid"/>
                    </a:lnB>
                    <a:solidFill>
                      <a:srgbClr val="FFFFFF"/>
                    </a:solidFill>
                  </a:tcPr>
                </a:tc>
                <a:tc>
                  <a:txBody>
                    <a:bodyPr/>
                    <a:lstStyle/>
                    <a:p>
                      <a:pPr marL="171450" indent="-171450">
                        <a:buFont typeface="Arial" panose="020B0604020202090204" pitchFamily="34" charset="0"/>
                        <a:buChar char="•"/>
                      </a:pPr>
                      <a:r>
                        <a:rPr lang="en-US" altLang="zh-CN" sz="1000" b="0" dirty="0">
                          <a:solidFill>
                            <a:srgbClr val="1F2937"/>
                          </a:solidFill>
                        </a:rPr>
                        <a:t>Avoid price wars; strengthen design + vision care + online convenience</a:t>
                      </a:r>
                      <a:endParaRPr lang="en-US" altLang="zh-CN" sz="1000" dirty="0"/>
                    </a:p>
                    <a:p>
                      <a:pPr marL="171450" indent="-171450">
                        <a:buFont typeface="Arial" panose="020B0604020202090204" pitchFamily="34" charset="0"/>
                        <a:buChar char="•"/>
                      </a:pPr>
                      <a:r>
                        <a:rPr lang="en-US" altLang="zh-CN" sz="1000" b="0" dirty="0">
                          <a:solidFill>
                            <a:srgbClr val="1F2937"/>
                          </a:solidFill>
                        </a:rPr>
                        <a:t>AI eyewear highlights WP’s integration of prescription, eye exams, and in-store services</a:t>
                      </a:r>
                      <a:endParaRPr lang="en-US" altLang="zh-CN" sz="1000" dirty="0"/>
                    </a:p>
                  </a:txBody>
                  <a:tcPr marL="63500" marR="63500" marT="50800" marB="50800">
                    <a:lnL w="6350" cap="flat" cmpd="sng">
                      <a:solidFill>
                        <a:srgbClr val="D0D0D0"/>
                      </a:solidFill>
                      <a:prstDash val="solid"/>
                    </a:lnL>
                    <a:lnR w="6350" cap="flat" cmpd="sng">
                      <a:solidFill>
                        <a:srgbClr val="D0D0D0"/>
                      </a:solidFill>
                      <a:prstDash val="solid"/>
                    </a:lnR>
                    <a:lnT w="6350" cap="flat" cmpd="sng">
                      <a:solidFill>
                        <a:srgbClr val="D0D0D0"/>
                      </a:solidFill>
                      <a:prstDash val="solid"/>
                    </a:lnT>
                    <a:lnB w="6350" cap="flat" cmpd="sng">
                      <a:solidFill>
                        <a:srgbClr val="D0D0D0"/>
                      </a:solidFill>
                      <a:prstDash val="solid"/>
                    </a:lnB>
                    <a:solidFill>
                      <a:srgbClr val="FFFFFF"/>
                    </a:solidFill>
                  </a:tcPr>
                </a:tc>
                <a:extLst>
                  <a:ext uri="{0D108BD9-81ED-4DB2-BD59-A6C34878D82A}">
                    <a16:rowId xmlns:a16="http://schemas.microsoft.com/office/drawing/2014/main" val="10001"/>
                  </a:ext>
                </a:extLst>
              </a:tr>
              <a:tr h="381000">
                <a:tc>
                  <a:txBody>
                    <a:bodyPr/>
                    <a:lstStyle/>
                    <a:p>
                      <a:pPr algn="l">
                        <a:buNone/>
                      </a:pPr>
                      <a:r>
                        <a:rPr lang="en-US" altLang="zh-CN" sz="1000" b="1">
                          <a:solidFill>
                            <a:srgbClr val="1F3A5F"/>
                          </a:solidFill>
                        </a:rPr>
                        <a:t>Strategic Analysis — Firm</a:t>
                      </a:r>
                    </a:p>
                  </a:txBody>
                  <a:tcPr marL="63500" marR="63500" marT="50800" marB="50800">
                    <a:lnL w="6350" cap="flat" cmpd="sng">
                      <a:solidFill>
                        <a:srgbClr val="D0D0D0"/>
                      </a:solidFill>
                      <a:prstDash val="solid"/>
                    </a:lnL>
                    <a:lnR w="6350" cap="flat" cmpd="sng">
                      <a:solidFill>
                        <a:srgbClr val="D0D0D0"/>
                      </a:solidFill>
                      <a:prstDash val="solid"/>
                    </a:lnR>
                    <a:lnT w="6350" cap="flat" cmpd="sng">
                      <a:solidFill>
                        <a:srgbClr val="D0D0D0"/>
                      </a:solidFill>
                      <a:prstDash val="solid"/>
                    </a:lnT>
                    <a:lnB w="6350" cap="flat" cmpd="sng">
                      <a:solidFill>
                        <a:srgbClr val="D0D0D0"/>
                      </a:solidFill>
                      <a:prstDash val="solid"/>
                    </a:lnB>
                    <a:solidFill>
                      <a:srgbClr val="FFF7ED"/>
                    </a:solidFill>
                  </a:tcPr>
                </a:tc>
                <a:tc>
                  <a:txBody>
                    <a:bodyPr/>
                    <a:lstStyle/>
                    <a:p>
                      <a:pPr marL="171450" indent="-171450">
                        <a:buFont typeface="Arial" panose="020B0604020202090204" pitchFamily="34" charset="0"/>
                        <a:buChar char="•"/>
                      </a:pPr>
                      <a:r>
                        <a:rPr lang="en-US" altLang="zh-CN" sz="1000" b="0" dirty="0">
                          <a:solidFill>
                            <a:srgbClr val="1F2937"/>
                          </a:solidFill>
                        </a:rPr>
                        <a:t>323 stores by end of 2025; online DTC + stores form an omnichannel system</a:t>
                      </a:r>
                      <a:endParaRPr lang="en-US" altLang="zh-CN" sz="1000" dirty="0"/>
                    </a:p>
                    <a:p>
                      <a:pPr marL="171450" indent="-171450">
                        <a:buFont typeface="Arial" panose="020B0604020202090204" pitchFamily="34" charset="0"/>
                        <a:buChar char="•"/>
                      </a:pPr>
                      <a:r>
                        <a:rPr lang="en-US" altLang="zh-CN" sz="1000" b="0" dirty="0">
                          <a:solidFill>
                            <a:srgbClr val="1F2937"/>
                          </a:solidFill>
                        </a:rPr>
                        <a:t>Virtual Try-On / Advisor improve online selection experience</a:t>
                      </a:r>
                      <a:endParaRPr lang="en-US" altLang="zh-CN" sz="1000" dirty="0"/>
                    </a:p>
                    <a:p>
                      <a:pPr marL="171450" indent="-171450">
                        <a:buFont typeface="Arial" panose="020B0604020202090204" pitchFamily="34" charset="0"/>
                        <a:buChar char="•"/>
                      </a:pPr>
                      <a:r>
                        <a:rPr lang="en-US" altLang="zh-CN" sz="1000" b="0" dirty="0">
                          <a:solidFill>
                            <a:srgbClr val="1F2937"/>
                          </a:solidFill>
                        </a:rPr>
                        <a:t>Intelligent Eyewear designed by Warby Parker, with Google AI and Samsung hardware, launching Fall 2026</a:t>
                      </a:r>
                      <a:endParaRPr lang="en-US" altLang="zh-CN" sz="1000" dirty="0"/>
                    </a:p>
                    <a:p>
                      <a:pPr marL="171450" indent="-171450">
                        <a:buFont typeface="Arial" panose="020B0604020202090204" pitchFamily="34" charset="0"/>
                        <a:buChar char="•"/>
                      </a:pPr>
                      <a:r>
                        <a:rPr lang="en-US" altLang="zh-CN" sz="1000" b="0" dirty="0">
                          <a:solidFill>
                            <a:srgbClr val="1F2937"/>
                          </a:solidFill>
                        </a:rPr>
                        <a:t>(Warby Parker Inc., 2026a; Warby Parker Inc., 2026b)</a:t>
                      </a:r>
                      <a:endParaRPr lang="en-US" altLang="zh-CN" sz="1000" dirty="0"/>
                    </a:p>
                  </a:txBody>
                  <a:tcPr marL="63500" marR="63500" marT="50800" marB="50800">
                    <a:lnL w="6350" cap="flat" cmpd="sng">
                      <a:solidFill>
                        <a:srgbClr val="D0D0D0"/>
                      </a:solidFill>
                      <a:prstDash val="solid"/>
                    </a:lnL>
                    <a:lnR w="6350" cap="flat" cmpd="sng">
                      <a:solidFill>
                        <a:srgbClr val="D0D0D0"/>
                      </a:solidFill>
                      <a:prstDash val="solid"/>
                    </a:lnR>
                    <a:lnT w="6350" cap="flat" cmpd="sng">
                      <a:solidFill>
                        <a:srgbClr val="D0D0D0"/>
                      </a:solidFill>
                      <a:prstDash val="solid"/>
                    </a:lnT>
                    <a:lnB w="6350" cap="flat" cmpd="sng">
                      <a:solidFill>
                        <a:srgbClr val="D0D0D0"/>
                      </a:solidFill>
                      <a:prstDash val="solid"/>
                    </a:lnB>
                    <a:solidFill>
                      <a:srgbClr val="FAFBFC"/>
                    </a:solidFill>
                  </a:tcPr>
                </a:tc>
                <a:tc>
                  <a:txBody>
                    <a:bodyPr/>
                    <a:lstStyle/>
                    <a:p>
                      <a:pPr marL="171450" indent="-171450">
                        <a:buFont typeface="Arial" panose="020B0604020202090204" pitchFamily="34" charset="0"/>
                        <a:buChar char="•"/>
                      </a:pPr>
                      <a:r>
                        <a:rPr lang="en-US" altLang="zh-CN" sz="1000" b="0">
                          <a:solidFill>
                            <a:srgbClr val="1F2937"/>
                          </a:solidFill>
                        </a:rPr>
                        <a:t>Store expansion raises rent, staffing, doctor costs and management complexity</a:t>
                      </a:r>
                      <a:endParaRPr lang="en-US" altLang="zh-CN" sz="1000"/>
                    </a:p>
                    <a:p>
                      <a:pPr marL="171450" indent="-171450">
                        <a:buFont typeface="Arial" panose="020B0604020202090204" pitchFamily="34" charset="0"/>
                        <a:buChar char="•"/>
                      </a:pPr>
                      <a:r>
                        <a:rPr lang="en-US" altLang="zh-CN" sz="1000" b="0">
                          <a:solidFill>
                            <a:srgbClr val="1F2937"/>
                          </a:solidFill>
                        </a:rPr>
                        <a:t>AI eyewear involves privacy, security, data usage and consumer trust</a:t>
                      </a:r>
                      <a:endParaRPr lang="en-US" altLang="zh-CN" sz="1000"/>
                    </a:p>
                    <a:p>
                      <a:pPr marL="171450" indent="-171450">
                        <a:buFont typeface="Arial" panose="020B0604020202090204" pitchFamily="34" charset="0"/>
                        <a:buChar char="•"/>
                      </a:pPr>
                      <a:r>
                        <a:rPr lang="en-US" altLang="zh-CN" sz="1000" b="0">
                          <a:solidFill>
                            <a:srgbClr val="1F2937"/>
                          </a:solidFill>
                        </a:rPr>
                        <a:t>Vision care expansion brings medical and compliance pressure</a:t>
                      </a:r>
                      <a:endParaRPr lang="en-US" altLang="zh-CN" sz="1000"/>
                    </a:p>
                  </a:txBody>
                  <a:tcPr marL="63500" marR="63500" marT="50800" marB="50800">
                    <a:lnL w="6350" cap="flat" cmpd="sng">
                      <a:solidFill>
                        <a:srgbClr val="D0D0D0"/>
                      </a:solidFill>
                      <a:prstDash val="solid"/>
                    </a:lnL>
                    <a:lnR w="6350" cap="flat" cmpd="sng">
                      <a:solidFill>
                        <a:srgbClr val="D0D0D0"/>
                      </a:solidFill>
                      <a:prstDash val="solid"/>
                    </a:lnR>
                    <a:lnT w="6350" cap="flat" cmpd="sng">
                      <a:solidFill>
                        <a:srgbClr val="D0D0D0"/>
                      </a:solidFill>
                      <a:prstDash val="solid"/>
                    </a:lnT>
                    <a:lnB w="6350" cap="flat" cmpd="sng">
                      <a:solidFill>
                        <a:srgbClr val="D0D0D0"/>
                      </a:solidFill>
                      <a:prstDash val="solid"/>
                    </a:lnB>
                    <a:solidFill>
                      <a:srgbClr val="FAFBFC"/>
                    </a:solidFill>
                  </a:tcPr>
                </a:tc>
                <a:tc>
                  <a:txBody>
                    <a:bodyPr/>
                    <a:lstStyle/>
                    <a:p>
                      <a:pPr marL="171450" indent="-171450">
                        <a:buFont typeface="Arial" panose="020B0604020202090204" pitchFamily="34" charset="0"/>
                        <a:buChar char="•"/>
                      </a:pPr>
                      <a:r>
                        <a:rPr lang="en-US" altLang="zh-CN" sz="1000" b="0">
                          <a:solidFill>
                            <a:srgbClr val="1F2937"/>
                          </a:solidFill>
                        </a:rPr>
                        <a:t>Stores positioned as vision care centers, not just retail outlets</a:t>
                      </a:r>
                      <a:endParaRPr lang="en-US" altLang="zh-CN" sz="1000"/>
                    </a:p>
                    <a:p>
                      <a:pPr marL="171450" indent="-171450">
                        <a:buFont typeface="Arial" panose="020B0604020202090204" pitchFamily="34" charset="0"/>
                        <a:buChar char="•"/>
                      </a:pPr>
                      <a:r>
                        <a:rPr lang="en-US" altLang="zh-CN" sz="1000" b="0">
                          <a:solidFill>
                            <a:srgbClr val="1F2937"/>
                          </a:solidFill>
                        </a:rPr>
                        <a:t>Launch AI eyewear with small-scale trials and clear data &amp; privacy rules</a:t>
                      </a:r>
                      <a:endParaRPr lang="en-US" altLang="zh-CN" sz="1000"/>
                    </a:p>
                    <a:p>
                      <a:pPr marL="171450" indent="-171450">
                        <a:buFont typeface="Arial" panose="020B0604020202090204" pitchFamily="34" charset="0"/>
                        <a:buChar char="•"/>
                      </a:pPr>
                      <a:r>
                        <a:rPr lang="en-US" altLang="zh-CN" sz="1000" b="0">
                          <a:solidFill>
                            <a:srgbClr val="1F2937"/>
                          </a:solidFill>
                        </a:rPr>
                        <a:t>Leverage Advisor and AR to reduce selection uncertainty and service costs</a:t>
                      </a:r>
                      <a:endParaRPr lang="en-US" altLang="zh-CN" sz="1000"/>
                    </a:p>
                  </a:txBody>
                  <a:tcPr marL="63500" marR="63500" marT="50800" marB="50800">
                    <a:lnL w="6350" cap="flat" cmpd="sng">
                      <a:solidFill>
                        <a:srgbClr val="D0D0D0"/>
                      </a:solidFill>
                      <a:prstDash val="solid"/>
                    </a:lnL>
                    <a:lnR w="6350" cap="flat" cmpd="sng">
                      <a:solidFill>
                        <a:srgbClr val="D0D0D0"/>
                      </a:solidFill>
                      <a:prstDash val="solid"/>
                    </a:lnR>
                    <a:lnT w="6350" cap="flat" cmpd="sng">
                      <a:solidFill>
                        <a:srgbClr val="D0D0D0"/>
                      </a:solidFill>
                      <a:prstDash val="solid"/>
                    </a:lnT>
                    <a:lnB w="6350" cap="flat" cmpd="sng">
                      <a:solidFill>
                        <a:srgbClr val="D0D0D0"/>
                      </a:solidFill>
                      <a:prstDash val="solid"/>
                    </a:lnB>
                    <a:solidFill>
                      <a:srgbClr val="FAFBFC"/>
                    </a:solidFill>
                  </a:tcPr>
                </a:tc>
                <a:extLst>
                  <a:ext uri="{0D108BD9-81ED-4DB2-BD59-A6C34878D82A}">
                    <a16:rowId xmlns:a16="http://schemas.microsoft.com/office/drawing/2014/main" val="10002"/>
                  </a:ext>
                </a:extLst>
              </a:tr>
              <a:tr h="381000">
                <a:tc>
                  <a:txBody>
                    <a:bodyPr/>
                    <a:lstStyle/>
                    <a:p>
                      <a:pPr marL="0" algn="l">
                        <a:lnSpc>
                          <a:spcPct val="100000"/>
                        </a:lnSpc>
                        <a:buClrTx/>
                        <a:buSzTx/>
                        <a:buFontTx/>
                      </a:pPr>
                      <a:r>
                        <a:rPr lang="zh-CN" altLang="en-US" sz="1000" b="1" i="0">
                          <a:solidFill>
                            <a:srgbClr val="1F3A5F"/>
                          </a:solidFill>
                        </a:rPr>
                        <a:t>Financial Analysis</a:t>
                      </a:r>
                    </a:p>
                  </a:txBody>
                  <a:tcPr marL="63500" marR="63500" marT="50800" marB="50800">
                    <a:lnL w="6350" cap="flat" cmpd="sng">
                      <a:solidFill>
                        <a:srgbClr val="D0D0D0"/>
                      </a:solidFill>
                      <a:prstDash val="solid"/>
                    </a:lnL>
                    <a:lnR w="6350" cap="flat" cmpd="sng">
                      <a:solidFill>
                        <a:srgbClr val="D0D0D0"/>
                      </a:solidFill>
                      <a:prstDash val="solid"/>
                    </a:lnR>
                    <a:lnT w="6350" cap="flat" cmpd="sng">
                      <a:solidFill>
                        <a:srgbClr val="D0D0D0"/>
                      </a:solidFill>
                      <a:prstDash val="solid"/>
                    </a:lnT>
                    <a:lnB w="6350" cap="flat" cmpd="sng">
                      <a:solidFill>
                        <a:srgbClr val="D0D0D0"/>
                      </a:solidFill>
                      <a:prstDash val="solid"/>
                    </a:lnB>
                    <a:solidFill>
                      <a:srgbClr val="FFF7ED"/>
                    </a:solidFill>
                  </a:tcPr>
                </a:tc>
                <a:tc>
                  <a:txBody>
                    <a:bodyPr/>
                    <a:lstStyle/>
                    <a:p>
                      <a:pPr marL="171450" indent="-171450" algn="l">
                        <a:lnSpc>
                          <a:spcPct val="100000"/>
                        </a:lnSpc>
                        <a:buClrTx/>
                        <a:buSzTx/>
                        <a:buFont typeface="Arial" panose="020B0604020202090204" pitchFamily="34" charset="0"/>
                        <a:buChar char="•"/>
                      </a:pPr>
                      <a:r>
                        <a:rPr lang="en-US" altLang="zh-CN" sz="1000" b="0" i="0">
                          <a:solidFill>
                            <a:srgbClr val="1F2937"/>
                          </a:solidFill>
                        </a:rPr>
                        <a:t>2025 net revenue: $871.9M, +13.0% YoY</a:t>
                      </a:r>
                      <a:endParaRPr lang="en-US" altLang="zh-CN" sz="1000" i="0"/>
                    </a:p>
                    <a:p>
                      <a:pPr marL="171450" indent="-171450" algn="l">
                        <a:lnSpc>
                          <a:spcPct val="100000"/>
                        </a:lnSpc>
                        <a:buClrTx/>
                        <a:buSzTx/>
                        <a:buFont typeface="Arial" panose="020B0604020202090204" pitchFamily="34" charset="0"/>
                        <a:buChar char="•"/>
                      </a:pPr>
                      <a:r>
                        <a:rPr lang="en-US" altLang="zh-CN" sz="1000" b="0" i="0">
                          <a:solidFill>
                            <a:srgbClr val="1F2937"/>
                          </a:solidFill>
                        </a:rPr>
                        <a:t>First full-year positive net profit: $1.6M; Adjusted EBITDA margin: 10.9%</a:t>
                      </a:r>
                      <a:endParaRPr lang="en-US" altLang="zh-CN" sz="1000" i="0"/>
                    </a:p>
                    <a:p>
                      <a:pPr marL="171450" indent="-171450" algn="l">
                        <a:lnSpc>
                          <a:spcPct val="100000"/>
                        </a:lnSpc>
                        <a:buClrTx/>
                        <a:buSzTx/>
                        <a:buFont typeface="Arial" panose="020B0604020202090204" pitchFamily="34" charset="0"/>
                        <a:buChar char="•"/>
                      </a:pPr>
                      <a:r>
                        <a:rPr lang="en-US" altLang="zh-CN" sz="1000" b="0" i="0">
                          <a:solidFill>
                            <a:srgbClr val="1F2937"/>
                          </a:solidFill>
                        </a:rPr>
                        <a:t>2025 operating cash flow: $110.8M; Free Cash Flow: $43.7M</a:t>
                      </a:r>
                      <a:endParaRPr lang="en-US" altLang="zh-CN" sz="1000" i="0"/>
                    </a:p>
                    <a:p>
                      <a:pPr marL="171450" indent="-171450" algn="l">
                        <a:lnSpc>
                          <a:spcPct val="100000"/>
                        </a:lnSpc>
                        <a:buClrTx/>
                        <a:buSzTx/>
                        <a:buFont typeface="Arial" panose="020B0604020202090204" pitchFamily="34" charset="0"/>
                        <a:buChar char="•"/>
                      </a:pPr>
                      <a:r>
                        <a:rPr lang="en-US" altLang="zh-CN" sz="1000" b="0" i="0">
                          <a:solidFill>
                            <a:srgbClr val="1F2937"/>
                          </a:solidFill>
                        </a:rPr>
                        <a:t>(Warby Parker Inc., 2026a)</a:t>
                      </a:r>
                      <a:endParaRPr lang="en-US" altLang="zh-CN" sz="1000" i="0"/>
                    </a:p>
                  </a:txBody>
                  <a:tcPr marL="63500" marR="63500" marT="50800" marB="50800">
                    <a:lnL w="6350" cap="flat" cmpd="sng">
                      <a:solidFill>
                        <a:srgbClr val="D0D0D0"/>
                      </a:solidFill>
                      <a:prstDash val="solid"/>
                    </a:lnL>
                    <a:lnR w="6350" cap="flat" cmpd="sng">
                      <a:solidFill>
                        <a:srgbClr val="D0D0D0"/>
                      </a:solidFill>
                      <a:prstDash val="solid"/>
                    </a:lnR>
                    <a:lnT w="6350" cap="flat" cmpd="sng">
                      <a:solidFill>
                        <a:srgbClr val="D0D0D0"/>
                      </a:solidFill>
                      <a:prstDash val="solid"/>
                    </a:lnT>
                    <a:lnB w="6350" cap="flat" cmpd="sng">
                      <a:solidFill>
                        <a:srgbClr val="D0D0D0"/>
                      </a:solidFill>
                      <a:prstDash val="solid"/>
                    </a:lnB>
                    <a:solidFill>
                      <a:srgbClr val="FFFFFF"/>
                    </a:solidFill>
                  </a:tcPr>
                </a:tc>
                <a:tc>
                  <a:txBody>
                    <a:bodyPr/>
                    <a:lstStyle/>
                    <a:p>
                      <a:pPr marL="171450" indent="-171450" algn="l">
                        <a:buClrTx/>
                        <a:buSzTx/>
                        <a:buFont typeface="Arial" panose="020B0604020202090204" pitchFamily="34" charset="0"/>
                        <a:buChar char="•"/>
                      </a:pPr>
                      <a:r>
                        <a:rPr lang="en-US" altLang="zh-CN" sz="1000" b="0">
                          <a:solidFill>
                            <a:srgbClr val="1F2937"/>
                          </a:solidFill>
                        </a:rPr>
                        <a:t>Gross margin affected by tariffs, optometrist headcount, contact lens sales mix and shipping costs</a:t>
                      </a:r>
                      <a:endParaRPr lang="en-US" altLang="zh-CN" sz="1000"/>
                    </a:p>
                    <a:p>
                      <a:pPr marL="171450" indent="-171450" algn="l">
                        <a:buClrTx/>
                        <a:buSzTx/>
                        <a:buFont typeface="Arial" panose="020B0604020202090204" pitchFamily="34" charset="0"/>
                        <a:buChar char="•"/>
                      </a:pPr>
                      <a:r>
                        <a:rPr lang="en-US" altLang="zh-CN" sz="1000" b="0">
                          <a:solidFill>
                            <a:srgbClr val="1F2937"/>
                          </a:solidFill>
                        </a:rPr>
                        <a:t>GAAP operating loss remains negative, with thin profit buffer</a:t>
                      </a:r>
                      <a:endParaRPr lang="en-US" altLang="zh-CN" sz="1000"/>
                    </a:p>
                    <a:p>
                      <a:pPr marL="171450" indent="-171450" algn="l">
                        <a:buClrTx/>
                        <a:buSzTx/>
                        <a:buFont typeface="Arial" panose="020B0604020202090204" pitchFamily="34" charset="0"/>
                        <a:buChar char="•"/>
                      </a:pPr>
                      <a:r>
                        <a:rPr lang="en-US" altLang="zh-CN" sz="1000" b="0">
                          <a:solidFill>
                            <a:srgbClr val="1F2937"/>
                          </a:solidFill>
                        </a:rPr>
                        <a:t>High risks in AI eyewear R&amp;D and hardware inventory</a:t>
                      </a:r>
                      <a:endParaRPr lang="en-US" altLang="zh-CN" sz="1000"/>
                    </a:p>
                  </a:txBody>
                  <a:tcPr marL="63500" marR="63500" marT="50800" marB="50800">
                    <a:lnL w="6350" cap="flat" cmpd="sng">
                      <a:solidFill>
                        <a:srgbClr val="D0D0D0"/>
                      </a:solidFill>
                      <a:prstDash val="solid"/>
                    </a:lnL>
                    <a:lnR w="6350" cap="flat" cmpd="sng">
                      <a:solidFill>
                        <a:srgbClr val="D0D0D0"/>
                      </a:solidFill>
                      <a:prstDash val="solid"/>
                    </a:lnR>
                    <a:lnT w="6350" cap="flat" cmpd="sng">
                      <a:solidFill>
                        <a:srgbClr val="D0D0D0"/>
                      </a:solidFill>
                      <a:prstDash val="solid"/>
                    </a:lnT>
                    <a:lnB w="6350" cap="flat" cmpd="sng">
                      <a:solidFill>
                        <a:srgbClr val="D0D0D0"/>
                      </a:solidFill>
                      <a:prstDash val="solid"/>
                    </a:lnB>
                    <a:solidFill>
                      <a:srgbClr val="FFFFFF"/>
                    </a:solidFill>
                  </a:tcPr>
                </a:tc>
                <a:tc>
                  <a:txBody>
                    <a:bodyPr/>
                    <a:lstStyle/>
                    <a:p>
                      <a:pPr marL="171450" indent="-171450" algn="l">
                        <a:lnSpc>
                          <a:spcPct val="100000"/>
                        </a:lnSpc>
                        <a:buClrTx/>
                        <a:buSzTx/>
                        <a:buFont typeface="Arial" panose="020B0604020202090204" pitchFamily="34" charset="0"/>
                        <a:buChar char="•"/>
                      </a:pPr>
                      <a:r>
                        <a:rPr lang="en-US" altLang="zh-CN" sz="1000" b="0" dirty="0">
                          <a:solidFill>
                            <a:srgbClr val="1F2937"/>
                          </a:solidFill>
                        </a:rPr>
                        <a:t>Control store expansion pace, prioritize improving single-store profitability</a:t>
                      </a:r>
                      <a:endParaRPr lang="en-US" altLang="zh-CN" sz="1000" dirty="0"/>
                    </a:p>
                    <a:p>
                      <a:pPr marL="171450" indent="-171450" algn="l">
                        <a:lnSpc>
                          <a:spcPct val="100000"/>
                        </a:lnSpc>
                        <a:buClrTx/>
                        <a:buSzTx/>
                        <a:buFont typeface="Arial" panose="020B0604020202090204" pitchFamily="34" charset="0"/>
                        <a:buChar char="•"/>
                      </a:pPr>
                      <a:r>
                        <a:rPr lang="en-US" altLang="zh-CN" sz="1000" b="0" dirty="0">
                          <a:solidFill>
                            <a:srgbClr val="1F2937"/>
                          </a:solidFill>
                        </a:rPr>
                        <a:t>Boost sales of lens upgrades, contact lenses, insurance orders and repeat purchases</a:t>
                      </a:r>
                      <a:endParaRPr lang="en-US" altLang="zh-CN" sz="1000" dirty="0"/>
                    </a:p>
                    <a:p>
                      <a:pPr marL="171450" indent="-171450" algn="l">
                        <a:lnSpc>
                          <a:spcPct val="100000"/>
                        </a:lnSpc>
                        <a:buClrTx/>
                        <a:buSzTx/>
                        <a:buFont typeface="Arial" panose="020B0604020202090204" pitchFamily="34" charset="0"/>
                        <a:buChar char="•"/>
                      </a:pPr>
                      <a:r>
                        <a:rPr lang="en-US" altLang="zh-CN" sz="1000" b="0" dirty="0">
                          <a:solidFill>
                            <a:srgbClr val="1F2937"/>
                          </a:solidFill>
                        </a:rPr>
                        <a:t>Replace part of high-cost in-store trials with AR and Advisor tools</a:t>
                      </a:r>
                      <a:endParaRPr lang="en-US" altLang="zh-CN" sz="1000" dirty="0"/>
                    </a:p>
                  </a:txBody>
                  <a:tcPr marL="63500" marR="63500" marT="50800" marB="50800">
                    <a:lnL w="6350" cap="flat" cmpd="sng">
                      <a:solidFill>
                        <a:srgbClr val="D0D0D0"/>
                      </a:solidFill>
                      <a:prstDash val="solid"/>
                    </a:lnL>
                    <a:lnR w="6350" cap="flat" cmpd="sng">
                      <a:solidFill>
                        <a:srgbClr val="D0D0D0"/>
                      </a:solidFill>
                      <a:prstDash val="solid"/>
                    </a:lnR>
                    <a:lnT w="6350" cap="flat" cmpd="sng">
                      <a:solidFill>
                        <a:srgbClr val="D0D0D0"/>
                      </a:solidFill>
                      <a:prstDash val="solid"/>
                    </a:lnT>
                    <a:lnB w="6350" cap="flat" cmpd="sng">
                      <a:solidFill>
                        <a:srgbClr val="D0D0D0"/>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8" name="文本框 7"/>
          <p:cNvSpPr txBox="1"/>
          <p:nvPr/>
        </p:nvSpPr>
        <p:spPr>
          <a:xfrm>
            <a:off x="909955" y="1242695"/>
            <a:ext cx="9792970" cy="506730"/>
          </a:xfrm>
          <a:prstGeom prst="rect">
            <a:avLst/>
          </a:prstGeom>
          <a:solidFill>
            <a:srgbClr val="FFF7ED"/>
          </a:solidFill>
          <a:ln w="19050">
            <a:solidFill>
              <a:srgbClr val="FF9900"/>
            </a:solidFill>
          </a:ln>
        </p:spPr>
        <p:txBody>
          <a:bodyPr wrap="square" rtlCol="0">
            <a:spAutoFit/>
          </a:bodyPr>
          <a:lstStyle/>
          <a:p>
            <a:r>
              <a:rPr lang="en-US" altLang="zh-CN" sz="850" b="1">
                <a:solidFill>
                  <a:srgbClr val="1F3A5F"/>
                </a:solidFill>
                <a:latin typeface="+mn-ea"/>
              </a:rPr>
              <a:t>Warby Parker’s strategy is viable in the short term, but long-term sustainability depends on defending differentiation, controlling store/service costs, and managing privacy risks in AI eyewear.</a:t>
            </a:r>
            <a:endParaRPr lang="en-US" altLang="zh-CN" sz="1000">
              <a:latin typeface="+mn-ea"/>
            </a:endParaRPr>
          </a:p>
          <a:p>
            <a:endParaRPr lang="en-US" altLang="zh-CN" sz="1000">
              <a:latin typeface="+mn-e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35000" y="-635000"/>
            <a:ext cx="2540000" cy="2540000"/>
          </a:xfrm>
          <a:prstGeom prst="ellipse">
            <a:avLst/>
          </a:prstGeom>
          <a:solidFill>
            <a:srgbClr val="FF6A00">
              <a:alpha val="10000"/>
            </a:srgbClr>
          </a:solidFill>
          <a:ln w="25400" cap="flat" cmpd="sng">
            <a:noFill/>
            <a:prstDash val="solid"/>
            <a:round/>
          </a:ln>
        </p:spPr>
        <p:txBody>
          <a:bodyPr vert="horz" wrap="square" lIns="63500" tIns="63500" rIns="63500" bIns="63500" rtlCol="0" anchor="ctr"/>
          <a:lstStyle/>
          <a:p>
            <a:pPr algn="ctr">
              <a:defRPr/>
            </a:pPr>
            <a:endParaRPr>
              <a:latin typeface="Aptos" panose="020B0004020202020204" pitchFamily="34" charset="0"/>
            </a:endParaRPr>
          </a:p>
        </p:txBody>
      </p:sp>
      <p:sp>
        <p:nvSpPr>
          <p:cNvPr id="3" name="AutoShape 3"/>
          <p:cNvSpPr/>
          <p:nvPr/>
        </p:nvSpPr>
        <p:spPr>
          <a:xfrm>
            <a:off x="10160000" y="5715000"/>
            <a:ext cx="1905000" cy="1905000"/>
          </a:xfrm>
          <a:prstGeom prst="ellipse">
            <a:avLst/>
          </a:prstGeom>
          <a:solidFill>
            <a:srgbClr val="FF6A00">
              <a:alpha val="10000"/>
            </a:srgbClr>
          </a:solidFill>
          <a:ln w="25400" cap="flat" cmpd="sng">
            <a:noFill/>
            <a:prstDash val="solid"/>
            <a:round/>
          </a:ln>
        </p:spPr>
        <p:txBody>
          <a:bodyPr vert="horz" wrap="square" lIns="63500" tIns="63500" rIns="63500" bIns="63500" rtlCol="0" anchor="ctr"/>
          <a:lstStyle/>
          <a:p>
            <a:pPr algn="ctr">
              <a:defRPr/>
            </a:pPr>
            <a:endParaRPr>
              <a:latin typeface="Aptos" panose="020B0004020202020204" pitchFamily="34" charset="0"/>
            </a:endParaRPr>
          </a:p>
        </p:txBody>
      </p:sp>
      <p:sp>
        <p:nvSpPr>
          <p:cNvPr id="4" name="AutoShape 4"/>
          <p:cNvSpPr/>
          <p:nvPr/>
        </p:nvSpPr>
        <p:spPr>
          <a:xfrm>
            <a:off x="918845" y="1650835"/>
            <a:ext cx="10160000" cy="177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altLang="zh-CN" sz="4000" i="1" dirty="0">
                <a:latin typeface="Aptos" panose="020B0004020202020204" pitchFamily="34" charset="0"/>
                <a:ea typeface="+mj-ea"/>
                <a:cs typeface="Arial Italic" panose="020B0604020202090204" charset="0"/>
              </a:rPr>
              <a:t>E-Commerce Business Strategies Analysis</a:t>
            </a:r>
            <a:r>
              <a:rPr lang="en-US" altLang="zh-CN" sz="1100" dirty="0">
                <a:latin typeface="Aptos" panose="020B0004020202020204" pitchFamily="34" charset="0"/>
                <a:ea typeface="+mj-ea"/>
              </a:rPr>
              <a:t> </a:t>
            </a:r>
          </a:p>
        </p:txBody>
      </p:sp>
      <p:sp>
        <p:nvSpPr>
          <p:cNvPr id="5" name="AutoShape 5"/>
          <p:cNvSpPr/>
          <p:nvPr/>
        </p:nvSpPr>
        <p:spPr>
          <a:xfrm>
            <a:off x="1015700" y="3365334"/>
            <a:ext cx="10160000" cy="889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altLang="zh-CN" sz="3600" i="1" dirty="0">
                <a:solidFill>
                  <a:schemeClr val="accent2"/>
                </a:solidFill>
                <a:latin typeface="Aptos" panose="020B0004020202020204" pitchFamily="34" charset="0"/>
                <a:ea typeface="+mj-ea"/>
                <a:cs typeface="Arial Italic" panose="020B0604020202090204" charset="0"/>
                <a:sym typeface="+mn-ea"/>
              </a:rPr>
              <a:t>–</a:t>
            </a:r>
            <a:r>
              <a:rPr lang="en-US" altLang="zh-CN" sz="3600" i="1" dirty="0">
                <a:latin typeface="Aptos" panose="020B0004020202020204" pitchFamily="34" charset="0"/>
                <a:ea typeface="+mj-ea"/>
                <a:cs typeface="Arial Italic" panose="020B0604020202090204" charset="0"/>
                <a:sym typeface="+mn-ea"/>
              </a:rPr>
              <a:t> </a:t>
            </a:r>
            <a:r>
              <a:rPr lang="en-US" altLang="zh-CN" sz="3600" i="1" dirty="0">
                <a:solidFill>
                  <a:schemeClr val="accent2"/>
                </a:solidFill>
                <a:latin typeface="Aptos" panose="020B0004020202020204" pitchFamily="34" charset="0"/>
                <a:ea typeface="+mj-ea"/>
                <a:cs typeface="Arial Italic" panose="020B0604020202090204" charset="0"/>
                <a:sym typeface="+mn-ea"/>
              </a:rPr>
              <a:t>Tesla Case Study</a:t>
            </a:r>
            <a:endParaRPr lang="en-US" altLang="zh-CN" sz="3600" i="1" dirty="0">
              <a:latin typeface="Aptos" panose="020B0004020202020204" pitchFamily="34" charset="0"/>
              <a:ea typeface="+mj-ea"/>
              <a:cs typeface="Arial Italic" panose="020B0604020202090204" charset="0"/>
            </a:endParaRPr>
          </a:p>
          <a:p>
            <a:pPr marL="0" indent="0" algn="ctr">
              <a:lnSpc>
                <a:spcPct val="125000"/>
              </a:lnSpc>
              <a:defRPr/>
            </a:pPr>
            <a:endParaRPr lang="en-US" sz="1100" i="1" dirty="0">
              <a:latin typeface="Aptos" panose="020B0004020202020204" pitchFamily="34" charset="0"/>
              <a:cs typeface="Arial Italic" panose="020B0604020202090204" charset="0"/>
            </a:endParaRPr>
          </a:p>
        </p:txBody>
      </p:sp>
      <p:sp>
        <p:nvSpPr>
          <p:cNvPr id="6" name="AutoShape 6"/>
          <p:cNvSpPr/>
          <p:nvPr/>
        </p:nvSpPr>
        <p:spPr>
          <a:xfrm>
            <a:off x="952500" y="4565650"/>
            <a:ext cx="10160000" cy="1185545"/>
          </a:xfrm>
          <a:prstGeom prst="rect">
            <a:avLst/>
          </a:prstGeom>
          <a:noFill/>
          <a:ln w="12700" cap="flat" cmpd="sng">
            <a:noFill/>
            <a:prstDash val="solid"/>
            <a:round/>
          </a:ln>
        </p:spPr>
        <p:txBody>
          <a:bodyPr vert="horz" wrap="square" lIns="0" tIns="0" rIns="0" bIns="0" rtlCol="0" anchor="ctr" anchorCtr="0"/>
          <a:lstStyle/>
          <a:p>
            <a:pPr marL="0" indent="0" algn="r">
              <a:lnSpc>
                <a:spcPct val="125000"/>
              </a:lnSpc>
              <a:defRPr/>
            </a:pPr>
            <a:r>
              <a:rPr lang="en-US" sz="2800" dirty="0">
                <a:solidFill>
                  <a:srgbClr val="666666"/>
                </a:solidFill>
                <a:latin typeface="Aptos" panose="020B0004020202020204" pitchFamily="34" charset="0"/>
                <a:ea typeface="Noto Sans SC"/>
                <a:sym typeface="Noto Sans SC"/>
              </a:rPr>
              <a:t>Xuan Wu </a:t>
            </a:r>
          </a:p>
          <a:p>
            <a:pPr marL="0" indent="0" algn="r">
              <a:lnSpc>
                <a:spcPct val="125000"/>
              </a:lnSpc>
              <a:defRPr/>
            </a:pPr>
            <a:r>
              <a:rPr lang="en-US" sz="2800" dirty="0">
                <a:solidFill>
                  <a:srgbClr val="666666"/>
                </a:solidFill>
                <a:latin typeface="Aptos" panose="020B0004020202020204" pitchFamily="34" charset="0"/>
                <a:ea typeface="Noto Sans SC"/>
                <a:sym typeface="Noto Sans SC"/>
              </a:rPr>
              <a:t>2254778</a:t>
            </a:r>
            <a:endParaRPr lang="en-US" sz="2800" dirty="0">
              <a:latin typeface="Aptos" panose="020B0004020202020204" pitchFamily="34" charset="0"/>
            </a:endParaRPr>
          </a:p>
        </p:txBody>
      </p:sp>
      <p:sp>
        <p:nvSpPr>
          <p:cNvPr id="7" name="AutoShape 7"/>
          <p:cNvSpPr/>
          <p:nvPr/>
        </p:nvSpPr>
        <p:spPr>
          <a:xfrm>
            <a:off x="1016000" y="6858000"/>
            <a:ext cx="10160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endParaRPr lang="en-US" sz="1100" dirty="0">
              <a:latin typeface="Aptos" panose="020B0004020202020204" pitchFamily="34" charset="0"/>
            </a:endParaRPr>
          </a:p>
        </p:txBody>
      </p:sp>
      <p:sp>
        <p:nvSpPr>
          <p:cNvPr id="8" name="Shape 0"/>
          <p:cNvSpPr/>
          <p:nvPr/>
        </p:nvSpPr>
        <p:spPr>
          <a:xfrm>
            <a:off x="0" y="0"/>
            <a:ext cx="12191400" cy="164160"/>
          </a:xfrm>
          <a:prstGeom prst="rect">
            <a:avLst/>
          </a:prstGeom>
          <a:solidFill>
            <a:srgbClr val="FF9900"/>
          </a:solidFill>
          <a:ln w="12700">
            <a:solidFill>
              <a:srgbClr val="FF99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ptos" panose="020B0004020202020204" pitchFamily="3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Shape 0"/>
          <p:cNvSpPr/>
          <p:nvPr/>
        </p:nvSpPr>
        <p:spPr>
          <a:xfrm>
            <a:off x="0" y="0"/>
            <a:ext cx="12191400" cy="164160"/>
          </a:xfrm>
          <a:prstGeom prst="rect">
            <a:avLst/>
          </a:prstGeom>
          <a:solidFill>
            <a:srgbClr val="FF9900"/>
          </a:solidFill>
          <a:ln w="12700">
            <a:solidFill>
              <a:srgbClr val="FF99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ptos" panose="020B0004020202020204" pitchFamily="34" charset="0"/>
            </a:endParaRPr>
          </a:p>
        </p:txBody>
      </p:sp>
      <p:sp>
        <p:nvSpPr>
          <p:cNvPr id="143" name="Text 1"/>
          <p:cNvSpPr/>
          <p:nvPr/>
        </p:nvSpPr>
        <p:spPr>
          <a:xfrm>
            <a:off x="502920" y="320040"/>
            <a:ext cx="987516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2500" b="0" u="none" strike="noStrike" dirty="0">
              <a:solidFill>
                <a:srgbClr val="000000"/>
              </a:solidFill>
              <a:effectLst/>
              <a:uFillTx/>
              <a:latin typeface="Aptos" panose="020B0004020202020204" pitchFamily="34" charset="0"/>
            </a:endParaRPr>
          </a:p>
        </p:txBody>
      </p:sp>
      <p:sp>
        <p:nvSpPr>
          <p:cNvPr id="144" name="Text 2"/>
          <p:cNvSpPr/>
          <p:nvPr/>
        </p:nvSpPr>
        <p:spPr>
          <a:xfrm>
            <a:off x="521280" y="749880"/>
            <a:ext cx="1005804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altLang="zh-CN" sz="3200" b="1" u="none" strike="noStrike" dirty="0">
                <a:solidFill>
                  <a:srgbClr val="000000"/>
                </a:solidFill>
                <a:effectLst/>
                <a:uFillTx/>
                <a:latin typeface="Aptos" panose="020B0004020202020204" pitchFamily="34" charset="0"/>
                <a:cs typeface="Times New Roman Bold" panose="02020503050405090304" charset="0"/>
              </a:rPr>
              <a:t>Tesla &amp; Core Strategies</a:t>
            </a:r>
          </a:p>
        </p:txBody>
      </p:sp>
      <p:sp>
        <p:nvSpPr>
          <p:cNvPr id="145" name="Text 3"/>
          <p:cNvSpPr/>
          <p:nvPr/>
        </p:nvSpPr>
        <p:spPr>
          <a:xfrm>
            <a:off x="10012680" y="356760"/>
            <a:ext cx="15998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endParaRPr lang="en-US" sz="850" b="0" u="none" strike="noStrike" dirty="0">
              <a:solidFill>
                <a:srgbClr val="000000"/>
              </a:solidFill>
              <a:effectLst/>
              <a:uFillTx/>
              <a:latin typeface="Aptos" panose="020B0004020202020204" pitchFamily="34" charset="0"/>
            </a:endParaRPr>
          </a:p>
        </p:txBody>
      </p:sp>
      <p:sp>
        <p:nvSpPr>
          <p:cNvPr id="147" name="Text 5"/>
          <p:cNvSpPr/>
          <p:nvPr/>
        </p:nvSpPr>
        <p:spPr>
          <a:xfrm>
            <a:off x="521280" y="1357955"/>
            <a:ext cx="9856800" cy="1064623"/>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a:tabLst>
                <a:tab pos="0" algn="l"/>
              </a:tabLst>
            </a:pPr>
            <a:r>
              <a:rPr lang="en-US" altLang="zh-CN" sz="2000" b="0" u="none" strike="noStrike" dirty="0">
                <a:solidFill>
                  <a:srgbClr val="000000"/>
                </a:solidFill>
                <a:effectLst/>
                <a:uFillTx/>
                <a:latin typeface="Aptos" panose="020B0004020202020204" pitchFamily="34" charset="0"/>
                <a:cs typeface="Times New Roman Regular" panose="02020503050405090304" charset="0"/>
              </a:rPr>
              <a:t>Global leading electric vehicle &amp; clean energy enterprise</a:t>
            </a:r>
          </a:p>
        </p:txBody>
      </p:sp>
      <p:sp>
        <p:nvSpPr>
          <p:cNvPr id="150" name="Text 8"/>
          <p:cNvSpPr/>
          <p:nvPr/>
        </p:nvSpPr>
        <p:spPr>
          <a:xfrm>
            <a:off x="3149282" y="2069465"/>
            <a:ext cx="8281670" cy="944245"/>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marL="285750" indent="-285750">
              <a:buFont typeface="Arial" panose="020B0604020202020204" pitchFamily="34" charset="0"/>
              <a:buChar char="•"/>
              <a:tabLst>
                <a:tab pos="0" algn="l"/>
              </a:tabLst>
            </a:pPr>
            <a:r>
              <a:rPr lang="en-US" altLang="zh-CN" sz="1400" dirty="0">
                <a:latin typeface="Aptos" panose="020B0004020202020204" pitchFamily="34" charset="0"/>
                <a:cs typeface="Times New Roman Regular" panose="02020503050405090304" charset="0"/>
              </a:rPr>
              <a:t>Online car customization &amp; one-stop purchase via official website/</a:t>
            </a:r>
            <a:r>
              <a:rPr lang="en-US" altLang="zh-CN" sz="1400" dirty="0" err="1">
                <a:latin typeface="Aptos" panose="020B0004020202020204" pitchFamily="34" charset="0"/>
                <a:cs typeface="Times New Roman Regular" panose="02020503050405090304" charset="0"/>
              </a:rPr>
              <a:t>App（</a:t>
            </a:r>
            <a:r>
              <a:rPr lang="en-US" altLang="zh-CN" sz="1400" dirty="0" err="1">
                <a:latin typeface="Aptos" panose="020B0004020202020204" pitchFamily="34" charset="0"/>
                <a:cs typeface="Times New Roman Regular" panose="02020503050405090304" charset="0"/>
                <a:sym typeface="+mn-ea"/>
              </a:rPr>
              <a:t>Li</a:t>
            </a:r>
            <a:r>
              <a:rPr lang="en-US" altLang="zh-CN" sz="1400" dirty="0">
                <a:latin typeface="Aptos" panose="020B0004020202020204" pitchFamily="34" charset="0"/>
                <a:cs typeface="Times New Roman Regular" panose="02020503050405090304" charset="0"/>
                <a:sym typeface="+mn-ea"/>
              </a:rPr>
              <a:t> et al.,2021</a:t>
            </a:r>
            <a:r>
              <a:rPr lang="en-US" altLang="zh-CN" sz="1400" dirty="0">
                <a:latin typeface="Aptos" panose="020B0004020202020204" pitchFamily="34" charset="0"/>
                <a:cs typeface="Times New Roman Regular" panose="02020503050405090304" charset="0"/>
              </a:rPr>
              <a:t>）</a:t>
            </a:r>
          </a:p>
          <a:p>
            <a:pPr marL="285750" indent="-285750">
              <a:buFont typeface="Arial" panose="020B0604020202020204" pitchFamily="34" charset="0"/>
              <a:buChar char="•"/>
              <a:tabLst>
                <a:tab pos="0" algn="l"/>
              </a:tabLst>
            </a:pPr>
            <a:r>
              <a:rPr lang="en-US" altLang="zh-CN" sz="1400" dirty="0">
                <a:latin typeface="Aptos" panose="020B0004020202020204" pitchFamily="34" charset="0"/>
                <a:cs typeface="Times New Roman Regular" panose="02020503050405090304" charset="0"/>
              </a:rPr>
              <a:t>OTA updates &amp; data-driven personalized services</a:t>
            </a:r>
          </a:p>
          <a:p>
            <a:pPr marL="285750" indent="-285750">
              <a:buFont typeface="Arial" panose="020B0604020202020204" pitchFamily="34" charset="0"/>
              <a:buChar char="•"/>
              <a:tabLst>
                <a:tab pos="0" algn="l"/>
              </a:tabLst>
            </a:pPr>
            <a:r>
              <a:rPr lang="en-US" altLang="zh-CN" sz="1400" dirty="0">
                <a:latin typeface="Aptos" panose="020B0004020202020204" pitchFamily="34" charset="0"/>
                <a:cs typeface="Times New Roman Regular" panose="02020503050405090304" charset="0"/>
              </a:rPr>
              <a:t>Improve user loyalty and increase customer switching costs</a:t>
            </a:r>
            <a:endParaRPr lang="en-US" sz="1400" b="0" u="none" strike="noStrike" dirty="0">
              <a:solidFill>
                <a:srgbClr val="000000"/>
              </a:solidFill>
              <a:effectLst/>
              <a:uFillTx/>
              <a:latin typeface="Aptos" panose="020B0004020202020204" pitchFamily="34" charset="0"/>
              <a:cs typeface="Times New Roman Regular" panose="02020503050405090304" charset="0"/>
            </a:endParaRPr>
          </a:p>
        </p:txBody>
      </p:sp>
      <p:sp>
        <p:nvSpPr>
          <p:cNvPr id="151" name="Text 9"/>
          <p:cNvSpPr/>
          <p:nvPr/>
        </p:nvSpPr>
        <p:spPr>
          <a:xfrm>
            <a:off x="3091815" y="3150870"/>
            <a:ext cx="8396605" cy="944245"/>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endParaRPr lang="en-US" sz="850" b="0" u="none" strike="noStrike" dirty="0">
              <a:solidFill>
                <a:srgbClr val="000000"/>
              </a:solidFill>
              <a:effectLst/>
              <a:uFillTx/>
              <a:latin typeface="Aptos" panose="020B0004020202020204" pitchFamily="34" charset="0"/>
            </a:endParaRPr>
          </a:p>
        </p:txBody>
      </p:sp>
      <p:sp>
        <p:nvSpPr>
          <p:cNvPr id="152" name="Text 10"/>
          <p:cNvSpPr/>
          <p:nvPr/>
        </p:nvSpPr>
        <p:spPr>
          <a:xfrm>
            <a:off x="3207385" y="4361815"/>
            <a:ext cx="7801610" cy="841375"/>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Autofit/>
          </a:bodyPr>
          <a:lstStyle/>
          <a:p>
            <a:pPr marL="285750" indent="-285750">
              <a:lnSpc>
                <a:spcPct val="100000"/>
              </a:lnSpc>
              <a:buFont typeface="Arial" panose="020B0604020202020204" pitchFamily="34" charset="0"/>
              <a:buChar char="•"/>
              <a:tabLst>
                <a:tab pos="0" algn="l"/>
              </a:tabLst>
            </a:pPr>
            <a:r>
              <a:rPr lang="en-US" altLang="zh-CN" sz="1400" dirty="0">
                <a:latin typeface="Aptos" panose="020B0004020202020204" pitchFamily="34" charset="0"/>
              </a:rPr>
              <a:t>Vertical integration (battery + software R&amp;D)</a:t>
            </a:r>
          </a:p>
          <a:p>
            <a:pPr marL="285750" indent="-285750">
              <a:lnSpc>
                <a:spcPct val="100000"/>
              </a:lnSpc>
              <a:buFont typeface="Arial" panose="020B0604020202020204" pitchFamily="34" charset="0"/>
              <a:buChar char="•"/>
              <a:tabLst>
                <a:tab pos="0" algn="l"/>
              </a:tabLst>
            </a:pPr>
            <a:r>
              <a:rPr lang="en-US" altLang="zh-CN" sz="1400" dirty="0">
                <a:latin typeface="Aptos" panose="020B0004020202020204" pitchFamily="34" charset="0"/>
              </a:rPr>
              <a:t>Global gigafactories &amp; automated production</a:t>
            </a:r>
            <a:r>
              <a:rPr lang="zh-CN" altLang="en-US" sz="1400" dirty="0">
                <a:latin typeface="Aptos" panose="020B0004020202020204" pitchFamily="34" charset="0"/>
              </a:rPr>
              <a:t> </a:t>
            </a:r>
            <a:r>
              <a:rPr lang="en-US" altLang="zh-CN" sz="1400" dirty="0">
                <a:latin typeface="Aptos" panose="020B0004020202020204" pitchFamily="34" charset="0"/>
              </a:rPr>
              <a:t>(Business Model Canvas Templates, 2026)</a:t>
            </a:r>
          </a:p>
          <a:p>
            <a:pPr marL="285750" indent="-285750">
              <a:lnSpc>
                <a:spcPct val="100000"/>
              </a:lnSpc>
              <a:buFont typeface="Arial" panose="020B0604020202020204" pitchFamily="34" charset="0"/>
              <a:buChar char="•"/>
              <a:tabLst>
                <a:tab pos="0" algn="l"/>
              </a:tabLst>
            </a:pPr>
            <a:r>
              <a:rPr lang="en-US" altLang="zh-CN" sz="1400" dirty="0">
                <a:latin typeface="Aptos" panose="020B0004020202020204" pitchFamily="34" charset="0"/>
              </a:rPr>
              <a:t>Cut production and logistics costs significantly</a:t>
            </a:r>
            <a:endParaRPr lang="en-US" sz="1400" dirty="0">
              <a:latin typeface="Aptos" panose="020B0004020202020204" pitchFamily="34" charset="0"/>
            </a:endParaRPr>
          </a:p>
        </p:txBody>
      </p:sp>
      <p:sp>
        <p:nvSpPr>
          <p:cNvPr id="153" name="Text 11"/>
          <p:cNvSpPr/>
          <p:nvPr/>
        </p:nvSpPr>
        <p:spPr>
          <a:xfrm>
            <a:off x="960120" y="4361815"/>
            <a:ext cx="10194925" cy="978535"/>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endParaRPr lang="en-US" sz="850" b="0" u="none" strike="noStrike" dirty="0">
              <a:solidFill>
                <a:srgbClr val="000000"/>
              </a:solidFill>
              <a:effectLst/>
              <a:uFillTx/>
              <a:latin typeface="Aptos" panose="020B0004020202020204" pitchFamily="34" charset="0"/>
            </a:endParaRPr>
          </a:p>
        </p:txBody>
      </p:sp>
      <p:sp>
        <p:nvSpPr>
          <p:cNvPr id="154" name="Text 12"/>
          <p:cNvSpPr/>
          <p:nvPr/>
        </p:nvSpPr>
        <p:spPr>
          <a:xfrm>
            <a:off x="960120" y="5129640"/>
            <a:ext cx="10195200" cy="319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endParaRPr lang="en-US" sz="850" b="0" u="none" strike="noStrike" dirty="0">
              <a:solidFill>
                <a:srgbClr val="000000"/>
              </a:solidFill>
              <a:effectLst/>
              <a:uFillTx/>
              <a:latin typeface="Aptos" panose="020B0004020202020204" pitchFamily="34" charset="0"/>
            </a:endParaRPr>
          </a:p>
        </p:txBody>
      </p:sp>
      <p:sp>
        <p:nvSpPr>
          <p:cNvPr id="19" name="Rounded Rectangle 5"/>
          <p:cNvSpPr/>
          <p:nvPr/>
        </p:nvSpPr>
        <p:spPr>
          <a:xfrm>
            <a:off x="502920" y="1870428"/>
            <a:ext cx="2468880" cy="841248"/>
          </a:xfrm>
          <a:prstGeom prst="roundRect">
            <a:avLst/>
          </a:prstGeom>
          <a:solidFill>
            <a:srgbClr val="F7F8FA"/>
          </a:solidFill>
          <a:ln w="16510">
            <a:solidFill>
              <a:srgbClr val="FF9900"/>
            </a:solidFill>
          </a:ln>
        </p:spPr>
        <p:style>
          <a:lnRef idx="1">
            <a:schemeClr val="accent1"/>
          </a:lnRef>
          <a:fillRef idx="3">
            <a:schemeClr val="accent1"/>
          </a:fillRef>
          <a:effectRef idx="2">
            <a:schemeClr val="accent1"/>
          </a:effectRef>
          <a:fontRef idx="minor">
            <a:schemeClr val="lt1"/>
          </a:fontRef>
        </p:style>
        <p:txBody>
          <a:bodyPr lIns="109728" tIns="73152" rIns="109728" rtlCol="0" anchor="ctr"/>
          <a:lstStyle/>
          <a:p>
            <a:pPr marL="0" marR="0" lvl="0" indent="0" algn="ctr" defTabSz="457200" rtl="0" eaLnBrk="1" fontAlgn="auto" latinLnBrk="0" hangingPunct="1">
              <a:lnSpc>
                <a:spcPct val="100000"/>
              </a:lnSpc>
              <a:spcBef>
                <a:spcPts val="0"/>
              </a:spcBef>
              <a:spcAft>
                <a:spcPts val="0"/>
              </a:spcAft>
              <a:buClrTx/>
              <a:buSzTx/>
              <a:buFontTx/>
              <a:buNone/>
              <a:defRPr sz="1200" b="1">
                <a:solidFill>
                  <a:srgbClr val="232F3E"/>
                </a:solidFill>
                <a:latin typeface="Calibri"/>
              </a:defRPr>
            </a:pPr>
            <a:r>
              <a:rPr kumimoji="0" lang="en-US" i="0" u="none" strike="noStrike" kern="1200" cap="none" spc="0" normalizeH="0" baseline="0" noProof="0" dirty="0">
                <a:ln>
                  <a:noFill/>
                </a:ln>
                <a:solidFill>
                  <a:srgbClr val="1F2933"/>
                </a:solidFill>
                <a:effectLst/>
                <a:uLnTx/>
                <a:uFillTx/>
                <a:latin typeface="Aptos" panose="020B0004020202020204" pitchFamily="34" charset="0"/>
                <a:cs typeface="Times New Roman Bold" panose="02020503050405090304" charset="0"/>
              </a:rPr>
              <a:t>Customer Intimacy</a:t>
            </a:r>
          </a:p>
        </p:txBody>
      </p:sp>
      <p:sp>
        <p:nvSpPr>
          <p:cNvPr id="20" name="Rounded Rectangle 5"/>
          <p:cNvSpPr/>
          <p:nvPr/>
        </p:nvSpPr>
        <p:spPr>
          <a:xfrm>
            <a:off x="502920" y="4233409"/>
            <a:ext cx="2468880" cy="841248"/>
          </a:xfrm>
          <a:prstGeom prst="roundRect">
            <a:avLst/>
          </a:prstGeom>
          <a:solidFill>
            <a:srgbClr val="F7F8FA"/>
          </a:solidFill>
          <a:ln w="16510">
            <a:solidFill>
              <a:srgbClr val="FF9900"/>
            </a:solidFill>
          </a:ln>
        </p:spPr>
        <p:style>
          <a:lnRef idx="1">
            <a:schemeClr val="accent1"/>
          </a:lnRef>
          <a:fillRef idx="3">
            <a:schemeClr val="accent1"/>
          </a:fillRef>
          <a:effectRef idx="2">
            <a:schemeClr val="accent1"/>
          </a:effectRef>
          <a:fontRef idx="minor">
            <a:schemeClr val="lt1"/>
          </a:fontRef>
        </p:style>
        <p:txBody>
          <a:bodyPr lIns="109728" tIns="73152" rIns="109728" rtlCol="0" anchor="ctr"/>
          <a:lstStyle/>
          <a:p>
            <a:pPr marL="0" marR="0" lvl="0" indent="0" algn="ctr" defTabSz="457200" rtl="0" eaLnBrk="1" fontAlgn="auto" latinLnBrk="0" hangingPunct="1">
              <a:lnSpc>
                <a:spcPct val="100000"/>
              </a:lnSpc>
              <a:spcBef>
                <a:spcPts val="0"/>
              </a:spcBef>
              <a:spcAft>
                <a:spcPts val="0"/>
              </a:spcAft>
              <a:buClrTx/>
              <a:buSzTx/>
              <a:buFontTx/>
              <a:buNone/>
              <a:defRPr sz="1200" b="1">
                <a:solidFill>
                  <a:srgbClr val="232F3E"/>
                </a:solidFill>
                <a:latin typeface="Calibri"/>
              </a:defRPr>
            </a:pPr>
            <a:r>
              <a:rPr kumimoji="0" lang="en-US" altLang="zh-CN" i="0" u="none" strike="noStrike" kern="1200" cap="none" spc="0" normalizeH="0" baseline="0" noProof="0" dirty="0">
                <a:ln>
                  <a:noFill/>
                </a:ln>
                <a:solidFill>
                  <a:srgbClr val="1F2933"/>
                </a:solidFill>
                <a:effectLst/>
                <a:uLnTx/>
                <a:uFillTx/>
                <a:latin typeface="Aptos" panose="020B0004020202020204" pitchFamily="34" charset="0"/>
                <a:cs typeface="Times New Roman Bold" panose="02020503050405090304" charset="0"/>
              </a:rPr>
              <a:t>Cost Competition</a:t>
            </a:r>
          </a:p>
        </p:txBody>
      </p:sp>
      <p:sp>
        <p:nvSpPr>
          <p:cNvPr id="2" name="Rounded Rectangle 5"/>
          <p:cNvSpPr/>
          <p:nvPr/>
        </p:nvSpPr>
        <p:spPr>
          <a:xfrm>
            <a:off x="521335" y="3023588"/>
            <a:ext cx="2468880" cy="841248"/>
          </a:xfrm>
          <a:prstGeom prst="roundRect">
            <a:avLst/>
          </a:prstGeom>
          <a:solidFill>
            <a:srgbClr val="F7F8FA"/>
          </a:solidFill>
          <a:ln w="16510">
            <a:solidFill>
              <a:srgbClr val="FF9900"/>
            </a:solidFill>
          </a:ln>
        </p:spPr>
        <p:style>
          <a:lnRef idx="1">
            <a:schemeClr val="accent1"/>
          </a:lnRef>
          <a:fillRef idx="3">
            <a:schemeClr val="accent1"/>
          </a:fillRef>
          <a:effectRef idx="2">
            <a:schemeClr val="accent1"/>
          </a:effectRef>
          <a:fontRef idx="minor">
            <a:schemeClr val="lt1"/>
          </a:fontRef>
        </p:style>
        <p:txBody>
          <a:bodyPr lIns="109728" tIns="73152" rIns="109728" rtlCol="0" anchor="ctr"/>
          <a:lstStyle/>
          <a:p>
            <a:pPr marL="0" marR="0" lvl="0" indent="0" algn="ctr" defTabSz="457200" rtl="0" eaLnBrk="1" fontAlgn="auto" latinLnBrk="0" hangingPunct="1">
              <a:lnSpc>
                <a:spcPct val="100000"/>
              </a:lnSpc>
              <a:spcBef>
                <a:spcPts val="0"/>
              </a:spcBef>
              <a:spcAft>
                <a:spcPts val="0"/>
              </a:spcAft>
              <a:buClrTx/>
              <a:buSzTx/>
              <a:buFontTx/>
              <a:buNone/>
              <a:defRPr sz="1200" b="1">
                <a:solidFill>
                  <a:srgbClr val="232F3E"/>
                </a:solidFill>
                <a:latin typeface="Calibri"/>
              </a:defRPr>
            </a:pPr>
            <a:r>
              <a:rPr kumimoji="0" lang="en-US" altLang="zh-CN" i="0" u="none" strike="noStrike" kern="1200" cap="none" spc="0" normalizeH="0" baseline="0" noProof="0" dirty="0">
                <a:ln>
                  <a:noFill/>
                </a:ln>
                <a:solidFill>
                  <a:srgbClr val="1F2933"/>
                </a:solidFill>
                <a:effectLst/>
                <a:uLnTx/>
                <a:uFillTx/>
                <a:latin typeface="Aptos" panose="020B0004020202020204" pitchFamily="34" charset="0"/>
                <a:cs typeface="Times New Roman Bold" panose="02020503050405090304" charset="0"/>
              </a:rPr>
              <a:t>Operational Excellence</a:t>
            </a:r>
          </a:p>
        </p:txBody>
      </p:sp>
      <p:sp>
        <p:nvSpPr>
          <p:cNvPr id="3" name="Rounded Rectangle 5"/>
          <p:cNvSpPr/>
          <p:nvPr/>
        </p:nvSpPr>
        <p:spPr>
          <a:xfrm>
            <a:off x="502920" y="5498818"/>
            <a:ext cx="2468880" cy="841248"/>
          </a:xfrm>
          <a:prstGeom prst="roundRect">
            <a:avLst/>
          </a:prstGeom>
          <a:solidFill>
            <a:srgbClr val="F7F8FA"/>
          </a:solidFill>
          <a:ln w="16510">
            <a:solidFill>
              <a:srgbClr val="FF9900"/>
            </a:solidFill>
          </a:ln>
        </p:spPr>
        <p:style>
          <a:lnRef idx="1">
            <a:schemeClr val="accent1"/>
          </a:lnRef>
          <a:fillRef idx="3">
            <a:schemeClr val="accent1"/>
          </a:fillRef>
          <a:effectRef idx="2">
            <a:schemeClr val="accent1"/>
          </a:effectRef>
          <a:fontRef idx="minor">
            <a:schemeClr val="lt1"/>
          </a:fontRef>
        </p:style>
        <p:txBody>
          <a:bodyPr lIns="109728" tIns="73152" rIns="109728" rtlCol="0" anchor="ctr"/>
          <a:lstStyle/>
          <a:p>
            <a:pPr marL="0" marR="0" lvl="0" indent="0" algn="ctr" defTabSz="457200" rtl="0" eaLnBrk="1" fontAlgn="auto" latinLnBrk="0" hangingPunct="1">
              <a:lnSpc>
                <a:spcPct val="100000"/>
              </a:lnSpc>
              <a:spcBef>
                <a:spcPts val="0"/>
              </a:spcBef>
              <a:spcAft>
                <a:spcPts val="0"/>
              </a:spcAft>
              <a:buClrTx/>
              <a:buSzTx/>
              <a:buFontTx/>
              <a:buNone/>
              <a:defRPr sz="1200" b="1">
                <a:solidFill>
                  <a:srgbClr val="232F3E"/>
                </a:solidFill>
                <a:latin typeface="Calibri"/>
              </a:defRPr>
            </a:pPr>
            <a:r>
              <a:rPr kumimoji="0" lang="en-US" altLang="zh-CN" i="0" u="none" strike="noStrike" kern="1200" cap="none" spc="0" normalizeH="0" baseline="0" noProof="0" dirty="0">
                <a:ln>
                  <a:noFill/>
                </a:ln>
                <a:solidFill>
                  <a:srgbClr val="1F2933"/>
                </a:solidFill>
                <a:effectLst/>
                <a:uLnTx/>
                <a:uFillTx/>
                <a:latin typeface="Aptos" panose="020B0004020202020204" pitchFamily="34" charset="0"/>
                <a:cs typeface="Times New Roman Bold" panose="02020503050405090304" charset="0"/>
              </a:rPr>
              <a:t>Global Scope</a:t>
            </a:r>
          </a:p>
        </p:txBody>
      </p:sp>
      <p:sp>
        <p:nvSpPr>
          <p:cNvPr id="5" name="文本框 4"/>
          <p:cNvSpPr txBox="1"/>
          <p:nvPr/>
        </p:nvSpPr>
        <p:spPr>
          <a:xfrm>
            <a:off x="3094990" y="3217545"/>
            <a:ext cx="8364855" cy="738664"/>
          </a:xfrm>
          <a:prstGeom prst="rect">
            <a:avLst/>
          </a:prstGeom>
          <a:noFill/>
        </p:spPr>
        <p:txBody>
          <a:bodyPr wrap="square" rtlCol="0">
            <a:spAutoFit/>
          </a:bodyPr>
          <a:lstStyle/>
          <a:p>
            <a:pPr marL="285750" indent="-285750">
              <a:buFont typeface="Arial" panose="020B0604020202020204" pitchFamily="34" charset="0"/>
              <a:buChar char="•"/>
              <a:tabLst>
                <a:tab pos="0" algn="l"/>
              </a:tabLst>
            </a:pPr>
            <a:r>
              <a:rPr lang="en-US" altLang="zh-CN" sz="1400" dirty="0">
                <a:latin typeface="Aptos" panose="020B0004020202020204" pitchFamily="34" charset="0"/>
              </a:rPr>
              <a:t>Direct-to-consumer model (no traditional dealerships)</a:t>
            </a:r>
          </a:p>
          <a:p>
            <a:pPr marL="285750" indent="-285750">
              <a:buFont typeface="Arial" panose="020B0604020202020204" pitchFamily="34" charset="0"/>
              <a:buChar char="•"/>
              <a:tabLst>
                <a:tab pos="0" algn="l"/>
              </a:tabLst>
            </a:pPr>
            <a:r>
              <a:rPr lang="en-US" altLang="zh-CN" sz="1400" dirty="0">
                <a:latin typeface="Aptos" panose="020B0004020202020204" pitchFamily="34" charset="0"/>
              </a:rPr>
              <a:t>Lean production &amp; Giga Press technology</a:t>
            </a:r>
          </a:p>
          <a:p>
            <a:pPr marL="285750" indent="-285750">
              <a:buFont typeface="Arial" panose="020B0604020202020204" pitchFamily="34" charset="0"/>
              <a:buChar char="•"/>
              <a:tabLst>
                <a:tab pos="0" algn="l"/>
              </a:tabLst>
            </a:pPr>
            <a:r>
              <a:rPr lang="en-US" altLang="zh-CN" sz="1400" dirty="0">
                <a:latin typeface="Aptos" panose="020B0004020202020204" pitchFamily="34" charset="0"/>
              </a:rPr>
              <a:t>Shorten production cycle &amp; reduce inventory waste</a:t>
            </a:r>
          </a:p>
        </p:txBody>
      </p:sp>
      <p:sp>
        <p:nvSpPr>
          <p:cNvPr id="6" name="文本框 5"/>
          <p:cNvSpPr txBox="1"/>
          <p:nvPr/>
        </p:nvSpPr>
        <p:spPr>
          <a:xfrm>
            <a:off x="3094990" y="5697220"/>
            <a:ext cx="8211185" cy="831215"/>
          </a:xfrm>
          <a:prstGeom prst="rect">
            <a:avLst/>
          </a:prstGeom>
          <a:noFill/>
        </p:spPr>
        <p:txBody>
          <a:bodyPr wrap="square" rtlCol="0">
            <a:noAutofit/>
          </a:bodyPr>
          <a:lstStyle/>
          <a:p>
            <a:pPr marL="285750" indent="-285750">
              <a:buFont typeface="Arial" panose="020B0604020202020204" pitchFamily="34" charset="0"/>
              <a:buChar char="•"/>
              <a:tabLst>
                <a:tab pos="0" algn="l"/>
              </a:tabLst>
            </a:pPr>
            <a:r>
              <a:rPr lang="en-US" altLang="zh-CN" sz="1400" dirty="0">
                <a:latin typeface="Aptos" panose="020B0004020202020204" pitchFamily="34" charset="0"/>
              </a:rPr>
              <a:t>Cross-border online sales supported by universal internet standards </a:t>
            </a:r>
            <a:r>
              <a:rPr lang="zh-CN" altLang="en-US" sz="1400" dirty="0">
                <a:latin typeface="Aptos" panose="020B0004020202020204" pitchFamily="34" charset="0"/>
              </a:rPr>
              <a:t> </a:t>
            </a:r>
            <a:r>
              <a:rPr lang="en-US" altLang="zh-CN" sz="1400" dirty="0">
                <a:latin typeface="Aptos" panose="020B0004020202020204" pitchFamily="34" charset="0"/>
              </a:rPr>
              <a:t>(Dai et al., 2023)</a:t>
            </a:r>
          </a:p>
          <a:p>
            <a:pPr marL="285750" indent="-285750">
              <a:buFont typeface="Arial" panose="020B0604020202020204" pitchFamily="34" charset="0"/>
              <a:buChar char="•"/>
              <a:tabLst>
                <a:tab pos="0" algn="l"/>
              </a:tabLst>
            </a:pPr>
            <a:r>
              <a:rPr lang="en-US" altLang="zh-CN" sz="1400" dirty="0">
                <a:latin typeface="Aptos" panose="020B0004020202020204" pitchFamily="34" charset="0"/>
              </a:rPr>
              <a:t> Achieve seamless global market coverage</a:t>
            </a:r>
          </a:p>
        </p:txBody>
      </p:sp>
      <p:pic>
        <p:nvPicPr>
          <p:cNvPr id="4" name="图片 3" descr="fUrYhyT1Z"/>
          <p:cNvPicPr>
            <a:picLocks noChangeAspect="1"/>
          </p:cNvPicPr>
          <p:nvPr/>
        </p:nvPicPr>
        <p:blipFill>
          <a:blip r:embed="rId3"/>
          <a:stretch>
            <a:fillRect/>
          </a:stretch>
        </p:blipFill>
        <p:spPr>
          <a:xfrm>
            <a:off x="9923917" y="255027"/>
            <a:ext cx="1777365" cy="171005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581378" y="464185"/>
            <a:ext cx="7223760" cy="635000"/>
          </a:xfrm>
          <a:prstGeom prst="rect">
            <a:avLst/>
          </a:prstGeom>
          <a:noFill/>
          <a:ln w="12700" cap="flat" cmpd="sng">
            <a:noFill/>
            <a:prstDash val="solid"/>
            <a:round/>
          </a:ln>
        </p:spPr>
        <p:txBody>
          <a:bodyPr vert="horz" wrap="square" lIns="0" tIns="0" rIns="0" bIns="0" rtlCol="0" anchor="ctr" anchorCtr="0"/>
          <a:lstStyle/>
          <a:p>
            <a:pPr defTabSz="914400">
              <a:lnSpc>
                <a:spcPct val="100000"/>
              </a:lnSpc>
              <a:tabLst>
                <a:tab pos="0" algn="l"/>
              </a:tabLst>
            </a:pPr>
            <a:r>
              <a:rPr lang="en-US" altLang="zh-CN" sz="3200" b="1" dirty="0">
                <a:solidFill>
                  <a:srgbClr val="000000"/>
                </a:solidFill>
                <a:effectLst/>
                <a:uFillTx/>
                <a:latin typeface="Aptos" panose="020B0004020202020204" pitchFamily="34" charset="0"/>
                <a:cs typeface="Times New Roman Bold" panose="02020503050405090304" charset="0"/>
                <a:sym typeface="+mn-ea"/>
              </a:rPr>
              <a:t>Potential Costs &amp; Risks</a:t>
            </a:r>
            <a:endParaRPr lang="en-US" sz="1100" b="1" dirty="0">
              <a:latin typeface="Aptos" panose="020B0004020202020204" pitchFamily="34" charset="0"/>
              <a:cs typeface="Times New Roman Bold" panose="02020503050405090304" charset="0"/>
            </a:endParaRPr>
          </a:p>
        </p:txBody>
      </p:sp>
      <p:sp>
        <p:nvSpPr>
          <p:cNvPr id="24" name="Shape 0"/>
          <p:cNvSpPr/>
          <p:nvPr/>
        </p:nvSpPr>
        <p:spPr>
          <a:xfrm>
            <a:off x="0" y="0"/>
            <a:ext cx="12191400" cy="164160"/>
          </a:xfrm>
          <a:prstGeom prst="rect">
            <a:avLst/>
          </a:prstGeom>
          <a:solidFill>
            <a:srgbClr val="FF9900"/>
          </a:solidFill>
          <a:ln w="12700">
            <a:solidFill>
              <a:srgbClr val="FF99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ptos" panose="020B0004020202020204" pitchFamily="34" charset="0"/>
            </a:endParaRPr>
          </a:p>
        </p:txBody>
      </p:sp>
      <p:grpSp>
        <p:nvGrpSpPr>
          <p:cNvPr id="171" name="组合 170"/>
          <p:cNvGrpSpPr/>
          <p:nvPr/>
        </p:nvGrpSpPr>
        <p:grpSpPr>
          <a:xfrm>
            <a:off x="581378" y="1966437"/>
            <a:ext cx="4936490" cy="1558201"/>
            <a:chOff x="2027" y="3418"/>
            <a:chExt cx="4395" cy="2083"/>
          </a:xfrm>
        </p:grpSpPr>
        <p:sp>
          <p:nvSpPr>
            <p:cNvPr id="96" name="圆角矩形 95"/>
            <p:cNvSpPr/>
            <p:nvPr/>
          </p:nvSpPr>
          <p:spPr>
            <a:xfrm>
              <a:off x="2027" y="3418"/>
              <a:ext cx="4395" cy="2083"/>
            </a:xfrm>
            <a:prstGeom prst="roundRect">
              <a:avLst/>
            </a:prstGeom>
            <a:noFill/>
            <a:ln>
              <a:solidFill>
                <a:schemeClr val="accent2"/>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400">
                <a:latin typeface="+mn-ea"/>
              </a:endParaRPr>
            </a:p>
          </p:txBody>
        </p:sp>
        <p:sp>
          <p:nvSpPr>
            <p:cNvPr id="97" name="文本框 96"/>
            <p:cNvSpPr txBox="1"/>
            <p:nvPr/>
          </p:nvSpPr>
          <p:spPr>
            <a:xfrm>
              <a:off x="2080" y="3753"/>
              <a:ext cx="3393" cy="1748"/>
            </a:xfrm>
            <a:prstGeom prst="rect">
              <a:avLst/>
            </a:prstGeom>
            <a:noFill/>
          </p:spPr>
          <p:txBody>
            <a:bodyPr wrap="square" rtlCol="0">
              <a:noAutofit/>
            </a:bodyPr>
            <a:lstStyle/>
            <a:p>
              <a:r>
                <a:rPr lang="en-US" altLang="zh-CN" dirty="0">
                  <a:latin typeface="+mn-ea"/>
                  <a:cs typeface="Times New Roman Regular" panose="02020503050405090304" charset="0"/>
                </a:rPr>
                <a:t>High capital investment in R&amp;D, gigafactories and retail infrastructure</a:t>
              </a:r>
            </a:p>
          </p:txBody>
        </p:sp>
      </p:grpSp>
      <p:grpSp>
        <p:nvGrpSpPr>
          <p:cNvPr id="173" name="组合 172"/>
          <p:cNvGrpSpPr/>
          <p:nvPr/>
        </p:nvGrpSpPr>
        <p:grpSpPr>
          <a:xfrm>
            <a:off x="6121118" y="1963621"/>
            <a:ext cx="5069205" cy="1583878"/>
            <a:chOff x="2027" y="3418"/>
            <a:chExt cx="4395" cy="2117"/>
          </a:xfrm>
        </p:grpSpPr>
        <p:sp>
          <p:nvSpPr>
            <p:cNvPr id="174" name="圆角矩形 173"/>
            <p:cNvSpPr/>
            <p:nvPr/>
          </p:nvSpPr>
          <p:spPr>
            <a:xfrm>
              <a:off x="2027" y="3418"/>
              <a:ext cx="4395" cy="2083"/>
            </a:xfrm>
            <a:prstGeom prst="roundRect">
              <a:avLst/>
            </a:prstGeom>
            <a:noFill/>
            <a:ln>
              <a:solidFill>
                <a:schemeClr val="accent2"/>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400">
                <a:latin typeface="+mn-ea"/>
              </a:endParaRPr>
            </a:p>
          </p:txBody>
        </p:sp>
        <p:sp>
          <p:nvSpPr>
            <p:cNvPr id="175" name="文本框 174"/>
            <p:cNvSpPr txBox="1"/>
            <p:nvPr/>
          </p:nvSpPr>
          <p:spPr>
            <a:xfrm>
              <a:off x="3117" y="3752"/>
              <a:ext cx="3021" cy="1783"/>
            </a:xfrm>
            <a:prstGeom prst="rect">
              <a:avLst/>
            </a:prstGeom>
            <a:noFill/>
          </p:spPr>
          <p:txBody>
            <a:bodyPr wrap="square" rtlCol="0">
              <a:noAutofit/>
            </a:bodyPr>
            <a:lstStyle/>
            <a:p>
              <a:r>
                <a:rPr lang="en-US" altLang="zh-CN" dirty="0">
                  <a:latin typeface="+mn-ea"/>
                  <a:cs typeface="Times New Roman Regular" panose="02020503050405090304" charset="0"/>
                </a:rPr>
                <a:t>Legal and regulatory barriers of direct sales model in some </a:t>
              </a:r>
            </a:p>
            <a:p>
              <a:r>
                <a:rPr lang="en-US" altLang="zh-CN" sz="1100" dirty="0">
                  <a:latin typeface="+mn-ea"/>
                  <a:cs typeface="Times New Roman Regular" panose="02020503050405090304" charset="0"/>
                </a:rPr>
                <a:t>(</a:t>
              </a:r>
              <a:r>
                <a:rPr lang="en-US" altLang="zh-CN" sz="1100" dirty="0" err="1">
                  <a:latin typeface="+mn-ea"/>
                  <a:cs typeface="Times New Roman Regular" panose="02020503050405090304" charset="0"/>
                </a:rPr>
                <a:t>regionsLaw</a:t>
              </a:r>
              <a:r>
                <a:rPr lang="en-US" altLang="zh-CN" sz="1100" dirty="0">
                  <a:latin typeface="+mn-ea"/>
                  <a:cs typeface="Times New Roman Regular" panose="02020503050405090304" charset="0"/>
                </a:rPr>
                <a:t> &amp; Economics Center, 2026)</a:t>
              </a:r>
            </a:p>
          </p:txBody>
        </p:sp>
      </p:grpSp>
      <p:grpSp>
        <p:nvGrpSpPr>
          <p:cNvPr id="176" name="组合 175"/>
          <p:cNvGrpSpPr/>
          <p:nvPr/>
        </p:nvGrpSpPr>
        <p:grpSpPr>
          <a:xfrm>
            <a:off x="581378" y="4072732"/>
            <a:ext cx="4936490" cy="1558201"/>
            <a:chOff x="2027" y="3418"/>
            <a:chExt cx="4395" cy="2083"/>
          </a:xfrm>
        </p:grpSpPr>
        <p:sp>
          <p:nvSpPr>
            <p:cNvPr id="177" name="圆角矩形 176"/>
            <p:cNvSpPr/>
            <p:nvPr/>
          </p:nvSpPr>
          <p:spPr>
            <a:xfrm>
              <a:off x="2027" y="3418"/>
              <a:ext cx="4395" cy="2083"/>
            </a:xfrm>
            <a:prstGeom prst="roundRect">
              <a:avLst/>
            </a:prstGeom>
            <a:noFill/>
            <a:ln>
              <a:solidFill>
                <a:schemeClr val="accent2"/>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400">
                <a:latin typeface="+mn-ea"/>
              </a:endParaRPr>
            </a:p>
          </p:txBody>
        </p:sp>
        <p:sp>
          <p:nvSpPr>
            <p:cNvPr id="178" name="文本框 177"/>
            <p:cNvSpPr txBox="1"/>
            <p:nvPr/>
          </p:nvSpPr>
          <p:spPr>
            <a:xfrm>
              <a:off x="2175" y="3754"/>
              <a:ext cx="3362" cy="1747"/>
            </a:xfrm>
            <a:prstGeom prst="rect">
              <a:avLst/>
            </a:prstGeom>
            <a:noFill/>
          </p:spPr>
          <p:txBody>
            <a:bodyPr wrap="square" rtlCol="0">
              <a:noAutofit/>
            </a:bodyPr>
            <a:lstStyle/>
            <a:p>
              <a:r>
                <a:rPr lang="en-US" altLang="zh-CN" dirty="0">
                  <a:latin typeface="+mn-ea"/>
                  <a:cs typeface="Times New Roman Regular" panose="02020503050405090304" charset="0"/>
                </a:rPr>
                <a:t>Data privacy and user information security risks</a:t>
              </a:r>
            </a:p>
          </p:txBody>
        </p:sp>
      </p:grpSp>
      <p:grpSp>
        <p:nvGrpSpPr>
          <p:cNvPr id="179" name="组合 178"/>
          <p:cNvGrpSpPr/>
          <p:nvPr/>
        </p:nvGrpSpPr>
        <p:grpSpPr>
          <a:xfrm>
            <a:off x="6121118" y="4072097"/>
            <a:ext cx="5069205" cy="1558201"/>
            <a:chOff x="2027" y="3418"/>
            <a:chExt cx="4395" cy="2083"/>
          </a:xfrm>
        </p:grpSpPr>
        <p:sp>
          <p:nvSpPr>
            <p:cNvPr id="180" name="圆角矩形 179"/>
            <p:cNvSpPr/>
            <p:nvPr/>
          </p:nvSpPr>
          <p:spPr>
            <a:xfrm>
              <a:off x="2027" y="3418"/>
              <a:ext cx="4395" cy="2083"/>
            </a:xfrm>
            <a:prstGeom prst="roundRect">
              <a:avLst/>
            </a:prstGeom>
            <a:noFill/>
            <a:ln>
              <a:solidFill>
                <a:schemeClr val="accent2"/>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1400">
                <a:latin typeface="+mn-ea"/>
              </a:endParaRPr>
            </a:p>
          </p:txBody>
        </p:sp>
        <p:sp>
          <p:nvSpPr>
            <p:cNvPr id="181" name="文本框 180"/>
            <p:cNvSpPr txBox="1"/>
            <p:nvPr/>
          </p:nvSpPr>
          <p:spPr>
            <a:xfrm>
              <a:off x="3050" y="3706"/>
              <a:ext cx="3279" cy="1795"/>
            </a:xfrm>
            <a:prstGeom prst="rect">
              <a:avLst/>
            </a:prstGeom>
            <a:noFill/>
          </p:spPr>
          <p:txBody>
            <a:bodyPr wrap="square" rtlCol="0">
              <a:noAutofit/>
            </a:bodyPr>
            <a:lstStyle/>
            <a:p>
              <a:r>
                <a:rPr lang="en-US" altLang="zh-CN" dirty="0">
                  <a:latin typeface="+mn-ea"/>
                  <a:cs typeface="Times New Roman Regular" panose="02020503050405090304" charset="0"/>
                </a:rPr>
                <a:t>Gross margin pressure from industry price wars and supply chain volatility</a:t>
              </a:r>
            </a:p>
          </p:txBody>
        </p:sp>
      </p:grpSp>
      <p:pic>
        <p:nvPicPr>
          <p:cNvPr id="182" name="图片 181" descr="钱纸币"/>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82086" y="2251061"/>
            <a:ext cx="1056407" cy="1056407"/>
          </a:xfrm>
          <a:prstGeom prst="rect">
            <a:avLst/>
          </a:prstGeom>
        </p:spPr>
      </p:pic>
      <p:pic>
        <p:nvPicPr>
          <p:cNvPr id="183" name="图片 182" descr="法律法务建议天平"/>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111826" y="2251061"/>
            <a:ext cx="1056407" cy="1056407"/>
          </a:xfrm>
          <a:prstGeom prst="rect">
            <a:avLst/>
          </a:prstGeom>
        </p:spPr>
      </p:pic>
      <p:pic>
        <p:nvPicPr>
          <p:cNvPr id="184" name="图片 183" descr="人"/>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382086" y="4357991"/>
            <a:ext cx="1056407" cy="1056407"/>
          </a:xfrm>
          <a:prstGeom prst="rect">
            <a:avLst/>
          </a:prstGeom>
        </p:spPr>
      </p:pic>
      <p:pic>
        <p:nvPicPr>
          <p:cNvPr id="185" name="图片 184" descr="物流"/>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111826" y="4357991"/>
            <a:ext cx="1056407" cy="1056407"/>
          </a:xfrm>
          <a:prstGeom prst="rect">
            <a:avLst/>
          </a:prstGeom>
        </p:spPr>
      </p:pic>
      <p:pic>
        <p:nvPicPr>
          <p:cNvPr id="3" name="图片 2" descr="67d4171554a30b5dc051a4219fb082a4"/>
          <p:cNvPicPr>
            <a:picLocks noChangeAspect="1"/>
          </p:cNvPicPr>
          <p:nvPr/>
        </p:nvPicPr>
        <p:blipFill>
          <a:blip r:embed="rId11"/>
          <a:stretch>
            <a:fillRect/>
          </a:stretch>
        </p:blipFill>
        <p:spPr>
          <a:xfrm>
            <a:off x="8985956" y="164161"/>
            <a:ext cx="3206044" cy="1802276"/>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226846" y="540068"/>
            <a:ext cx="5674995"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altLang="zh-CN" sz="3200" b="1" dirty="0">
                <a:latin typeface="Aptos" panose="020B0004020202020204" pitchFamily="34" charset="0"/>
                <a:cs typeface="Times New Roman Bold" panose="02020503050405090304" charset="0"/>
              </a:rPr>
              <a:t>Improvement Suggestions</a:t>
            </a:r>
          </a:p>
        </p:txBody>
      </p:sp>
      <p:grpSp>
        <p:nvGrpSpPr>
          <p:cNvPr id="25" name="组合 24"/>
          <p:cNvGrpSpPr/>
          <p:nvPr/>
        </p:nvGrpSpPr>
        <p:grpSpPr>
          <a:xfrm>
            <a:off x="443865" y="1778000"/>
            <a:ext cx="2581275" cy="4565015"/>
            <a:chOff x="895" y="2800"/>
            <a:chExt cx="4065" cy="7189"/>
          </a:xfrm>
        </p:grpSpPr>
        <p:sp>
          <p:nvSpPr>
            <p:cNvPr id="3" name="AutoShape 3"/>
            <p:cNvSpPr/>
            <p:nvPr/>
          </p:nvSpPr>
          <p:spPr>
            <a:xfrm>
              <a:off x="895" y="2800"/>
              <a:ext cx="4065" cy="7189"/>
            </a:xfrm>
            <a:prstGeom prst="roundRect">
              <a:avLst>
                <a:gd name="adj" fmla="val 0"/>
              </a:avLst>
            </a:prstGeom>
            <a:solidFill>
              <a:srgbClr val="F9F9F9">
                <a:alpha val="100000"/>
              </a:srgbClr>
            </a:solidFill>
            <a:ln w="12700" cap="flat" cmpd="sng">
              <a:solidFill>
                <a:srgbClr val="E5E5E5">
                  <a:alpha val="100000"/>
                </a:srgbClr>
              </a:solidFill>
              <a:prstDash val="solid"/>
              <a:round/>
            </a:ln>
          </p:spPr>
          <p:txBody>
            <a:bodyPr vert="horz" wrap="square" lIns="63500" tIns="63500" rIns="63500" bIns="63500" rtlCol="0" anchor="ctr"/>
            <a:lstStyle/>
            <a:p>
              <a:pPr algn="ctr">
                <a:defRPr/>
              </a:pPr>
              <a:endParaRPr>
                <a:latin typeface="Aptos" panose="020B0004020202020204" pitchFamily="34" charset="0"/>
              </a:endParaRPr>
            </a:p>
          </p:txBody>
        </p:sp>
        <p:sp>
          <p:nvSpPr>
            <p:cNvPr id="4" name="AutoShape 4"/>
            <p:cNvSpPr/>
            <p:nvPr/>
          </p:nvSpPr>
          <p:spPr>
            <a:xfrm>
              <a:off x="1200" y="3200"/>
              <a:ext cx="3760" cy="1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altLang="zh-CN" sz="2000" b="1">
                  <a:latin typeface="Aptos" panose="020B0004020202020204" pitchFamily="34" charset="0"/>
                  <a:cs typeface="Times New Roman Bold" panose="02020503050405090304" charset="0"/>
                </a:rPr>
                <a:t>Cost Optimization</a:t>
              </a:r>
            </a:p>
          </p:txBody>
        </p:sp>
        <p:sp>
          <p:nvSpPr>
            <p:cNvPr id="5" name="AutoShape 5"/>
            <p:cNvSpPr/>
            <p:nvPr/>
          </p:nvSpPr>
          <p:spPr>
            <a:xfrm>
              <a:off x="1500" y="4400"/>
              <a:ext cx="800" cy="60"/>
            </a:xfrm>
            <a:prstGeom prst="roundRect">
              <a:avLst>
                <a:gd name="adj" fmla="val 0"/>
              </a:avLst>
            </a:prstGeom>
            <a:solidFill>
              <a:srgbClr val="0077B6">
                <a:alpha val="100000"/>
              </a:srgbClr>
            </a:solidFill>
            <a:ln w="25400" cap="flat" cmpd="sng">
              <a:noFill/>
              <a:prstDash val="solid"/>
              <a:round/>
            </a:ln>
          </p:spPr>
          <p:txBody>
            <a:bodyPr vert="horz" wrap="square" lIns="63500" tIns="63500" rIns="63500" bIns="63500" rtlCol="0" anchor="ctr"/>
            <a:lstStyle/>
            <a:p>
              <a:pPr algn="ctr">
                <a:defRPr/>
              </a:pPr>
              <a:endParaRPr>
                <a:latin typeface="Aptos" panose="020B0004020202020204" pitchFamily="34" charset="0"/>
              </a:endParaRPr>
            </a:p>
          </p:txBody>
        </p:sp>
        <p:sp>
          <p:nvSpPr>
            <p:cNvPr id="6" name="AutoShape 6"/>
            <p:cNvSpPr/>
            <p:nvPr/>
          </p:nvSpPr>
          <p:spPr>
            <a:xfrm>
              <a:off x="1217" y="4754"/>
              <a:ext cx="3565" cy="4840"/>
            </a:xfrm>
            <a:prstGeom prst="rect">
              <a:avLst/>
            </a:prstGeom>
            <a:noFill/>
            <a:ln w="12700" cap="flat" cmpd="sng">
              <a:noFill/>
              <a:prstDash val="solid"/>
              <a:round/>
            </a:ln>
          </p:spPr>
          <p:txBody>
            <a:bodyPr vert="horz" wrap="square" lIns="0" tIns="0" rIns="0" bIns="0" rtlCol="0" anchor="ctr" anchorCtr="0"/>
            <a:lstStyle/>
            <a:p>
              <a:pPr marL="285750" indent="-285750" algn="l">
                <a:lnSpc>
                  <a:spcPct val="100000"/>
                </a:lnSpc>
                <a:buFont typeface="Arial" panose="020B0604020202090204" pitchFamily="34" charset="0"/>
                <a:buChar char="•"/>
                <a:defRPr/>
              </a:pPr>
              <a:r>
                <a:rPr lang="en-US" altLang="zh-CN" sz="1600" b="0" i="0" u="none" strike="noStrike" dirty="0">
                  <a:solidFill>
                    <a:srgbClr val="333333"/>
                  </a:solidFill>
                  <a:latin typeface="Aptos" panose="020B0004020202020204" pitchFamily="34" charset="0"/>
                  <a:ea typeface="Noto Sans SC"/>
                  <a:cs typeface="Times New Roman Regular" panose="02020503050405090304" charset="0"/>
                  <a:sym typeface="Noto Sans SC"/>
                </a:rPr>
                <a:t>Streamline non-core          business spending (e.g., reduce unprofitable energy projects)</a:t>
              </a:r>
            </a:p>
            <a:p>
              <a:pPr marL="285750" indent="-285750" algn="l">
                <a:lnSpc>
                  <a:spcPct val="100000"/>
                </a:lnSpc>
                <a:buFont typeface="Arial" panose="020B0604020202090204" pitchFamily="34" charset="0"/>
                <a:buChar char="•"/>
                <a:defRPr/>
              </a:pPr>
              <a:r>
                <a:rPr lang="en-US" altLang="zh-CN" sz="1600" b="0" i="0" u="none" strike="noStrike" dirty="0">
                  <a:solidFill>
                    <a:srgbClr val="333333"/>
                  </a:solidFill>
                  <a:latin typeface="Aptos" panose="020B0004020202020204" pitchFamily="34" charset="0"/>
                  <a:ea typeface="Noto Sans SC"/>
                  <a:cs typeface="Times New Roman Regular" panose="02020503050405090304" charset="0"/>
                  <a:sym typeface="Noto Sans SC"/>
                </a:rPr>
                <a:t>Accelerate supply chain localization in emerging markets</a:t>
              </a:r>
            </a:p>
            <a:p>
              <a:pPr marL="285750" indent="-285750" algn="l">
                <a:lnSpc>
                  <a:spcPct val="100000"/>
                </a:lnSpc>
                <a:buFont typeface="Arial" panose="020B0604020202090204" pitchFamily="34" charset="0"/>
                <a:buChar char="•"/>
                <a:defRPr/>
              </a:pPr>
              <a:r>
                <a:rPr lang="en-US" altLang="zh-CN" sz="1600" b="0" i="0" u="none" strike="noStrike" dirty="0">
                  <a:solidFill>
                    <a:srgbClr val="333333"/>
                  </a:solidFill>
                  <a:latin typeface="Aptos" panose="020B0004020202020204" pitchFamily="34" charset="0"/>
                  <a:ea typeface="Noto Sans SC"/>
                  <a:cs typeface="Times New Roman Regular" panose="02020503050405090304" charset="0"/>
                  <a:sym typeface="Noto Sans SC"/>
                </a:rPr>
                <a:t>Optimize gigafactory capacity utilization to lower per-unit production cost</a:t>
              </a:r>
            </a:p>
          </p:txBody>
        </p:sp>
      </p:grpSp>
      <p:grpSp>
        <p:nvGrpSpPr>
          <p:cNvPr id="31" name="组合 30"/>
          <p:cNvGrpSpPr/>
          <p:nvPr/>
        </p:nvGrpSpPr>
        <p:grpSpPr>
          <a:xfrm>
            <a:off x="3269615" y="1778000"/>
            <a:ext cx="2632226" cy="4577080"/>
            <a:chOff x="7000" y="2800"/>
            <a:chExt cx="3978" cy="4309"/>
          </a:xfrm>
        </p:grpSpPr>
        <p:sp>
          <p:nvSpPr>
            <p:cNvPr id="9" name="AutoShape 9"/>
            <p:cNvSpPr/>
            <p:nvPr/>
          </p:nvSpPr>
          <p:spPr>
            <a:xfrm>
              <a:off x="7000" y="2800"/>
              <a:ext cx="3978" cy="4309"/>
            </a:xfrm>
            <a:prstGeom prst="roundRect">
              <a:avLst>
                <a:gd name="adj" fmla="val 0"/>
              </a:avLst>
            </a:prstGeom>
            <a:solidFill>
              <a:srgbClr val="F9F9F9">
                <a:alpha val="100000"/>
              </a:srgbClr>
            </a:solidFill>
            <a:ln w="12700" cap="flat" cmpd="sng">
              <a:solidFill>
                <a:srgbClr val="E5E5E5">
                  <a:alpha val="100000"/>
                </a:srgbClr>
              </a:solidFill>
              <a:prstDash val="solid"/>
              <a:round/>
            </a:ln>
          </p:spPr>
          <p:txBody>
            <a:bodyPr vert="horz" wrap="square" lIns="63500" tIns="63500" rIns="63500" bIns="63500" rtlCol="0" anchor="ctr"/>
            <a:lstStyle/>
            <a:p>
              <a:pPr algn="ctr">
                <a:defRPr/>
              </a:pPr>
              <a:endParaRPr>
                <a:latin typeface="Aptos" panose="020B0004020202020204" pitchFamily="34" charset="0"/>
              </a:endParaRPr>
            </a:p>
          </p:txBody>
        </p:sp>
        <p:sp>
          <p:nvSpPr>
            <p:cNvPr id="10" name="AutoShape 10"/>
            <p:cNvSpPr/>
            <p:nvPr/>
          </p:nvSpPr>
          <p:spPr>
            <a:xfrm>
              <a:off x="7122" y="3039"/>
              <a:ext cx="3498" cy="78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altLang="zh-CN" sz="2000" b="1">
                  <a:latin typeface="Aptos" panose="020B0004020202020204" pitchFamily="34" charset="0"/>
                  <a:cs typeface="Times New Roman Bold" panose="02020503050405090304" charset="0"/>
                </a:rPr>
                <a:t>Data Compliance</a:t>
              </a:r>
            </a:p>
          </p:txBody>
        </p:sp>
        <p:sp>
          <p:nvSpPr>
            <p:cNvPr id="11" name="AutoShape 11"/>
            <p:cNvSpPr/>
            <p:nvPr/>
          </p:nvSpPr>
          <p:spPr>
            <a:xfrm>
              <a:off x="7403" y="3733"/>
              <a:ext cx="800" cy="60"/>
            </a:xfrm>
            <a:prstGeom prst="roundRect">
              <a:avLst>
                <a:gd name="adj" fmla="val 0"/>
              </a:avLst>
            </a:prstGeom>
            <a:solidFill>
              <a:srgbClr val="EAB308">
                <a:alpha val="100000"/>
              </a:srgbClr>
            </a:solidFill>
            <a:ln w="25400" cap="flat" cmpd="sng">
              <a:noFill/>
              <a:prstDash val="solid"/>
              <a:round/>
            </a:ln>
          </p:spPr>
          <p:txBody>
            <a:bodyPr vert="horz" wrap="square" lIns="63500" tIns="63500" rIns="63500" bIns="63500" rtlCol="0" anchor="ctr"/>
            <a:lstStyle/>
            <a:p>
              <a:pPr algn="ctr">
                <a:defRPr/>
              </a:pPr>
              <a:endParaRPr>
                <a:latin typeface="Aptos" panose="020B0004020202020204" pitchFamily="34" charset="0"/>
              </a:endParaRPr>
            </a:p>
          </p:txBody>
        </p:sp>
        <p:sp>
          <p:nvSpPr>
            <p:cNvPr id="12" name="AutoShape 12"/>
            <p:cNvSpPr/>
            <p:nvPr/>
          </p:nvSpPr>
          <p:spPr>
            <a:xfrm>
              <a:off x="7122" y="3957"/>
              <a:ext cx="3310" cy="2893"/>
            </a:xfrm>
            <a:prstGeom prst="rect">
              <a:avLst/>
            </a:prstGeom>
            <a:noFill/>
            <a:ln w="12700" cap="flat" cmpd="sng">
              <a:noFill/>
              <a:prstDash val="solid"/>
              <a:round/>
            </a:ln>
          </p:spPr>
          <p:txBody>
            <a:bodyPr vert="horz" wrap="square" lIns="0" tIns="0" rIns="0" bIns="0" rtlCol="0" anchor="ctr" anchorCtr="0"/>
            <a:lstStyle/>
            <a:p>
              <a:pPr marL="285750" indent="-285750" algn="l">
                <a:lnSpc>
                  <a:spcPct val="100000"/>
                </a:lnSpc>
                <a:buFont typeface="Arial" panose="020B0604020202090204" pitchFamily="34" charset="0"/>
                <a:buChar char="•"/>
                <a:defRPr/>
              </a:pPr>
              <a:r>
                <a:rPr lang="en-US" altLang="zh-CN" sz="1600" b="0" i="0" u="none" strike="noStrike">
                  <a:solidFill>
                    <a:srgbClr val="333333"/>
                  </a:solidFill>
                  <a:latin typeface="Aptos" panose="020B0004020202020204" pitchFamily="34" charset="0"/>
                  <a:ea typeface="Noto Sans SC"/>
                  <a:cs typeface="Times New Roman Regular" panose="02020503050405090304" charset="0"/>
                  <a:sym typeface="Noto Sans SC"/>
                </a:rPr>
                <a:t>Launch transparent user data collection &amp; usage disclosure mechanism</a:t>
              </a:r>
            </a:p>
            <a:p>
              <a:pPr marL="285750" indent="-285750" algn="l">
                <a:lnSpc>
                  <a:spcPct val="100000"/>
                </a:lnSpc>
                <a:buFont typeface="Arial" panose="020B0604020202090204" pitchFamily="34" charset="0"/>
                <a:buChar char="•"/>
                <a:defRPr/>
              </a:pPr>
              <a:r>
                <a:rPr lang="en-US" altLang="zh-CN" sz="1600" b="0" i="0" u="none" strike="noStrike">
                  <a:solidFill>
                    <a:srgbClr val="333333"/>
                  </a:solidFill>
                  <a:latin typeface="Aptos" panose="020B0004020202020204" pitchFamily="34" charset="0"/>
                  <a:ea typeface="Noto Sans SC"/>
                  <a:cs typeface="Times New Roman Regular" panose="02020503050405090304" charset="0"/>
                  <a:sym typeface="Noto Sans SC"/>
                </a:rPr>
                <a:t>Upgrade global data security systems to meet GDPR/CCPA standards</a:t>
              </a:r>
            </a:p>
            <a:p>
              <a:pPr marL="285750" indent="-285750" algn="l">
                <a:lnSpc>
                  <a:spcPct val="100000"/>
                </a:lnSpc>
                <a:buFont typeface="Arial" panose="020B0604020202090204" pitchFamily="34" charset="0"/>
                <a:buChar char="•"/>
                <a:defRPr/>
              </a:pPr>
              <a:r>
                <a:rPr lang="en-US" altLang="zh-CN" sz="1600" b="0" i="0" u="none" strike="noStrike">
                  <a:solidFill>
                    <a:srgbClr val="333333"/>
                  </a:solidFill>
                  <a:latin typeface="Aptos" panose="020B0004020202020204" pitchFamily="34" charset="0"/>
                  <a:ea typeface="Noto Sans SC"/>
                  <a:cs typeface="Times New Roman Regular" panose="02020503050405090304" charset="0"/>
                  <a:sym typeface="Noto Sans SC"/>
                </a:rPr>
                <a:t>Grant users more control over their driving and personal data</a:t>
              </a:r>
            </a:p>
          </p:txBody>
        </p:sp>
      </p:grpSp>
      <p:grpSp>
        <p:nvGrpSpPr>
          <p:cNvPr id="32" name="组合 31"/>
          <p:cNvGrpSpPr/>
          <p:nvPr/>
        </p:nvGrpSpPr>
        <p:grpSpPr>
          <a:xfrm>
            <a:off x="6170295" y="1790065"/>
            <a:ext cx="2632710" cy="4564380"/>
            <a:chOff x="12800" y="2800"/>
            <a:chExt cx="5200" cy="4309"/>
          </a:xfrm>
        </p:grpSpPr>
        <p:sp>
          <p:nvSpPr>
            <p:cNvPr id="15" name="AutoShape 15"/>
            <p:cNvSpPr/>
            <p:nvPr/>
          </p:nvSpPr>
          <p:spPr>
            <a:xfrm>
              <a:off x="12800" y="2800"/>
              <a:ext cx="5200" cy="4309"/>
            </a:xfrm>
            <a:prstGeom prst="roundRect">
              <a:avLst>
                <a:gd name="adj" fmla="val 0"/>
              </a:avLst>
            </a:prstGeom>
            <a:solidFill>
              <a:srgbClr val="F9F9F9">
                <a:alpha val="100000"/>
              </a:srgbClr>
            </a:solidFill>
            <a:ln w="12700" cap="flat" cmpd="sng">
              <a:solidFill>
                <a:srgbClr val="E5E5E5">
                  <a:alpha val="100000"/>
                </a:srgbClr>
              </a:solidFill>
              <a:prstDash val="solid"/>
              <a:round/>
            </a:ln>
          </p:spPr>
          <p:txBody>
            <a:bodyPr vert="horz" wrap="square" lIns="63500" tIns="63500" rIns="63500" bIns="63500" rtlCol="0" anchor="ctr"/>
            <a:lstStyle/>
            <a:p>
              <a:pPr algn="ctr">
                <a:defRPr/>
              </a:pPr>
              <a:endParaRPr>
                <a:latin typeface="Aptos" panose="020B0004020202020204" pitchFamily="34" charset="0"/>
              </a:endParaRPr>
            </a:p>
          </p:txBody>
        </p:sp>
        <p:sp>
          <p:nvSpPr>
            <p:cNvPr id="16" name="AutoShape 16"/>
            <p:cNvSpPr/>
            <p:nvPr/>
          </p:nvSpPr>
          <p:spPr>
            <a:xfrm>
              <a:off x="13100" y="3127"/>
              <a:ext cx="4688" cy="597"/>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altLang="zh-CN" sz="2000" b="1">
                  <a:latin typeface="Aptos" panose="020B0004020202020204" pitchFamily="34" charset="0"/>
                  <a:cs typeface="Times New Roman Bold" panose="02020503050405090304" charset="0"/>
                </a:rPr>
                <a:t>Network Expansion</a:t>
              </a:r>
            </a:p>
          </p:txBody>
        </p:sp>
        <p:sp>
          <p:nvSpPr>
            <p:cNvPr id="17" name="AutoShape 17"/>
            <p:cNvSpPr/>
            <p:nvPr/>
          </p:nvSpPr>
          <p:spPr>
            <a:xfrm>
              <a:off x="13347" y="3770"/>
              <a:ext cx="800" cy="6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latin typeface="Aptos" panose="020B0004020202020204" pitchFamily="34" charset="0"/>
              </a:endParaRPr>
            </a:p>
          </p:txBody>
        </p:sp>
        <p:sp>
          <p:nvSpPr>
            <p:cNvPr id="18" name="AutoShape 18"/>
            <p:cNvSpPr/>
            <p:nvPr/>
          </p:nvSpPr>
          <p:spPr>
            <a:xfrm>
              <a:off x="13166" y="4309"/>
              <a:ext cx="4600" cy="2229"/>
            </a:xfrm>
            <a:prstGeom prst="rect">
              <a:avLst/>
            </a:prstGeom>
            <a:noFill/>
            <a:ln w="12700" cap="flat" cmpd="sng">
              <a:noFill/>
              <a:prstDash val="solid"/>
              <a:round/>
            </a:ln>
          </p:spPr>
          <p:txBody>
            <a:bodyPr vert="horz" wrap="square" lIns="0" tIns="0" rIns="0" bIns="0" rtlCol="0" anchor="ctr" anchorCtr="0"/>
            <a:lstStyle/>
            <a:p>
              <a:pPr marL="285750" indent="-285750" algn="l">
                <a:lnSpc>
                  <a:spcPct val="100000"/>
                </a:lnSpc>
                <a:buFont typeface="Arial" panose="020B0604020202090204" pitchFamily="34" charset="0"/>
                <a:buChar char="•"/>
                <a:defRPr/>
              </a:pPr>
              <a:r>
                <a:rPr lang="en-US" altLang="zh-CN" sz="1600" b="0" i="0" u="none" strike="noStrike">
                  <a:solidFill>
                    <a:srgbClr val="333333"/>
                  </a:solidFill>
                  <a:latin typeface="Aptos" panose="020B0004020202020204" pitchFamily="34" charset="0"/>
                  <a:ea typeface="Noto Sans SC"/>
                  <a:cs typeface="Times New Roman Regular" panose="02020503050405090304" charset="0"/>
                  <a:sym typeface="Noto Sans SC"/>
                </a:rPr>
                <a:t>Prioritize charging station deployment in tier-2/3 cities and rural areas</a:t>
              </a:r>
            </a:p>
            <a:p>
              <a:pPr marL="285750" indent="-285750" algn="l">
                <a:lnSpc>
                  <a:spcPct val="100000"/>
                </a:lnSpc>
                <a:buFont typeface="Arial" panose="020B0604020202090204" pitchFamily="34" charset="0"/>
                <a:buChar char="•"/>
                <a:defRPr/>
              </a:pPr>
              <a:r>
                <a:rPr lang="en-US" altLang="zh-CN" sz="1600" b="0" i="0" u="none" strike="noStrike">
                  <a:solidFill>
                    <a:srgbClr val="333333"/>
                  </a:solidFill>
                  <a:latin typeface="Aptos" panose="020B0004020202020204" pitchFamily="34" charset="0"/>
                  <a:ea typeface="Noto Sans SC"/>
                  <a:cs typeface="Times New Roman Regular" panose="02020503050405090304" charset="0"/>
                  <a:sym typeface="Noto Sans SC"/>
                </a:rPr>
                <a:t>Expand mobile after-sales service teams to cover underserved regions</a:t>
              </a:r>
            </a:p>
            <a:p>
              <a:pPr marL="285750" indent="-285750" algn="l">
                <a:lnSpc>
                  <a:spcPct val="100000"/>
                </a:lnSpc>
                <a:buFont typeface="Arial" panose="020B0604020202090204" pitchFamily="34" charset="0"/>
                <a:buChar char="•"/>
                <a:defRPr/>
              </a:pPr>
              <a:r>
                <a:rPr lang="en-US" altLang="zh-CN" sz="1600" b="0" i="0" u="none" strike="noStrike">
                  <a:solidFill>
                    <a:srgbClr val="333333"/>
                  </a:solidFill>
                  <a:latin typeface="Aptos" panose="020B0004020202020204" pitchFamily="34" charset="0"/>
                  <a:ea typeface="Noto Sans SC"/>
                  <a:cs typeface="Times New Roman Regular" panose="02020503050405090304" charset="0"/>
                  <a:sym typeface="Noto Sans SC"/>
                </a:rPr>
                <a:t>Integrate online appointment system with offline service centers</a:t>
              </a:r>
            </a:p>
          </p:txBody>
        </p:sp>
      </p:grpSp>
      <p:sp>
        <p:nvSpPr>
          <p:cNvPr id="21" name="Shape 0"/>
          <p:cNvSpPr/>
          <p:nvPr/>
        </p:nvSpPr>
        <p:spPr>
          <a:xfrm>
            <a:off x="0" y="0"/>
            <a:ext cx="12191400" cy="164160"/>
          </a:xfrm>
          <a:prstGeom prst="rect">
            <a:avLst/>
          </a:prstGeom>
          <a:solidFill>
            <a:srgbClr val="FF9900"/>
          </a:solidFill>
          <a:ln w="12700">
            <a:solidFill>
              <a:srgbClr val="FF99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ptos" panose="020B0004020202020204" pitchFamily="34" charset="0"/>
            </a:endParaRPr>
          </a:p>
        </p:txBody>
      </p:sp>
      <p:grpSp>
        <p:nvGrpSpPr>
          <p:cNvPr id="26" name="组合 25"/>
          <p:cNvGrpSpPr/>
          <p:nvPr/>
        </p:nvGrpSpPr>
        <p:grpSpPr>
          <a:xfrm>
            <a:off x="9071610" y="1790065"/>
            <a:ext cx="2861945" cy="4565015"/>
            <a:chOff x="895" y="2800"/>
            <a:chExt cx="4507" cy="7189"/>
          </a:xfrm>
        </p:grpSpPr>
        <p:sp>
          <p:nvSpPr>
            <p:cNvPr id="27" name="AutoShape 3"/>
            <p:cNvSpPr/>
            <p:nvPr/>
          </p:nvSpPr>
          <p:spPr>
            <a:xfrm>
              <a:off x="895" y="2800"/>
              <a:ext cx="4507" cy="7189"/>
            </a:xfrm>
            <a:prstGeom prst="roundRect">
              <a:avLst>
                <a:gd name="adj" fmla="val 0"/>
              </a:avLst>
            </a:prstGeom>
            <a:solidFill>
              <a:srgbClr val="F9F9F9">
                <a:alpha val="100000"/>
              </a:srgbClr>
            </a:solidFill>
            <a:ln w="12700" cap="flat" cmpd="sng">
              <a:solidFill>
                <a:srgbClr val="E5E5E5">
                  <a:alpha val="100000"/>
                </a:srgbClr>
              </a:solidFill>
              <a:prstDash val="solid"/>
              <a:round/>
            </a:ln>
          </p:spPr>
          <p:txBody>
            <a:bodyPr vert="horz" wrap="square" lIns="63500" tIns="63500" rIns="63500" bIns="63500" rtlCol="0" anchor="ctr"/>
            <a:lstStyle/>
            <a:p>
              <a:pPr algn="ctr">
                <a:defRPr/>
              </a:pPr>
              <a:endParaRPr>
                <a:latin typeface="Aptos" panose="020B0004020202020204" pitchFamily="34" charset="0"/>
              </a:endParaRPr>
            </a:p>
          </p:txBody>
        </p:sp>
        <p:sp>
          <p:nvSpPr>
            <p:cNvPr id="28" name="AutoShape 4"/>
            <p:cNvSpPr/>
            <p:nvPr/>
          </p:nvSpPr>
          <p:spPr>
            <a:xfrm>
              <a:off x="990" y="3042"/>
              <a:ext cx="4398" cy="1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altLang="zh-CN" sz="2000" b="1">
                  <a:latin typeface="Aptos" panose="020B0004020202020204" pitchFamily="34" charset="0"/>
                  <a:cs typeface="Times New Roman Bold" panose="02020503050405090304" charset="0"/>
                </a:rPr>
                <a:t>Software Monetization</a:t>
              </a:r>
            </a:p>
          </p:txBody>
        </p:sp>
        <p:sp>
          <p:nvSpPr>
            <p:cNvPr id="29" name="AutoShape 5"/>
            <p:cNvSpPr/>
            <p:nvPr/>
          </p:nvSpPr>
          <p:spPr>
            <a:xfrm>
              <a:off x="1464" y="4358"/>
              <a:ext cx="800" cy="60"/>
            </a:xfrm>
            <a:prstGeom prst="roundRect">
              <a:avLst>
                <a:gd name="adj" fmla="val 0"/>
              </a:avLst>
            </a:prstGeom>
            <a:solidFill>
              <a:srgbClr val="FF0000"/>
            </a:solidFill>
            <a:ln w="25400" cap="flat" cmpd="sng">
              <a:noFill/>
              <a:prstDash val="solid"/>
              <a:round/>
            </a:ln>
          </p:spPr>
          <p:txBody>
            <a:bodyPr vert="horz" wrap="square" lIns="63500" tIns="63500" rIns="63500" bIns="63500" rtlCol="0" anchor="ctr"/>
            <a:lstStyle/>
            <a:p>
              <a:pPr algn="ctr">
                <a:defRPr/>
              </a:pPr>
              <a:endParaRPr>
                <a:latin typeface="Aptos" panose="020B0004020202020204" pitchFamily="34" charset="0"/>
              </a:endParaRPr>
            </a:p>
          </p:txBody>
        </p:sp>
        <p:sp>
          <p:nvSpPr>
            <p:cNvPr id="30" name="AutoShape 6"/>
            <p:cNvSpPr/>
            <p:nvPr/>
          </p:nvSpPr>
          <p:spPr>
            <a:xfrm>
              <a:off x="1200" y="4735"/>
              <a:ext cx="3565" cy="4821"/>
            </a:xfrm>
            <a:prstGeom prst="rect">
              <a:avLst/>
            </a:prstGeom>
            <a:noFill/>
            <a:ln w="12700" cap="flat" cmpd="sng">
              <a:noFill/>
              <a:prstDash val="solid"/>
              <a:round/>
            </a:ln>
          </p:spPr>
          <p:txBody>
            <a:bodyPr vert="horz" wrap="square" lIns="0" tIns="0" rIns="0" bIns="0" rtlCol="0" anchor="ctr" anchorCtr="0"/>
            <a:lstStyle/>
            <a:p>
              <a:pPr marL="285750" indent="-285750" algn="l">
                <a:lnSpc>
                  <a:spcPct val="100000"/>
                </a:lnSpc>
                <a:buFont typeface="Arial" panose="020B0604020202090204" pitchFamily="34" charset="0"/>
                <a:buChar char="•"/>
                <a:defRPr/>
              </a:pPr>
              <a:r>
                <a:rPr lang="en-US" altLang="zh-CN" sz="1600" b="0" i="0" u="none" strike="noStrike">
                  <a:solidFill>
                    <a:srgbClr val="333333"/>
                  </a:solidFill>
                  <a:latin typeface="Aptos" panose="020B0004020202020204" pitchFamily="34" charset="0"/>
                  <a:ea typeface="Noto Sans SC"/>
                  <a:cs typeface="Times New Roman Regular" panose="02020503050405090304" charset="0"/>
                  <a:sym typeface="Noto Sans SC"/>
                </a:rPr>
                <a:t>Promote FSD subscription model globally with tiered pricing(</a:t>
              </a:r>
              <a:r>
                <a:rPr lang="en-US" altLang="zh-CN" sz="1600" dirty="0">
                  <a:latin typeface="Aptos" panose="020B0004020202020204" pitchFamily="34" charset="0"/>
                  <a:cs typeface="Times New Roman Regular" panose="02020503050405090304" charset="0"/>
                  <a:sym typeface="+mn-ea"/>
                </a:rPr>
                <a:t>Basenor, 2026</a:t>
              </a:r>
              <a:r>
                <a:rPr lang="en-US" altLang="zh-CN" sz="1600" b="0" i="0" u="none" strike="noStrike">
                  <a:solidFill>
                    <a:srgbClr val="333333"/>
                  </a:solidFill>
                  <a:latin typeface="Aptos" panose="020B0004020202020204" pitchFamily="34" charset="0"/>
                  <a:ea typeface="Noto Sans SC"/>
                  <a:cs typeface="Times New Roman Regular" panose="02020503050405090304" charset="0"/>
                  <a:sym typeface="Noto Sans SC"/>
                </a:rPr>
                <a:t>)</a:t>
              </a:r>
            </a:p>
            <a:p>
              <a:pPr marL="285750" indent="-285750" algn="l">
                <a:lnSpc>
                  <a:spcPct val="100000"/>
                </a:lnSpc>
                <a:buFont typeface="Arial" panose="020B0604020202090204" pitchFamily="34" charset="0"/>
                <a:buChar char="•"/>
                <a:defRPr/>
              </a:pPr>
              <a:r>
                <a:rPr lang="en-US" altLang="zh-CN" sz="1600" b="0" i="0" u="none" strike="noStrike">
                  <a:solidFill>
                    <a:srgbClr val="333333"/>
                  </a:solidFill>
                  <a:latin typeface="Aptos" panose="020B0004020202020204" pitchFamily="34" charset="0"/>
                  <a:ea typeface="Noto Sans SC"/>
                  <a:cs typeface="Times New Roman Regular" panose="02020503050405090304" charset="0"/>
                  <a:sym typeface="Noto Sans SC"/>
                </a:rPr>
                <a:t>Launch paid premium in-car entertainment and connectivity services</a:t>
              </a:r>
            </a:p>
            <a:p>
              <a:pPr marL="285750" indent="-285750" algn="l">
                <a:lnSpc>
                  <a:spcPct val="100000"/>
                </a:lnSpc>
                <a:buFont typeface="Arial" panose="020B0604020202090204" pitchFamily="34" charset="0"/>
                <a:buChar char="•"/>
                <a:defRPr/>
              </a:pPr>
              <a:r>
                <a:rPr lang="en-US" altLang="zh-CN" sz="1600" b="0" i="0" u="none" strike="noStrike">
                  <a:solidFill>
                    <a:srgbClr val="333333"/>
                  </a:solidFill>
                  <a:latin typeface="Aptos" panose="020B0004020202020204" pitchFamily="34" charset="0"/>
                  <a:ea typeface="Noto Sans SC"/>
                  <a:cs typeface="Times New Roman Regular" panose="02020503050405090304" charset="0"/>
                  <a:sym typeface="Noto Sans SC"/>
                </a:rPr>
                <a:t>Develop commercial fleet management software for enterprise customers</a:t>
              </a:r>
            </a:p>
          </p:txBody>
        </p:sp>
      </p:grpSp>
      <p:pic>
        <p:nvPicPr>
          <p:cNvPr id="7" name="图片 6" descr="fUrZnKfEA"/>
          <p:cNvPicPr>
            <a:picLocks noChangeAspect="1"/>
          </p:cNvPicPr>
          <p:nvPr/>
        </p:nvPicPr>
        <p:blipFill>
          <a:blip r:embed="rId3"/>
          <a:stretch>
            <a:fillRect/>
          </a:stretch>
        </p:blipFill>
        <p:spPr>
          <a:xfrm>
            <a:off x="9364380" y="145098"/>
            <a:ext cx="2814955" cy="155194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Shape 0"/>
          <p:cNvSpPr/>
          <p:nvPr/>
        </p:nvSpPr>
        <p:spPr>
          <a:xfrm>
            <a:off x="0" y="0"/>
            <a:ext cx="12191400" cy="164160"/>
          </a:xfrm>
          <a:prstGeom prst="rect">
            <a:avLst/>
          </a:prstGeom>
          <a:solidFill>
            <a:srgbClr val="FF9900"/>
          </a:solidFill>
          <a:ln w="12700">
            <a:solidFill>
              <a:srgbClr val="FF99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ptos" panose="020B0004020202020204" pitchFamily="34" charset="0"/>
            </a:endParaRPr>
          </a:p>
        </p:txBody>
      </p:sp>
      <p:sp>
        <p:nvSpPr>
          <p:cNvPr id="2" name="矩形 1"/>
          <p:cNvSpPr/>
          <p:nvPr/>
        </p:nvSpPr>
        <p:spPr>
          <a:xfrm>
            <a:off x="1930400" y="2117725"/>
            <a:ext cx="2019300" cy="1993900"/>
          </a:xfrm>
          <a:prstGeom prst="rect">
            <a:avLst/>
          </a:prstGeom>
          <a:solidFill>
            <a:srgbClr val="FFE0B3"/>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Aptos" panose="020B0004020202020204" pitchFamily="34" charset="0"/>
            </a:endParaRPr>
          </a:p>
        </p:txBody>
      </p:sp>
      <p:cxnSp>
        <p:nvCxnSpPr>
          <p:cNvPr id="3" name="直接连接符 2"/>
          <p:cNvCxnSpPr/>
          <p:nvPr/>
        </p:nvCxnSpPr>
        <p:spPr>
          <a:xfrm>
            <a:off x="3333750" y="1470025"/>
            <a:ext cx="12700" cy="4597400"/>
          </a:xfrm>
          <a:prstGeom prst="line">
            <a:avLst/>
          </a:prstGeom>
          <a:ln w="28575" cmpd="sng">
            <a:solidFill>
              <a:srgbClr val="FF9900"/>
            </a:solidFill>
            <a:prstDash val="solid"/>
          </a:ln>
        </p:spPr>
        <p:style>
          <a:lnRef idx="2">
            <a:schemeClr val="accent1"/>
          </a:lnRef>
          <a:fillRef idx="0">
            <a:srgbClr val="FFFFFF"/>
          </a:fillRef>
          <a:effectRef idx="0">
            <a:srgbClr val="FFFFFF"/>
          </a:effectRef>
          <a:fontRef idx="minor">
            <a:schemeClr val="tx1"/>
          </a:fontRef>
        </p:style>
      </p:cxnSp>
      <p:cxnSp>
        <p:nvCxnSpPr>
          <p:cNvPr id="4" name="直接连接符 3"/>
          <p:cNvCxnSpPr/>
          <p:nvPr/>
        </p:nvCxnSpPr>
        <p:spPr>
          <a:xfrm>
            <a:off x="-116205" y="2713355"/>
            <a:ext cx="12308205" cy="24130"/>
          </a:xfrm>
          <a:prstGeom prst="line">
            <a:avLst/>
          </a:prstGeom>
          <a:ln w="28575" cmpd="sng">
            <a:solidFill>
              <a:srgbClr val="FF9900"/>
            </a:solidFill>
            <a:prstDash val="solid"/>
          </a:ln>
        </p:spPr>
        <p:style>
          <a:lnRef idx="2">
            <a:schemeClr val="accent1"/>
          </a:lnRef>
          <a:fillRef idx="0">
            <a:srgbClr val="FFFFFF"/>
          </a:fillRef>
          <a:effectRef idx="0">
            <a:srgbClr val="FFFFFF"/>
          </a:effectRef>
          <a:fontRef idx="minor">
            <a:schemeClr val="tx1"/>
          </a:fontRef>
        </p:style>
      </p:cxnSp>
      <p:sp>
        <p:nvSpPr>
          <p:cNvPr id="5" name="文本框 4"/>
          <p:cNvSpPr txBox="1"/>
          <p:nvPr/>
        </p:nvSpPr>
        <p:spPr>
          <a:xfrm>
            <a:off x="407035" y="5542280"/>
            <a:ext cx="1981835" cy="829945"/>
          </a:xfrm>
          <a:prstGeom prst="rect">
            <a:avLst/>
          </a:prstGeom>
          <a:noFill/>
        </p:spPr>
        <p:txBody>
          <a:bodyPr wrap="square" rtlCol="0">
            <a:spAutoFit/>
          </a:bodyPr>
          <a:lstStyle/>
          <a:p>
            <a:r>
              <a:rPr lang="en-US" altLang="zh-CN" sz="2400" b="1">
                <a:latin typeface="Aptos" panose="020B0004020202020204" pitchFamily="34" charset="0"/>
                <a:cs typeface="Times New Roman" panose="02020503050405090304" charset="0"/>
              </a:rPr>
              <a:t>Youtai Wang</a:t>
            </a:r>
          </a:p>
          <a:p>
            <a:r>
              <a:rPr lang="en-US" altLang="zh-CN" sz="2400" b="1">
                <a:latin typeface="Aptos" panose="020B0004020202020204" pitchFamily="34" charset="0"/>
                <a:cs typeface="Times New Roman" panose="02020503050405090304" charset="0"/>
              </a:rPr>
              <a:t>2251996</a:t>
            </a:r>
          </a:p>
        </p:txBody>
      </p:sp>
      <p:sp>
        <p:nvSpPr>
          <p:cNvPr id="6" name="文本框 5"/>
          <p:cNvSpPr txBox="1"/>
          <p:nvPr/>
        </p:nvSpPr>
        <p:spPr>
          <a:xfrm>
            <a:off x="306070" y="423545"/>
            <a:ext cx="8850630" cy="521970"/>
          </a:xfrm>
          <a:prstGeom prst="rect">
            <a:avLst/>
          </a:prstGeom>
          <a:noFill/>
        </p:spPr>
        <p:txBody>
          <a:bodyPr wrap="square" rtlCol="0">
            <a:spAutoFit/>
          </a:bodyPr>
          <a:lstStyle/>
          <a:p>
            <a:r>
              <a:rPr lang="en-US" altLang="zh-CN" sz="2800" b="1">
                <a:latin typeface="Aptos" panose="020B0004020202020204" pitchFamily="34" charset="0"/>
                <a:cs typeface="Times New Roman" panose="02020503050405090304" charset="0"/>
              </a:rPr>
              <a:t>Zara: Agile Supply Chain + Omnichannel Integration</a:t>
            </a:r>
          </a:p>
        </p:txBody>
      </p:sp>
      <p:sp>
        <p:nvSpPr>
          <p:cNvPr id="7" name="文本框 6"/>
          <p:cNvSpPr txBox="1"/>
          <p:nvPr/>
        </p:nvSpPr>
        <p:spPr>
          <a:xfrm>
            <a:off x="2388870" y="1009650"/>
            <a:ext cx="8850630" cy="521970"/>
          </a:xfrm>
          <a:prstGeom prst="rect">
            <a:avLst/>
          </a:prstGeom>
          <a:noFill/>
        </p:spPr>
        <p:txBody>
          <a:bodyPr wrap="square" rtlCol="0">
            <a:spAutoFit/>
          </a:bodyPr>
          <a:lstStyle/>
          <a:p>
            <a:r>
              <a:rPr lang="en-US" altLang="zh-CN" sz="2800" b="1">
                <a:solidFill>
                  <a:srgbClr val="FF9900"/>
                </a:solidFill>
                <a:latin typeface="Aptos" panose="020B0004020202020204" pitchFamily="34" charset="0"/>
                <a:cs typeface="Times New Roman" panose="02020503050405090304" charset="0"/>
              </a:rPr>
              <a:t>An Analysis of E-commerce Business Strategies</a:t>
            </a:r>
          </a:p>
        </p:txBody>
      </p:sp>
      <p:sp>
        <p:nvSpPr>
          <p:cNvPr id="8" name="文本框 7"/>
          <p:cNvSpPr txBox="1"/>
          <p:nvPr/>
        </p:nvSpPr>
        <p:spPr>
          <a:xfrm>
            <a:off x="5310505" y="3429000"/>
            <a:ext cx="6072505" cy="2214880"/>
          </a:xfrm>
          <a:prstGeom prst="rect">
            <a:avLst/>
          </a:prstGeom>
          <a:noFill/>
        </p:spPr>
        <p:txBody>
          <a:bodyPr wrap="square" rtlCol="0">
            <a:spAutoFit/>
          </a:bodyPr>
          <a:lstStyle/>
          <a:p>
            <a:pPr algn="dist"/>
            <a:r>
              <a:rPr lang="en-US" altLang="zh-CN" sz="13800" b="1">
                <a:latin typeface="Aptos" panose="020B0004020202020204" pitchFamily="34" charset="0"/>
                <a:ea typeface="黑体" panose="02010609060101010101" charset="-122"/>
                <a:cs typeface="Tahoma" panose="020B0604030504040204" charset="0"/>
              </a:rPr>
              <a:t>ZARA</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94838" y="338328"/>
            <a:ext cx="118872" cy="41148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Aptos" panose="020B0004020202020204" pitchFamily="34" charset="0"/>
            </a:endParaRPr>
          </a:p>
        </p:txBody>
      </p:sp>
      <p:sp>
        <p:nvSpPr>
          <p:cNvPr id="22" name="TextBox 21"/>
          <p:cNvSpPr txBox="1"/>
          <p:nvPr/>
        </p:nvSpPr>
        <p:spPr>
          <a:xfrm>
            <a:off x="11511765" y="6473952"/>
            <a:ext cx="146835" cy="215444"/>
          </a:xfrm>
          <a:prstGeom prst="rect">
            <a:avLst/>
          </a:prstGeom>
          <a:noFill/>
        </p:spPr>
        <p:txBody>
          <a:bodyPr wrap="none" lIns="0">
            <a:spAutoFit/>
          </a:bodyPr>
          <a:lstStyle/>
          <a:p>
            <a:pPr marL="0" marR="0" lvl="0" indent="0" algn="r" defTabSz="457200" rtl="0" eaLnBrk="1" fontAlgn="auto" latinLnBrk="0" hangingPunct="1">
              <a:lnSpc>
                <a:spcPct val="100000"/>
              </a:lnSpc>
              <a:spcBef>
                <a:spcPts val="0"/>
              </a:spcBef>
              <a:spcAft>
                <a:spcPts val="0"/>
              </a:spcAft>
              <a:buClrTx/>
              <a:buSzTx/>
              <a:buFontTx/>
              <a:buNone/>
              <a:defRPr sz="800">
                <a:solidFill>
                  <a:srgbClr val="5B6571"/>
                </a:solidFill>
                <a:latin typeface="Calibri"/>
              </a:defRPr>
            </a:pPr>
            <a:r>
              <a:rPr kumimoji="0" sz="800" b="0" i="0" u="none" strike="noStrike" kern="1200" cap="none" spc="0" normalizeH="0" baseline="0" noProof="0">
                <a:ln>
                  <a:noFill/>
                </a:ln>
                <a:solidFill>
                  <a:srgbClr val="5B6571"/>
                </a:solidFill>
                <a:effectLst/>
                <a:uLnTx/>
                <a:uFillTx/>
                <a:latin typeface="Aptos" panose="020B0004020202020204" pitchFamily="34" charset="0"/>
              </a:rPr>
              <a:t>1</a:t>
            </a:r>
          </a:p>
        </p:txBody>
      </p:sp>
      <p:sp>
        <p:nvSpPr>
          <p:cNvPr id="23" name="Shape 0"/>
          <p:cNvSpPr/>
          <p:nvPr/>
        </p:nvSpPr>
        <p:spPr>
          <a:xfrm>
            <a:off x="0" y="0"/>
            <a:ext cx="12191400" cy="164160"/>
          </a:xfrm>
          <a:prstGeom prst="rect">
            <a:avLst/>
          </a:prstGeom>
          <a:solidFill>
            <a:srgbClr val="FF9900"/>
          </a:solidFill>
          <a:ln w="12700">
            <a:solidFill>
              <a:srgbClr val="FF99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ptos" panose="020B0004020202020204" pitchFamily="34" charset="0"/>
            </a:endParaRPr>
          </a:p>
        </p:txBody>
      </p:sp>
      <p:sp>
        <p:nvSpPr>
          <p:cNvPr id="24" name="Text 1"/>
          <p:cNvSpPr/>
          <p:nvPr/>
        </p:nvSpPr>
        <p:spPr>
          <a:xfrm>
            <a:off x="502920" y="320040"/>
            <a:ext cx="987516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altLang="zh-CN" sz="2500" b="1" u="none" strike="noStrike" dirty="0">
                <a:solidFill>
                  <a:srgbClr val="000000"/>
                </a:solidFill>
                <a:effectLst/>
                <a:uFillTx/>
                <a:latin typeface="Aptos" panose="020B0004020202020204" pitchFamily="34" charset="0"/>
              </a:rPr>
              <a:t>Zara's E-commerce Strategy</a:t>
            </a:r>
          </a:p>
        </p:txBody>
      </p:sp>
      <p:sp>
        <p:nvSpPr>
          <p:cNvPr id="25" name="Text 2"/>
          <p:cNvSpPr/>
          <p:nvPr/>
        </p:nvSpPr>
        <p:spPr>
          <a:xfrm>
            <a:off x="521280" y="632405"/>
            <a:ext cx="1005804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altLang="zh-CN" sz="850" b="0" u="none" strike="noStrike" dirty="0">
                <a:solidFill>
                  <a:schemeClr val="bg1">
                    <a:lumMod val="50000"/>
                  </a:schemeClr>
                </a:solidFill>
                <a:effectLst/>
                <a:uFillTx/>
                <a:latin typeface="Aptos" panose="020B0004020202020204" pitchFamily="34" charset="0"/>
              </a:rPr>
              <a:t>Speed, Integration, Premium</a:t>
            </a:r>
          </a:p>
        </p:txBody>
      </p:sp>
      <p:sp>
        <p:nvSpPr>
          <p:cNvPr id="26" name="Text 35"/>
          <p:cNvSpPr/>
          <p:nvPr/>
        </p:nvSpPr>
        <p:spPr>
          <a:xfrm>
            <a:off x="502920" y="6556320"/>
            <a:ext cx="1115532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650" b="0" i="1" u="none" strike="noStrike">
                <a:solidFill>
                  <a:srgbClr val="6B7280"/>
                </a:solidFill>
                <a:effectLst/>
                <a:uFillTx/>
                <a:latin typeface="Aptos" panose="020B0004020202020204" pitchFamily="34" charset="0"/>
              </a:rPr>
              <a:t>Source: </a:t>
            </a:r>
            <a:r>
              <a:rPr lang="en-US" altLang="zh-CN" sz="650" b="0" u="none" strike="noStrike">
                <a:solidFill>
                  <a:srgbClr val="000000"/>
                </a:solidFill>
                <a:effectLst/>
                <a:uFillTx/>
                <a:latin typeface="Aptos" panose="020B0004020202020204" pitchFamily="34" charset="0"/>
              </a:rPr>
              <a:t>(Inditex, 2026; Li et al., 2025; Musty et al., 2025)</a:t>
            </a:r>
          </a:p>
        </p:txBody>
      </p:sp>
      <p:sp>
        <p:nvSpPr>
          <p:cNvPr id="6" name="文本框 5"/>
          <p:cNvSpPr txBox="1"/>
          <p:nvPr/>
        </p:nvSpPr>
        <p:spPr>
          <a:xfrm>
            <a:off x="528955" y="1399540"/>
            <a:ext cx="11129645" cy="398780"/>
          </a:xfrm>
          <a:prstGeom prst="rect">
            <a:avLst/>
          </a:prstGeom>
          <a:noFill/>
        </p:spPr>
        <p:txBody>
          <a:bodyPr wrap="square" rtlCol="0">
            <a:spAutoFit/>
          </a:bodyPr>
          <a:lstStyle/>
          <a:p>
            <a:pPr marL="0" indent="0"/>
            <a:r>
              <a:rPr lang="en-US" altLang="zh-CN" sz="2000">
                <a:solidFill>
                  <a:srgbClr val="0F1115"/>
                </a:solidFill>
                <a:latin typeface="Aptos" panose="020B0004020202020204" pitchFamily="34" charset="0"/>
                <a:ea typeface="quote-cjk-patch"/>
                <a:cs typeface="Times New Roman" panose="02020503050405090304" charset="0"/>
                <a:sym typeface="+mn-ea"/>
              </a:rPr>
              <a:t>Strategy: Agile supply chain + Omnichannel integration (Differentiation / Operational Excellence)</a:t>
            </a:r>
          </a:p>
        </p:txBody>
      </p:sp>
      <p:graphicFrame>
        <p:nvGraphicFramePr>
          <p:cNvPr id="7" name="表格 6"/>
          <p:cNvGraphicFramePr/>
          <p:nvPr/>
        </p:nvGraphicFramePr>
        <p:xfrm>
          <a:off x="853440" y="2136775"/>
          <a:ext cx="10485120" cy="2777490"/>
        </p:xfrm>
        <a:graphic>
          <a:graphicData uri="http://schemas.openxmlformats.org/drawingml/2006/table">
            <a:tbl>
              <a:tblPr/>
              <a:tblGrid>
                <a:gridCol w="2689860">
                  <a:extLst>
                    <a:ext uri="{9D8B030D-6E8A-4147-A177-3AD203B41FA5}">
                      <a16:colId xmlns:a16="http://schemas.microsoft.com/office/drawing/2014/main" val="20000"/>
                    </a:ext>
                  </a:extLst>
                </a:gridCol>
                <a:gridCol w="7795260">
                  <a:extLst>
                    <a:ext uri="{9D8B030D-6E8A-4147-A177-3AD203B41FA5}">
                      <a16:colId xmlns:a16="http://schemas.microsoft.com/office/drawing/2014/main" val="20001"/>
                    </a:ext>
                  </a:extLst>
                </a:gridCol>
              </a:tblGrid>
              <a:tr h="925830">
                <a:tc>
                  <a:txBody>
                    <a:bodyPr/>
                    <a:lstStyle/>
                    <a:p>
                      <a:pPr algn="l">
                        <a:lnSpc>
                          <a:spcPts val="1250"/>
                        </a:lnSpc>
                      </a:pPr>
                      <a:r>
                        <a:rPr lang="en-US" altLang="zh-CN" sz="1800" b="1" i="0" dirty="0">
                          <a:solidFill>
                            <a:srgbClr val="0F1115"/>
                          </a:solidFill>
                          <a:latin typeface="Times New Roman" panose="02020503050405090304" charset="0"/>
                          <a:ea typeface="quote-cjk-patch"/>
                          <a:cs typeface="Times New Roman" panose="02020503050405090304" charset="0"/>
                        </a:rPr>
                        <a:t>Strategy Element</a:t>
                      </a:r>
                    </a:p>
                  </a:txBody>
                  <a:tcPr marL="0" marR="101917" marT="63817" marB="63817" anchor="ctr">
                    <a:lnL>
                      <a:noFill/>
                    </a:lnL>
                    <a:lnR w="12700">
                      <a:solidFill>
                        <a:schemeClr val="bg1">
                          <a:lumMod val="65000"/>
                        </a:schemeClr>
                      </a:solidFill>
                      <a:prstDash val="solid"/>
                    </a:lnR>
                    <a:lnT>
                      <a:noFill/>
                    </a:lnT>
                    <a:lnB w="12700">
                      <a:solidFill>
                        <a:schemeClr val="bg1">
                          <a:lumMod val="65000"/>
                        </a:schemeClr>
                      </a:solidFill>
                      <a:prstDash val="solid"/>
                    </a:lnB>
                    <a:lnTlToBr>
                      <a:noFill/>
                    </a:lnTlToBr>
                    <a:lnBlToTr>
                      <a:noFill/>
                    </a:lnBlToTr>
                    <a:noFill/>
                  </a:tcPr>
                </a:tc>
                <a:tc>
                  <a:txBody>
                    <a:bodyPr/>
                    <a:lstStyle/>
                    <a:p>
                      <a:pPr algn="l">
                        <a:lnSpc>
                          <a:spcPts val="1250"/>
                        </a:lnSpc>
                      </a:pPr>
                      <a:r>
                        <a:rPr lang="en-US" altLang="zh-CN" sz="1800" b="0" i="0">
                          <a:solidFill>
                            <a:srgbClr val="0F1115"/>
                          </a:solidFill>
                          <a:latin typeface="Times New Roman" panose="02020503050405090304" charset="0"/>
                          <a:ea typeface="quote-cjk-patch"/>
                          <a:cs typeface="Times New Roman" panose="02020503050405090304" charset="0"/>
                        </a:rPr>
                        <a:t>How Zara Implements It</a:t>
                      </a:r>
                    </a:p>
                  </a:txBody>
                  <a:tcPr marL="101917" marR="101917" marT="63817" marB="63817" anchor="ctr">
                    <a:lnL w="12700">
                      <a:solidFill>
                        <a:schemeClr val="bg1">
                          <a:lumMod val="65000"/>
                        </a:schemeClr>
                      </a:solidFill>
                      <a:prstDash val="solid"/>
                    </a:lnL>
                    <a:lnR>
                      <a:noFill/>
                    </a:lnR>
                    <a:lnT>
                      <a:noFill/>
                    </a:lnT>
                    <a:lnB w="12700">
                      <a:solidFill>
                        <a:schemeClr val="bg1">
                          <a:lumMod val="65000"/>
                        </a:schemeClr>
                      </a:solidFill>
                      <a:prstDash val="solid"/>
                    </a:lnB>
                    <a:lnTlToBr>
                      <a:noFill/>
                    </a:lnTlToBr>
                    <a:lnBlToTr>
                      <a:noFill/>
                    </a:lnBlToTr>
                    <a:noFill/>
                  </a:tcPr>
                </a:tc>
                <a:extLst>
                  <a:ext uri="{0D108BD9-81ED-4DB2-BD59-A6C34878D82A}">
                    <a16:rowId xmlns:a16="http://schemas.microsoft.com/office/drawing/2014/main" val="10000"/>
                  </a:ext>
                </a:extLst>
              </a:tr>
              <a:tr h="925830">
                <a:tc>
                  <a:txBody>
                    <a:bodyPr/>
                    <a:lstStyle/>
                    <a:p>
                      <a:pPr>
                        <a:lnSpc>
                          <a:spcPts val="1250"/>
                        </a:lnSpc>
                      </a:pPr>
                      <a:r>
                        <a:rPr lang="en-US" altLang="zh-CN" sz="1800" b="1" i="0">
                          <a:solidFill>
                            <a:srgbClr val="0F1115"/>
                          </a:solidFill>
                          <a:latin typeface="Times New Roman" panose="02020503050405090304" charset="0"/>
                          <a:ea typeface="quote-cjk-patch"/>
                          <a:cs typeface="Times New Roman" panose="02020503050405090304" charset="0"/>
                        </a:rPr>
                        <a:t>Agile supply chain</a:t>
                      </a:r>
                    </a:p>
                  </a:txBody>
                  <a:tcPr marL="0" marR="101917" marT="63817" marB="63817" anchor="ctr">
                    <a:lnL>
                      <a:noFill/>
                    </a:lnL>
                    <a:lnR w="12700">
                      <a:solidFill>
                        <a:schemeClr val="bg1">
                          <a:lumMod val="65000"/>
                        </a:schemeClr>
                      </a:solidFill>
                      <a:prstDash val="solid"/>
                    </a:lnR>
                    <a:lnT w="12700">
                      <a:solidFill>
                        <a:schemeClr val="bg1">
                          <a:lumMod val="65000"/>
                        </a:schemeClr>
                      </a:solidFill>
                      <a:prstDash val="solid"/>
                    </a:lnT>
                    <a:lnB w="12700">
                      <a:solidFill>
                        <a:schemeClr val="bg1">
                          <a:lumMod val="65000"/>
                        </a:schemeClr>
                      </a:solidFill>
                      <a:prstDash val="solid"/>
                    </a:lnB>
                    <a:lnTlToBr>
                      <a:noFill/>
                    </a:lnTlToBr>
                    <a:lnBlToTr>
                      <a:noFill/>
                    </a:lnBlToTr>
                    <a:noFill/>
                  </a:tcPr>
                </a:tc>
                <a:tc>
                  <a:txBody>
                    <a:bodyPr/>
                    <a:lstStyle/>
                    <a:p>
                      <a:pPr>
                        <a:lnSpc>
                          <a:spcPts val="1250"/>
                        </a:lnSpc>
                      </a:pPr>
                      <a:r>
                        <a:rPr lang="en-US" altLang="zh-CN" sz="1800" b="0" i="0">
                          <a:solidFill>
                            <a:srgbClr val="0F1115"/>
                          </a:solidFill>
                          <a:latin typeface="Times New Roman" panose="02020503050405090304" charset="0"/>
                          <a:ea typeface="quote-cjk-patch"/>
                          <a:cs typeface="Times New Roman" panose="02020503050405090304" charset="0"/>
                        </a:rPr>
                        <a:t>2-3 week design-to-shelf cycle; AI drives 85% of initial production</a:t>
                      </a:r>
                    </a:p>
                  </a:txBody>
                  <a:tcPr marL="101917" marR="0" marT="63817" marB="63817" anchor="ctr">
                    <a:lnL w="12700">
                      <a:solidFill>
                        <a:schemeClr val="bg1">
                          <a:lumMod val="65000"/>
                        </a:schemeClr>
                      </a:solidFill>
                      <a:prstDash val="solid"/>
                    </a:lnL>
                    <a:lnR>
                      <a:noFill/>
                    </a:lnR>
                    <a:lnT w="12700">
                      <a:solidFill>
                        <a:schemeClr val="bg1">
                          <a:lumMod val="65000"/>
                        </a:schemeClr>
                      </a:solidFill>
                      <a:prstDash val="solid"/>
                    </a:lnT>
                    <a:lnB w="12700">
                      <a:solidFill>
                        <a:schemeClr val="bg1">
                          <a:lumMod val="65000"/>
                        </a:schemeClr>
                      </a:solidFill>
                      <a:prstDash val="solid"/>
                    </a:lnB>
                    <a:lnTlToBr>
                      <a:noFill/>
                    </a:lnTlToBr>
                    <a:lnBlToTr>
                      <a:noFill/>
                    </a:lnBlToTr>
                    <a:noFill/>
                  </a:tcPr>
                </a:tc>
                <a:extLst>
                  <a:ext uri="{0D108BD9-81ED-4DB2-BD59-A6C34878D82A}">
                    <a16:rowId xmlns:a16="http://schemas.microsoft.com/office/drawing/2014/main" val="10001"/>
                  </a:ext>
                </a:extLst>
              </a:tr>
              <a:tr h="925830">
                <a:tc>
                  <a:txBody>
                    <a:bodyPr/>
                    <a:lstStyle/>
                    <a:p>
                      <a:pPr>
                        <a:lnSpc>
                          <a:spcPts val="1250"/>
                        </a:lnSpc>
                      </a:pPr>
                      <a:r>
                        <a:rPr lang="en-US" altLang="zh-CN" sz="1800" b="1" i="0">
                          <a:solidFill>
                            <a:srgbClr val="0F1115"/>
                          </a:solidFill>
                          <a:latin typeface="Times New Roman" panose="02020503050405090304" charset="0"/>
                          <a:ea typeface="quote-cjk-patch"/>
                          <a:cs typeface="Times New Roman" panose="02020503050405090304" charset="0"/>
                        </a:rPr>
                        <a:t>Omnichannel integration</a:t>
                      </a:r>
                    </a:p>
                  </a:txBody>
                  <a:tcPr marL="0" marR="101917" marT="63817" marB="63817" anchor="ctr">
                    <a:lnL>
                      <a:noFill/>
                    </a:lnL>
                    <a:lnR w="12700">
                      <a:solidFill>
                        <a:schemeClr val="bg1">
                          <a:lumMod val="65000"/>
                        </a:schemeClr>
                      </a:solidFill>
                      <a:prstDash val="solid"/>
                    </a:lnR>
                    <a:lnT w="12700">
                      <a:solidFill>
                        <a:schemeClr val="bg1">
                          <a:lumMod val="65000"/>
                        </a:schemeClr>
                      </a:solidFill>
                      <a:prstDash val="solid"/>
                    </a:lnT>
                    <a:lnB>
                      <a:noFill/>
                    </a:lnB>
                    <a:lnTlToBr>
                      <a:noFill/>
                    </a:lnTlToBr>
                    <a:lnBlToTr>
                      <a:noFill/>
                    </a:lnBlToTr>
                    <a:noFill/>
                  </a:tcPr>
                </a:tc>
                <a:tc>
                  <a:txBody>
                    <a:bodyPr/>
                    <a:lstStyle/>
                    <a:p>
                      <a:pPr>
                        <a:lnSpc>
                          <a:spcPts val="1250"/>
                        </a:lnSpc>
                      </a:pPr>
                      <a:r>
                        <a:rPr lang="en-US" altLang="zh-CN" sz="1800" b="0" i="0" dirty="0">
                          <a:solidFill>
                            <a:srgbClr val="0F1115"/>
                          </a:solidFill>
                          <a:latin typeface="Times New Roman" panose="02020503050405090304" charset="0"/>
                          <a:ea typeface="quote-cjk-patch"/>
                          <a:cs typeface="Times New Roman" panose="02020503050405090304" charset="0"/>
                        </a:rPr>
                        <a:t>RFID tracking + SINT system; store as fulfillment node</a:t>
                      </a:r>
                    </a:p>
                  </a:txBody>
                  <a:tcPr marL="101917" marR="0" marT="63817" marB="63817" anchor="ctr">
                    <a:lnL w="12700">
                      <a:solidFill>
                        <a:schemeClr val="bg1">
                          <a:lumMod val="65000"/>
                        </a:schemeClr>
                      </a:solidFill>
                      <a:prstDash val="solid"/>
                    </a:lnL>
                    <a:lnR>
                      <a:noFill/>
                    </a:lnR>
                    <a:lnT w="12700">
                      <a:solidFill>
                        <a:schemeClr val="bg1">
                          <a:lumMod val="65000"/>
                        </a:schemeClr>
                      </a:solidFill>
                      <a:prstDash val="solid"/>
                    </a:lnT>
                    <a:lnB>
                      <a:noFill/>
                    </a:lnB>
                    <a:lnTlToBr>
                      <a:noFill/>
                    </a:lnTlToBr>
                    <a:lnBlToTr>
                      <a:noFill/>
                    </a:lnBlToTr>
                    <a:noFill/>
                  </a:tcPr>
                </a:tc>
                <a:extLst>
                  <a:ext uri="{0D108BD9-81ED-4DB2-BD59-A6C34878D82A}">
                    <a16:rowId xmlns:a16="http://schemas.microsoft.com/office/drawing/2014/main" val="10002"/>
                  </a:ext>
                </a:extLst>
              </a:tr>
            </a:tbl>
          </a:graphicData>
        </a:graphic>
      </p:graphicFrame>
      <p:sp>
        <p:nvSpPr>
          <p:cNvPr id="11" name="文本框 10"/>
          <p:cNvSpPr txBox="1"/>
          <p:nvPr/>
        </p:nvSpPr>
        <p:spPr>
          <a:xfrm>
            <a:off x="528955" y="5252720"/>
            <a:ext cx="11129645" cy="707886"/>
          </a:xfrm>
          <a:prstGeom prst="rect">
            <a:avLst/>
          </a:prstGeom>
          <a:noFill/>
        </p:spPr>
        <p:txBody>
          <a:bodyPr wrap="square" rtlCol="0">
            <a:spAutoFit/>
          </a:bodyPr>
          <a:lstStyle/>
          <a:p>
            <a:pPr marL="0" indent="0"/>
            <a:r>
              <a:rPr lang="en-US" altLang="zh-CN" sz="2000" b="1">
                <a:solidFill>
                  <a:srgbClr val="0F1115"/>
                </a:solidFill>
                <a:latin typeface="Aptos" panose="020B0004020202020204" pitchFamily="34" charset="0"/>
                <a:ea typeface="quote-cjk-patch"/>
                <a:cs typeface="Times New Roman" panose="02020503050405090304" charset="0"/>
                <a:sym typeface="+mn-ea"/>
              </a:rPr>
              <a:t>Zara uses agile supply chain and omnichannel integration to differentiate through speed and scarcity.</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94838" y="338328"/>
            <a:ext cx="118872" cy="41148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Aptos" panose="020B0004020202020204" pitchFamily="34" charset="0"/>
            </a:endParaRPr>
          </a:p>
        </p:txBody>
      </p:sp>
      <p:sp>
        <p:nvSpPr>
          <p:cNvPr id="22" name="TextBox 21"/>
          <p:cNvSpPr txBox="1"/>
          <p:nvPr/>
        </p:nvSpPr>
        <p:spPr>
          <a:xfrm>
            <a:off x="11511765" y="6473952"/>
            <a:ext cx="146835" cy="215444"/>
          </a:xfrm>
          <a:prstGeom prst="rect">
            <a:avLst/>
          </a:prstGeom>
          <a:noFill/>
        </p:spPr>
        <p:txBody>
          <a:bodyPr wrap="none" lIns="0">
            <a:spAutoFit/>
          </a:bodyPr>
          <a:lstStyle/>
          <a:p>
            <a:pPr marL="0" marR="0" lvl="0" indent="0" algn="r" defTabSz="457200" rtl="0" eaLnBrk="1" fontAlgn="auto" latinLnBrk="0" hangingPunct="1">
              <a:lnSpc>
                <a:spcPct val="100000"/>
              </a:lnSpc>
              <a:spcBef>
                <a:spcPts val="0"/>
              </a:spcBef>
              <a:spcAft>
                <a:spcPts val="0"/>
              </a:spcAft>
              <a:buClrTx/>
              <a:buSzTx/>
              <a:buFontTx/>
              <a:buNone/>
              <a:defRPr sz="800">
                <a:solidFill>
                  <a:srgbClr val="5B6571"/>
                </a:solidFill>
                <a:latin typeface="Calibri"/>
              </a:defRPr>
            </a:pPr>
            <a:r>
              <a:rPr kumimoji="0" sz="800" b="0" i="0" u="none" strike="noStrike" kern="1200" cap="none" spc="0" normalizeH="0" baseline="0" noProof="0">
                <a:ln>
                  <a:noFill/>
                </a:ln>
                <a:solidFill>
                  <a:srgbClr val="5B6571"/>
                </a:solidFill>
                <a:effectLst/>
                <a:uLnTx/>
                <a:uFillTx/>
                <a:latin typeface="Aptos" panose="020B0004020202020204" pitchFamily="34" charset="0"/>
              </a:rPr>
              <a:t>1</a:t>
            </a:r>
          </a:p>
        </p:txBody>
      </p:sp>
      <p:sp>
        <p:nvSpPr>
          <p:cNvPr id="23" name="Shape 0"/>
          <p:cNvSpPr/>
          <p:nvPr/>
        </p:nvSpPr>
        <p:spPr>
          <a:xfrm>
            <a:off x="0" y="0"/>
            <a:ext cx="12191400" cy="164160"/>
          </a:xfrm>
          <a:prstGeom prst="rect">
            <a:avLst/>
          </a:prstGeom>
          <a:solidFill>
            <a:srgbClr val="FF9900"/>
          </a:solidFill>
          <a:ln w="12700">
            <a:solidFill>
              <a:srgbClr val="FF99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ptos" panose="020B0004020202020204" pitchFamily="34" charset="0"/>
            </a:endParaRPr>
          </a:p>
        </p:txBody>
      </p:sp>
      <p:sp>
        <p:nvSpPr>
          <p:cNvPr id="24" name="Text 1"/>
          <p:cNvSpPr/>
          <p:nvPr/>
        </p:nvSpPr>
        <p:spPr>
          <a:xfrm>
            <a:off x="502920" y="320040"/>
            <a:ext cx="987516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altLang="zh-CN" sz="2500" b="1" u="none" strike="noStrike" dirty="0">
                <a:solidFill>
                  <a:srgbClr val="000000"/>
                </a:solidFill>
                <a:effectLst/>
                <a:uFillTx/>
                <a:latin typeface="Aptos" panose="020B0004020202020204" pitchFamily="34" charset="0"/>
              </a:rPr>
              <a:t>Data &amp; Evidence</a:t>
            </a:r>
          </a:p>
        </p:txBody>
      </p:sp>
      <p:sp>
        <p:nvSpPr>
          <p:cNvPr id="25" name="Text 2"/>
          <p:cNvSpPr/>
          <p:nvPr/>
        </p:nvSpPr>
        <p:spPr>
          <a:xfrm>
            <a:off x="521280" y="666695"/>
            <a:ext cx="1005804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altLang="zh-CN" sz="850" b="0" u="none" strike="noStrike" dirty="0">
                <a:solidFill>
                  <a:schemeClr val="bg1">
                    <a:lumMod val="50000"/>
                  </a:schemeClr>
                </a:solidFill>
                <a:effectLst/>
                <a:uFillTx/>
                <a:latin typeface="Aptos" panose="020B0004020202020204" pitchFamily="34" charset="0"/>
              </a:rPr>
              <a:t>From Strategy to Business Value</a:t>
            </a:r>
          </a:p>
        </p:txBody>
      </p:sp>
      <p:sp>
        <p:nvSpPr>
          <p:cNvPr id="26" name="Text 35"/>
          <p:cNvSpPr/>
          <p:nvPr/>
        </p:nvSpPr>
        <p:spPr>
          <a:xfrm>
            <a:off x="502920" y="6556320"/>
            <a:ext cx="1115532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650" b="0" i="1" u="none" strike="noStrike">
                <a:solidFill>
                  <a:srgbClr val="6B7280"/>
                </a:solidFill>
                <a:effectLst/>
                <a:uFillTx/>
                <a:latin typeface="Aptos" panose="020B0004020202020204" pitchFamily="34" charset="0"/>
              </a:rPr>
              <a:t>Source: </a:t>
            </a:r>
            <a:r>
              <a:rPr lang="en-US" altLang="zh-CN" sz="650" b="0" u="none" strike="noStrike">
                <a:solidFill>
                  <a:srgbClr val="000000"/>
                </a:solidFill>
                <a:effectLst/>
                <a:uFillTx/>
                <a:latin typeface="Aptos" panose="020B0004020202020204" pitchFamily="34" charset="0"/>
              </a:rPr>
              <a:t>Inditex, 2026</a:t>
            </a:r>
          </a:p>
        </p:txBody>
      </p:sp>
      <p:graphicFrame>
        <p:nvGraphicFramePr>
          <p:cNvPr id="3" name="表格 2"/>
          <p:cNvGraphicFramePr/>
          <p:nvPr>
            <p:custDataLst>
              <p:tags r:id="rId1"/>
            </p:custDataLst>
          </p:nvPr>
        </p:nvGraphicFramePr>
        <p:xfrm>
          <a:off x="866140" y="1388110"/>
          <a:ext cx="10041255" cy="4423410"/>
        </p:xfrm>
        <a:graphic>
          <a:graphicData uri="http://schemas.openxmlformats.org/drawingml/2006/table">
            <a:tbl>
              <a:tblPr firstRow="1"/>
              <a:tblGrid>
                <a:gridCol w="3347085">
                  <a:extLst>
                    <a:ext uri="{9D8B030D-6E8A-4147-A177-3AD203B41FA5}">
                      <a16:colId xmlns:a16="http://schemas.microsoft.com/office/drawing/2014/main" val="20000"/>
                    </a:ext>
                  </a:extLst>
                </a:gridCol>
                <a:gridCol w="3347085">
                  <a:extLst>
                    <a:ext uri="{9D8B030D-6E8A-4147-A177-3AD203B41FA5}">
                      <a16:colId xmlns:a16="http://schemas.microsoft.com/office/drawing/2014/main" val="20001"/>
                    </a:ext>
                  </a:extLst>
                </a:gridCol>
                <a:gridCol w="3347085">
                  <a:extLst>
                    <a:ext uri="{9D8B030D-6E8A-4147-A177-3AD203B41FA5}">
                      <a16:colId xmlns:a16="http://schemas.microsoft.com/office/drawing/2014/main" val="20002"/>
                    </a:ext>
                  </a:extLst>
                </a:gridCol>
              </a:tblGrid>
              <a:tr h="737235">
                <a:tc>
                  <a:txBody>
                    <a:bodyPr/>
                    <a:lstStyle/>
                    <a:p>
                      <a:pPr algn="l">
                        <a:lnSpc>
                          <a:spcPts val="1250"/>
                        </a:lnSpc>
                      </a:pPr>
                      <a:r>
                        <a:rPr lang="en-US" altLang="zh-CN" sz="2000" dirty="0">
                          <a:latin typeface="Times New Roman" panose="02020503050405090304" charset="0"/>
                          <a:cs typeface="Times New Roman" panose="02020503050405090304" charset="0"/>
                        </a:rPr>
                        <a:t>Data Point</a:t>
                      </a:r>
                    </a:p>
                  </a:txBody>
                  <a:tcPr marL="0" marR="101917" marT="63817" marB="63817" anchor="ctr"/>
                </a:tc>
                <a:tc>
                  <a:txBody>
                    <a:bodyPr/>
                    <a:lstStyle/>
                    <a:p>
                      <a:pPr algn="l">
                        <a:lnSpc>
                          <a:spcPts val="1250"/>
                        </a:lnSpc>
                      </a:pPr>
                      <a:r>
                        <a:rPr lang="en-US" altLang="zh-CN" sz="2000">
                          <a:latin typeface="Times New Roman" panose="02020503050405090304" charset="0"/>
                          <a:cs typeface="Times New Roman" panose="02020503050405090304" charset="0"/>
                        </a:rPr>
                        <a:t>Value</a:t>
                      </a:r>
                    </a:p>
                  </a:txBody>
                  <a:tcPr marL="101917" marR="101917" marT="63817" marB="63817" anchor="ctr"/>
                </a:tc>
                <a:tc>
                  <a:txBody>
                    <a:bodyPr/>
                    <a:lstStyle/>
                    <a:p>
                      <a:pPr algn="l">
                        <a:lnSpc>
                          <a:spcPts val="1250"/>
                        </a:lnSpc>
                      </a:pPr>
                      <a:r>
                        <a:rPr lang="en-US" altLang="zh-CN" sz="2000">
                          <a:latin typeface="Times New Roman" panose="02020503050405090304" charset="0"/>
                          <a:cs typeface="Times New Roman" panose="02020503050405090304" charset="0"/>
                        </a:rPr>
                        <a:t>Source</a:t>
                      </a:r>
                    </a:p>
                  </a:txBody>
                  <a:tcPr marL="101917" marR="101917" marT="63817" marB="63817" anchor="ctr"/>
                </a:tc>
                <a:extLst>
                  <a:ext uri="{0D108BD9-81ED-4DB2-BD59-A6C34878D82A}">
                    <a16:rowId xmlns:a16="http://schemas.microsoft.com/office/drawing/2014/main" val="10000"/>
                  </a:ext>
                </a:extLst>
              </a:tr>
              <a:tr h="737235">
                <a:tc>
                  <a:txBody>
                    <a:bodyPr/>
                    <a:lstStyle/>
                    <a:p>
                      <a:pPr>
                        <a:lnSpc>
                          <a:spcPts val="1250"/>
                        </a:lnSpc>
                      </a:pPr>
                      <a:r>
                        <a:rPr lang="en-US" altLang="zh-CN" sz="1800">
                          <a:latin typeface="Times New Roman" panose="02020503050405090304" charset="0"/>
                          <a:cs typeface="Times New Roman" panose="02020503050405090304" charset="0"/>
                        </a:rPr>
                        <a:t>Design-to-shelf cycle</a:t>
                      </a:r>
                    </a:p>
                  </a:txBody>
                  <a:tcPr marL="0" marR="101917" marT="63817" marB="63817" anchor="ctr"/>
                </a:tc>
                <a:tc>
                  <a:txBody>
                    <a:bodyPr/>
                    <a:lstStyle/>
                    <a:p>
                      <a:pPr>
                        <a:lnSpc>
                          <a:spcPts val="1250"/>
                        </a:lnSpc>
                      </a:pPr>
                      <a:r>
                        <a:rPr lang="en-US" altLang="zh-CN" sz="1800">
                          <a:latin typeface="Times New Roman" panose="02020503050405090304" charset="0"/>
                          <a:cs typeface="Times New Roman" panose="02020503050405090304" charset="0"/>
                        </a:rPr>
                        <a:t>2-3 weeks (vs industry 3-6 months)</a:t>
                      </a:r>
                    </a:p>
                  </a:txBody>
                  <a:tcPr marL="101917" marR="101917" marT="63817" marB="63817" anchor="ctr"/>
                </a:tc>
                <a:tc>
                  <a:txBody>
                    <a:bodyPr/>
                    <a:lstStyle/>
                    <a:p>
                      <a:pPr>
                        <a:lnSpc>
                          <a:spcPts val="1250"/>
                        </a:lnSpc>
                      </a:pPr>
                      <a:r>
                        <a:rPr lang="en-US" altLang="zh-CN" sz="1800">
                          <a:latin typeface="Times New Roman" panose="02020503050405090304" charset="0"/>
                          <a:cs typeface="Times New Roman" panose="02020503050405090304" charset="0"/>
                        </a:rPr>
                        <a:t>(Inditex, 2026)</a:t>
                      </a:r>
                    </a:p>
                  </a:txBody>
                  <a:tcPr marL="101917" marR="0" marT="63817" marB="63817" anchor="ctr"/>
                </a:tc>
                <a:extLst>
                  <a:ext uri="{0D108BD9-81ED-4DB2-BD59-A6C34878D82A}">
                    <a16:rowId xmlns:a16="http://schemas.microsoft.com/office/drawing/2014/main" val="10001"/>
                  </a:ext>
                </a:extLst>
              </a:tr>
              <a:tr h="737235">
                <a:tc>
                  <a:txBody>
                    <a:bodyPr/>
                    <a:lstStyle/>
                    <a:p>
                      <a:pPr>
                        <a:lnSpc>
                          <a:spcPts val="1250"/>
                        </a:lnSpc>
                      </a:pPr>
                      <a:r>
                        <a:rPr lang="en-US" altLang="zh-CN" sz="1800">
                          <a:latin typeface="Times New Roman" panose="02020503050405090304" charset="0"/>
                          <a:cs typeface="Times New Roman" panose="02020503050405090304" charset="0"/>
                        </a:rPr>
                        <a:t>Inventory accuracy</a:t>
                      </a:r>
                    </a:p>
                  </a:txBody>
                  <a:tcPr marL="0" marR="101917" marT="63817" marB="63817" anchor="ctr"/>
                </a:tc>
                <a:tc>
                  <a:txBody>
                    <a:bodyPr/>
                    <a:lstStyle/>
                    <a:p>
                      <a:pPr>
                        <a:lnSpc>
                          <a:spcPts val="1250"/>
                        </a:lnSpc>
                      </a:pPr>
                      <a:r>
                        <a:rPr lang="en-US" altLang="zh-CN" sz="1800">
                          <a:latin typeface="Times New Roman" panose="02020503050405090304" charset="0"/>
                          <a:cs typeface="Times New Roman" panose="02020503050405090304" charset="0"/>
                        </a:rPr>
                        <a:t>98.9% via RFID</a:t>
                      </a:r>
                    </a:p>
                  </a:txBody>
                  <a:tcPr marL="101917" marR="101917" marT="63817" marB="63817" anchor="ctr"/>
                </a:tc>
                <a:tc>
                  <a:txBody>
                    <a:bodyPr/>
                    <a:lstStyle/>
                    <a:p>
                      <a:pPr>
                        <a:lnSpc>
                          <a:spcPts val="1250"/>
                        </a:lnSpc>
                      </a:pPr>
                      <a:r>
                        <a:rPr lang="en-US" altLang="zh-CN" sz="1800">
                          <a:latin typeface="Times New Roman" panose="02020503050405090304" charset="0"/>
                          <a:cs typeface="Times New Roman" panose="02020503050405090304" charset="0"/>
                        </a:rPr>
                        <a:t>(Inditex, 2026)</a:t>
                      </a:r>
                    </a:p>
                  </a:txBody>
                  <a:tcPr marL="101917" marR="0" marT="63817" marB="63817" anchor="ctr"/>
                </a:tc>
                <a:extLst>
                  <a:ext uri="{0D108BD9-81ED-4DB2-BD59-A6C34878D82A}">
                    <a16:rowId xmlns:a16="http://schemas.microsoft.com/office/drawing/2014/main" val="10002"/>
                  </a:ext>
                </a:extLst>
              </a:tr>
              <a:tr h="737235">
                <a:tc>
                  <a:txBody>
                    <a:bodyPr/>
                    <a:lstStyle/>
                    <a:p>
                      <a:pPr>
                        <a:lnSpc>
                          <a:spcPts val="1250"/>
                        </a:lnSpc>
                      </a:pPr>
                      <a:r>
                        <a:rPr lang="en-US" altLang="zh-CN" sz="1800">
                          <a:latin typeface="Times New Roman" panose="02020503050405090304" charset="0"/>
                          <a:cs typeface="Times New Roman" panose="02020503050405090304" charset="0"/>
                        </a:rPr>
                        <a:t>End-of-season inventory</a:t>
                      </a:r>
                    </a:p>
                  </a:txBody>
                  <a:tcPr marL="0" marR="101917" marT="63817" marB="63817" anchor="ctr"/>
                </a:tc>
                <a:tc>
                  <a:txBody>
                    <a:bodyPr/>
                    <a:lstStyle/>
                    <a:p>
                      <a:pPr>
                        <a:lnSpc>
                          <a:spcPts val="1250"/>
                        </a:lnSpc>
                      </a:pPr>
                      <a:r>
                        <a:rPr lang="en-US" altLang="zh-CN" sz="1800">
                          <a:latin typeface="Times New Roman" panose="02020503050405090304" charset="0"/>
                          <a:cs typeface="Times New Roman" panose="02020503050405090304" charset="0"/>
                        </a:rPr>
                        <a:t>0.6% (vs industry 10-20%)</a:t>
                      </a:r>
                    </a:p>
                  </a:txBody>
                  <a:tcPr marL="101917" marR="101917" marT="63817" marB="63817" anchor="ctr"/>
                </a:tc>
                <a:tc>
                  <a:txBody>
                    <a:bodyPr/>
                    <a:lstStyle/>
                    <a:p>
                      <a:pPr>
                        <a:lnSpc>
                          <a:spcPts val="1250"/>
                        </a:lnSpc>
                      </a:pPr>
                      <a:r>
                        <a:rPr lang="en-US" altLang="zh-CN" sz="1800">
                          <a:latin typeface="Times New Roman" panose="02020503050405090304" charset="0"/>
                          <a:cs typeface="Times New Roman" panose="02020503050405090304" charset="0"/>
                        </a:rPr>
                        <a:t>(Inditex, 2026)</a:t>
                      </a:r>
                    </a:p>
                  </a:txBody>
                  <a:tcPr marL="101917" marR="0" marT="63817" marB="63817" anchor="ctr"/>
                </a:tc>
                <a:extLst>
                  <a:ext uri="{0D108BD9-81ED-4DB2-BD59-A6C34878D82A}">
                    <a16:rowId xmlns:a16="http://schemas.microsoft.com/office/drawing/2014/main" val="10003"/>
                  </a:ext>
                </a:extLst>
              </a:tr>
              <a:tr h="737235">
                <a:tc>
                  <a:txBody>
                    <a:bodyPr/>
                    <a:lstStyle/>
                    <a:p>
                      <a:pPr>
                        <a:lnSpc>
                          <a:spcPts val="1250"/>
                        </a:lnSpc>
                      </a:pPr>
                      <a:r>
                        <a:rPr lang="en-US" altLang="zh-CN" sz="1800">
                          <a:latin typeface="Times New Roman" panose="02020503050405090304" charset="0"/>
                          <a:cs typeface="Times New Roman" panose="02020503050405090304" charset="0"/>
                        </a:rPr>
                        <a:t>Gross margin (peak)</a:t>
                      </a:r>
                    </a:p>
                  </a:txBody>
                  <a:tcPr marL="0" marR="101917" marT="63817" marB="63817" anchor="ctr"/>
                </a:tc>
                <a:tc>
                  <a:txBody>
                    <a:bodyPr/>
                    <a:lstStyle/>
                    <a:p>
                      <a:pPr>
                        <a:lnSpc>
                          <a:spcPts val="1250"/>
                        </a:lnSpc>
                      </a:pPr>
                      <a:r>
                        <a:rPr lang="en-US" altLang="zh-CN" sz="1800">
                          <a:latin typeface="Times New Roman" panose="02020503050405090304" charset="0"/>
                          <a:cs typeface="Times New Roman" panose="02020503050405090304" charset="0"/>
                        </a:rPr>
                        <a:t>62.2%</a:t>
                      </a:r>
                    </a:p>
                  </a:txBody>
                  <a:tcPr marL="101917" marR="101917" marT="63817" marB="63817" anchor="ctr"/>
                </a:tc>
                <a:tc>
                  <a:txBody>
                    <a:bodyPr/>
                    <a:lstStyle/>
                    <a:p>
                      <a:pPr>
                        <a:lnSpc>
                          <a:spcPts val="1250"/>
                        </a:lnSpc>
                      </a:pPr>
                      <a:r>
                        <a:rPr lang="en-US" altLang="zh-CN" sz="1800">
                          <a:latin typeface="Times New Roman" panose="02020503050405090304" charset="0"/>
                          <a:cs typeface="Times New Roman" panose="02020503050405090304" charset="0"/>
                        </a:rPr>
                        <a:t>(Inditex, 2026)</a:t>
                      </a:r>
                    </a:p>
                  </a:txBody>
                  <a:tcPr marL="101917" marR="0" marT="63817" marB="63817" anchor="ctr"/>
                </a:tc>
                <a:extLst>
                  <a:ext uri="{0D108BD9-81ED-4DB2-BD59-A6C34878D82A}">
                    <a16:rowId xmlns:a16="http://schemas.microsoft.com/office/drawing/2014/main" val="10004"/>
                  </a:ext>
                </a:extLst>
              </a:tr>
              <a:tr h="737235">
                <a:tc>
                  <a:txBody>
                    <a:bodyPr/>
                    <a:lstStyle/>
                    <a:p>
                      <a:pPr>
                        <a:lnSpc>
                          <a:spcPts val="1250"/>
                        </a:lnSpc>
                      </a:pPr>
                      <a:r>
                        <a:rPr lang="en-US" altLang="zh-CN" sz="1800">
                          <a:latin typeface="Times New Roman" panose="02020503050405090304" charset="0"/>
                          <a:cs typeface="Times New Roman" panose="02020503050405090304" charset="0"/>
                        </a:rPr>
                        <a:t>Virtual try-on return reduction</a:t>
                      </a:r>
                    </a:p>
                  </a:txBody>
                  <a:tcPr marL="0" marR="101917" marT="63817" marB="63817" anchor="ctr"/>
                </a:tc>
                <a:tc>
                  <a:txBody>
                    <a:bodyPr/>
                    <a:lstStyle/>
                    <a:p>
                      <a:pPr>
                        <a:lnSpc>
                          <a:spcPts val="1250"/>
                        </a:lnSpc>
                      </a:pPr>
                      <a:r>
                        <a:rPr lang="en-US" altLang="zh-CN" sz="1800">
                          <a:latin typeface="Times New Roman" panose="02020503050405090304" charset="0"/>
                          <a:cs typeface="Times New Roman" panose="02020503050405090304" charset="0"/>
                        </a:rPr>
                        <a:t>10%</a:t>
                      </a:r>
                    </a:p>
                  </a:txBody>
                  <a:tcPr marL="101917" marR="101917" marT="63817" marB="63817" anchor="ctr"/>
                </a:tc>
                <a:tc>
                  <a:txBody>
                    <a:bodyPr/>
                    <a:lstStyle/>
                    <a:p>
                      <a:pPr>
                        <a:lnSpc>
                          <a:spcPts val="1250"/>
                        </a:lnSpc>
                      </a:pPr>
                      <a:r>
                        <a:rPr lang="en-US" altLang="zh-CN" sz="1800" dirty="0">
                          <a:latin typeface="Times New Roman" panose="02020503050405090304" charset="0"/>
                          <a:cs typeface="Times New Roman" panose="02020503050405090304" charset="0"/>
                        </a:rPr>
                        <a:t>(Inditex, 2026)</a:t>
                      </a:r>
                    </a:p>
                  </a:txBody>
                  <a:tcPr marL="101917" marR="0" marT="63817" marB="63817" anchor="ctr"/>
                </a:tc>
                <a:extLst>
                  <a:ext uri="{0D108BD9-81ED-4DB2-BD59-A6C34878D82A}">
                    <a16:rowId xmlns:a16="http://schemas.microsoft.com/office/drawing/2014/main" val="10005"/>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94838" y="338328"/>
            <a:ext cx="118872" cy="41148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Aptos" panose="020B0004020202020204" pitchFamily="34" charset="0"/>
            </a:endParaRPr>
          </a:p>
        </p:txBody>
      </p:sp>
      <p:sp>
        <p:nvSpPr>
          <p:cNvPr id="22" name="TextBox 21"/>
          <p:cNvSpPr txBox="1"/>
          <p:nvPr/>
        </p:nvSpPr>
        <p:spPr>
          <a:xfrm>
            <a:off x="11511765" y="6473952"/>
            <a:ext cx="146835" cy="215444"/>
          </a:xfrm>
          <a:prstGeom prst="rect">
            <a:avLst/>
          </a:prstGeom>
          <a:noFill/>
        </p:spPr>
        <p:txBody>
          <a:bodyPr wrap="none" lIns="0">
            <a:spAutoFit/>
          </a:bodyPr>
          <a:lstStyle/>
          <a:p>
            <a:pPr marL="0" marR="0" lvl="0" indent="0" algn="r" defTabSz="457200" rtl="0" eaLnBrk="1" fontAlgn="auto" latinLnBrk="0" hangingPunct="1">
              <a:lnSpc>
                <a:spcPct val="100000"/>
              </a:lnSpc>
              <a:spcBef>
                <a:spcPts val="0"/>
              </a:spcBef>
              <a:spcAft>
                <a:spcPts val="0"/>
              </a:spcAft>
              <a:buClrTx/>
              <a:buSzTx/>
              <a:buFontTx/>
              <a:buNone/>
              <a:defRPr sz="800">
                <a:solidFill>
                  <a:srgbClr val="5B6571"/>
                </a:solidFill>
                <a:latin typeface="Calibri"/>
              </a:defRPr>
            </a:pPr>
            <a:r>
              <a:rPr kumimoji="0" sz="800" b="0" i="0" u="none" strike="noStrike" kern="1200" cap="none" spc="0" normalizeH="0" baseline="0" noProof="0">
                <a:ln>
                  <a:noFill/>
                </a:ln>
                <a:solidFill>
                  <a:srgbClr val="5B6571"/>
                </a:solidFill>
                <a:effectLst/>
                <a:uLnTx/>
                <a:uFillTx/>
                <a:latin typeface="Aptos" panose="020B0004020202020204" pitchFamily="34" charset="0"/>
              </a:rPr>
              <a:t>1</a:t>
            </a:r>
          </a:p>
        </p:txBody>
      </p:sp>
      <p:sp>
        <p:nvSpPr>
          <p:cNvPr id="23" name="Shape 0"/>
          <p:cNvSpPr/>
          <p:nvPr/>
        </p:nvSpPr>
        <p:spPr>
          <a:xfrm>
            <a:off x="0" y="0"/>
            <a:ext cx="12191400" cy="164160"/>
          </a:xfrm>
          <a:prstGeom prst="rect">
            <a:avLst/>
          </a:prstGeom>
          <a:solidFill>
            <a:srgbClr val="FF9900"/>
          </a:solidFill>
          <a:ln w="12700">
            <a:solidFill>
              <a:srgbClr val="FF99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ptos" panose="020B0004020202020204" pitchFamily="34" charset="0"/>
            </a:endParaRPr>
          </a:p>
        </p:txBody>
      </p:sp>
      <p:sp>
        <p:nvSpPr>
          <p:cNvPr id="24" name="Text 1"/>
          <p:cNvSpPr/>
          <p:nvPr/>
        </p:nvSpPr>
        <p:spPr>
          <a:xfrm>
            <a:off x="502920" y="320040"/>
            <a:ext cx="987516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altLang="zh-CN" sz="2500" b="1" u="none" strike="noStrike" dirty="0">
                <a:solidFill>
                  <a:srgbClr val="000000"/>
                </a:solidFill>
                <a:effectLst/>
                <a:uFillTx/>
                <a:latin typeface="Aptos" panose="020B0004020202020204" pitchFamily="34" charset="0"/>
              </a:rPr>
              <a:t>Business Model Impact</a:t>
            </a:r>
          </a:p>
        </p:txBody>
      </p:sp>
      <p:sp>
        <p:nvSpPr>
          <p:cNvPr id="25" name="Text 2"/>
          <p:cNvSpPr/>
          <p:nvPr/>
        </p:nvSpPr>
        <p:spPr>
          <a:xfrm>
            <a:off x="521280" y="643835"/>
            <a:ext cx="1005804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altLang="zh-CN" sz="850" b="0" u="none" strike="noStrike" dirty="0">
                <a:solidFill>
                  <a:srgbClr val="000000"/>
                </a:solidFill>
                <a:effectLst/>
                <a:uFillTx/>
                <a:latin typeface="Aptos" panose="020B0004020202020204" pitchFamily="34" charset="0"/>
              </a:rPr>
              <a:t>From Strategy to Business Value</a:t>
            </a:r>
          </a:p>
        </p:txBody>
      </p:sp>
      <p:sp>
        <p:nvSpPr>
          <p:cNvPr id="26" name="Text 35"/>
          <p:cNvSpPr/>
          <p:nvPr/>
        </p:nvSpPr>
        <p:spPr>
          <a:xfrm>
            <a:off x="502920" y="6556320"/>
            <a:ext cx="1115532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650" b="0" i="1" u="none" strike="noStrike">
                <a:solidFill>
                  <a:srgbClr val="6B7280"/>
                </a:solidFill>
                <a:effectLst/>
                <a:uFillTx/>
                <a:latin typeface="Aptos" panose="020B0004020202020204" pitchFamily="34" charset="0"/>
              </a:rPr>
              <a:t>Source ::</a:t>
            </a:r>
            <a:r>
              <a:rPr lang="en-US" altLang="zh-CN" sz="650" b="0" u="none" strike="noStrike">
                <a:solidFill>
                  <a:srgbClr val="000000"/>
                </a:solidFill>
                <a:effectLst/>
                <a:uFillTx/>
                <a:latin typeface="Aptos" panose="020B0004020202020204" pitchFamily="34" charset="0"/>
              </a:rPr>
              <a:t>(Inditex, 2026; Li et al., 2025)</a:t>
            </a:r>
          </a:p>
        </p:txBody>
      </p:sp>
      <p:graphicFrame>
        <p:nvGraphicFramePr>
          <p:cNvPr id="3" name="表格 2"/>
          <p:cNvGraphicFramePr/>
          <p:nvPr>
            <p:custDataLst>
              <p:tags r:id="rId1"/>
            </p:custDataLst>
            <p:extLst>
              <p:ext uri="{D42A27DB-BD31-4B8C-83A1-F6EECF244321}">
                <p14:modId xmlns:p14="http://schemas.microsoft.com/office/powerpoint/2010/main" val="2279630219"/>
              </p:ext>
            </p:extLst>
          </p:nvPr>
        </p:nvGraphicFramePr>
        <p:xfrm>
          <a:off x="1018540" y="1035685"/>
          <a:ext cx="5077460" cy="5045710"/>
        </p:xfrm>
        <a:graphic>
          <a:graphicData uri="http://schemas.openxmlformats.org/drawingml/2006/table">
            <a:tbl>
              <a:tblPr firstRow="1"/>
              <a:tblGrid>
                <a:gridCol w="1673225">
                  <a:extLst>
                    <a:ext uri="{9D8B030D-6E8A-4147-A177-3AD203B41FA5}">
                      <a16:colId xmlns:a16="http://schemas.microsoft.com/office/drawing/2014/main" val="20000"/>
                    </a:ext>
                  </a:extLst>
                </a:gridCol>
                <a:gridCol w="3404235">
                  <a:extLst>
                    <a:ext uri="{9D8B030D-6E8A-4147-A177-3AD203B41FA5}">
                      <a16:colId xmlns:a16="http://schemas.microsoft.com/office/drawing/2014/main" val="20001"/>
                    </a:ext>
                  </a:extLst>
                </a:gridCol>
              </a:tblGrid>
              <a:tr h="788035">
                <a:tc>
                  <a:txBody>
                    <a:bodyPr/>
                    <a:lstStyle/>
                    <a:p>
                      <a:pPr algn="l">
                        <a:lnSpc>
                          <a:spcPct val="100000"/>
                        </a:lnSpc>
                      </a:pPr>
                      <a:r>
                        <a:rPr lang="en-US" altLang="zh-CN" sz="1600" dirty="0"/>
                        <a:t>Component</a:t>
                      </a:r>
                    </a:p>
                  </a:txBody>
                  <a:tcPr marL="0" marR="101917" marT="63817" marB="63817" anchor="ctr"/>
                </a:tc>
                <a:tc>
                  <a:txBody>
                    <a:bodyPr/>
                    <a:lstStyle/>
                    <a:p>
                      <a:pPr algn="l">
                        <a:lnSpc>
                          <a:spcPct val="100000"/>
                        </a:lnSpc>
                      </a:pPr>
                      <a:r>
                        <a:rPr lang="en-US" altLang="zh-CN" sz="1600" dirty="0"/>
                        <a:t>Analysis</a:t>
                      </a:r>
                    </a:p>
                  </a:txBody>
                  <a:tcPr marL="101917" marR="101917" marT="63817" marB="63817" anchor="ctr"/>
                </a:tc>
                <a:extLst>
                  <a:ext uri="{0D108BD9-81ED-4DB2-BD59-A6C34878D82A}">
                    <a16:rowId xmlns:a16="http://schemas.microsoft.com/office/drawing/2014/main" val="10000"/>
                  </a:ext>
                </a:extLst>
              </a:tr>
              <a:tr h="1515745">
                <a:tc>
                  <a:txBody>
                    <a:bodyPr/>
                    <a:lstStyle/>
                    <a:p>
                      <a:pPr algn="l">
                        <a:lnSpc>
                          <a:spcPct val="100000"/>
                        </a:lnSpc>
                      </a:pPr>
                      <a:r>
                        <a:rPr lang="en-US" altLang="zh-CN" sz="1600" dirty="0"/>
                        <a:t>Value proposition</a:t>
                      </a:r>
                    </a:p>
                  </a:txBody>
                  <a:tcPr marL="0" marR="101917" marT="63817" marB="63817" anchor="ctr"/>
                </a:tc>
                <a:tc>
                  <a:txBody>
                    <a:bodyPr/>
                    <a:lstStyle/>
                    <a:p>
                      <a:pPr algn="l">
                        <a:lnSpc>
                          <a:spcPct val="100000"/>
                        </a:lnSpc>
                      </a:pPr>
                      <a:r>
                        <a:rPr lang="en-US" altLang="zh-CN" sz="1600" dirty="0"/>
                        <a:t>Fresh, scarce products arrive twice weekly. Customers buy now because items won't be there next week.</a:t>
                      </a:r>
                    </a:p>
                  </a:txBody>
                  <a:tcPr marL="101917" marR="0" marT="63817" marB="63817" anchor="ctr"/>
                </a:tc>
                <a:extLst>
                  <a:ext uri="{0D108BD9-81ED-4DB2-BD59-A6C34878D82A}">
                    <a16:rowId xmlns:a16="http://schemas.microsoft.com/office/drawing/2014/main" val="10001"/>
                  </a:ext>
                </a:extLst>
              </a:tr>
              <a:tr h="1226820">
                <a:tc>
                  <a:txBody>
                    <a:bodyPr/>
                    <a:lstStyle/>
                    <a:p>
                      <a:pPr algn="l">
                        <a:lnSpc>
                          <a:spcPct val="100000"/>
                        </a:lnSpc>
                      </a:pPr>
                      <a:r>
                        <a:rPr lang="en-US" altLang="zh-CN" sz="1600" dirty="0"/>
                        <a:t>Revenue model</a:t>
                      </a:r>
                    </a:p>
                  </a:txBody>
                  <a:tcPr marL="0" marR="101917" marT="63817" marB="63817" anchor="ctr"/>
                </a:tc>
                <a:tc>
                  <a:txBody>
                    <a:bodyPr/>
                    <a:lstStyle/>
                    <a:p>
                      <a:pPr algn="l">
                        <a:lnSpc>
                          <a:spcPct val="100000"/>
                        </a:lnSpc>
                      </a:pPr>
                      <a:r>
                        <a:rPr lang="en-US" altLang="zh-CN" sz="1600" dirty="0"/>
                        <a:t>Brand premium, not low price. 28% price increase in U.S. (2025). Gross margin 62.2%.</a:t>
                      </a:r>
                    </a:p>
                  </a:txBody>
                  <a:tcPr marL="101917" marR="0" marT="63817" marB="63817" anchor="ctr"/>
                </a:tc>
                <a:extLst>
                  <a:ext uri="{0D108BD9-81ED-4DB2-BD59-A6C34878D82A}">
                    <a16:rowId xmlns:a16="http://schemas.microsoft.com/office/drawing/2014/main" val="10002"/>
                  </a:ext>
                </a:extLst>
              </a:tr>
              <a:tr h="1515110">
                <a:tc>
                  <a:txBody>
                    <a:bodyPr/>
                    <a:lstStyle/>
                    <a:p>
                      <a:pPr algn="l">
                        <a:lnSpc>
                          <a:spcPct val="100000"/>
                        </a:lnSpc>
                      </a:pPr>
                      <a:r>
                        <a:rPr lang="en-US" altLang="zh-CN" sz="1600" dirty="0"/>
                        <a:t>Competitive advantage</a:t>
                      </a:r>
                    </a:p>
                  </a:txBody>
                  <a:tcPr marL="0" marR="101917" marT="63817" marB="63817" anchor="ctr"/>
                </a:tc>
                <a:tc>
                  <a:txBody>
                    <a:bodyPr/>
                    <a:lstStyle/>
                    <a:p>
                      <a:pPr algn="l">
                        <a:lnSpc>
                          <a:spcPct val="100000"/>
                        </a:lnSpc>
                      </a:pPr>
                      <a:r>
                        <a:rPr lang="en-US" altLang="zh-CN" sz="1600" dirty="0"/>
                        <a:t>Vertical integration + AI-driven production + RFID inventory control. Hard to copy because requires decades of supply chain investment.</a:t>
                      </a:r>
                    </a:p>
                  </a:txBody>
                  <a:tcPr marL="101917" marR="0" marT="63817" marB="63817" anchor="ctr"/>
                </a:tc>
                <a:extLst>
                  <a:ext uri="{0D108BD9-81ED-4DB2-BD59-A6C34878D82A}">
                    <a16:rowId xmlns:a16="http://schemas.microsoft.com/office/drawing/2014/main" val="10003"/>
                  </a:ext>
                </a:extLst>
              </a:tr>
            </a:tbl>
          </a:graphicData>
        </a:graphic>
      </p:graphicFrame>
      <p:pic>
        <p:nvPicPr>
          <p:cNvPr id="6" name="图片 5" descr="ScreenShot_2026-05-27_141818_854"/>
          <p:cNvPicPr>
            <a:picLocks noChangeAspect="1"/>
          </p:cNvPicPr>
          <p:nvPr/>
        </p:nvPicPr>
        <p:blipFill>
          <a:blip r:embed="rId3"/>
          <a:stretch>
            <a:fillRect/>
          </a:stretch>
        </p:blipFill>
        <p:spPr>
          <a:xfrm>
            <a:off x="6320155" y="1496695"/>
            <a:ext cx="5134610" cy="3727450"/>
          </a:xfrm>
          <a:prstGeom prst="rect">
            <a:avLst/>
          </a:prstGeom>
        </p:spPr>
      </p:pic>
      <p:sp>
        <p:nvSpPr>
          <p:cNvPr id="7" name="文本框 6"/>
          <p:cNvSpPr txBox="1"/>
          <p:nvPr/>
        </p:nvSpPr>
        <p:spPr>
          <a:xfrm>
            <a:off x="8382000" y="5224145"/>
            <a:ext cx="1143000" cy="166370"/>
          </a:xfrm>
          <a:prstGeom prst="rect">
            <a:avLst/>
          </a:prstGeom>
          <a:noFill/>
        </p:spPr>
        <p:txBody>
          <a:bodyPr wrap="square" rtlCol="0" anchor="t">
            <a:noAutofit/>
          </a:bodyPr>
          <a:lstStyle/>
          <a:p>
            <a:pPr defTabSz="914400">
              <a:lnSpc>
                <a:spcPct val="100000"/>
              </a:lnSpc>
              <a:tabLst>
                <a:tab pos="0" algn="l"/>
              </a:tabLst>
            </a:pPr>
            <a:r>
              <a:rPr lang="en-US" sz="650" i="1">
                <a:solidFill>
                  <a:srgbClr val="6B7280"/>
                </a:solidFill>
                <a:effectLst/>
                <a:uFillTx/>
                <a:latin typeface="Aptos" panose="020B0004020202020204" pitchFamily="34" charset="0"/>
                <a:sym typeface="+mn-ea"/>
              </a:rPr>
              <a:t>Source: </a:t>
            </a:r>
            <a:r>
              <a:rPr lang="en-US" altLang="zh-CN" sz="650">
                <a:solidFill>
                  <a:srgbClr val="000000"/>
                </a:solidFill>
                <a:effectLst/>
                <a:uFillTx/>
                <a:latin typeface="Aptos" panose="020B0004020202020204" pitchFamily="34" charset="0"/>
                <a:sym typeface="+mn-ea"/>
              </a:rPr>
              <a:t>(Inditex, 2026)</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94838" y="338328"/>
            <a:ext cx="118872" cy="41148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Aptos" panose="020B0004020202020204" pitchFamily="34" charset="0"/>
            </a:endParaRPr>
          </a:p>
        </p:txBody>
      </p:sp>
      <p:sp>
        <p:nvSpPr>
          <p:cNvPr id="22" name="TextBox 21"/>
          <p:cNvSpPr txBox="1"/>
          <p:nvPr/>
        </p:nvSpPr>
        <p:spPr>
          <a:xfrm>
            <a:off x="11511765" y="6473952"/>
            <a:ext cx="146835" cy="215444"/>
          </a:xfrm>
          <a:prstGeom prst="rect">
            <a:avLst/>
          </a:prstGeom>
          <a:noFill/>
        </p:spPr>
        <p:txBody>
          <a:bodyPr wrap="none" lIns="0">
            <a:spAutoFit/>
          </a:bodyPr>
          <a:lstStyle/>
          <a:p>
            <a:pPr marL="0" marR="0" lvl="0" indent="0" algn="r" defTabSz="457200" rtl="0" eaLnBrk="1" fontAlgn="auto" latinLnBrk="0" hangingPunct="1">
              <a:lnSpc>
                <a:spcPct val="100000"/>
              </a:lnSpc>
              <a:spcBef>
                <a:spcPts val="0"/>
              </a:spcBef>
              <a:spcAft>
                <a:spcPts val="0"/>
              </a:spcAft>
              <a:buClrTx/>
              <a:buSzTx/>
              <a:buFontTx/>
              <a:buNone/>
              <a:defRPr sz="800">
                <a:solidFill>
                  <a:srgbClr val="5B6571"/>
                </a:solidFill>
                <a:latin typeface="Calibri"/>
              </a:defRPr>
            </a:pPr>
            <a:r>
              <a:rPr kumimoji="0" sz="800" b="0" i="0" u="none" strike="noStrike" kern="1200" cap="none" spc="0" normalizeH="0" baseline="0" noProof="0">
                <a:ln>
                  <a:noFill/>
                </a:ln>
                <a:solidFill>
                  <a:srgbClr val="5B6571"/>
                </a:solidFill>
                <a:effectLst/>
                <a:uLnTx/>
                <a:uFillTx/>
                <a:latin typeface="Aptos" panose="020B0004020202020204" pitchFamily="34" charset="0"/>
              </a:rPr>
              <a:t>1</a:t>
            </a:r>
          </a:p>
        </p:txBody>
      </p:sp>
      <p:sp>
        <p:nvSpPr>
          <p:cNvPr id="23" name="Shape 0"/>
          <p:cNvSpPr/>
          <p:nvPr/>
        </p:nvSpPr>
        <p:spPr>
          <a:xfrm>
            <a:off x="0" y="0"/>
            <a:ext cx="12191400" cy="164160"/>
          </a:xfrm>
          <a:prstGeom prst="rect">
            <a:avLst/>
          </a:prstGeom>
          <a:solidFill>
            <a:srgbClr val="FF9900"/>
          </a:solidFill>
          <a:ln w="12700">
            <a:solidFill>
              <a:srgbClr val="FF99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ptos" panose="020B0004020202020204" pitchFamily="34" charset="0"/>
            </a:endParaRPr>
          </a:p>
        </p:txBody>
      </p:sp>
      <p:sp>
        <p:nvSpPr>
          <p:cNvPr id="24" name="Text 1"/>
          <p:cNvSpPr/>
          <p:nvPr/>
        </p:nvSpPr>
        <p:spPr>
          <a:xfrm>
            <a:off x="502920" y="320040"/>
            <a:ext cx="987516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altLang="zh-CN" sz="2500" b="1" u="none" strike="noStrike" dirty="0">
                <a:solidFill>
                  <a:srgbClr val="000000"/>
                </a:solidFill>
                <a:effectLst/>
                <a:uFillTx/>
                <a:latin typeface="Aptos" panose="020B0004020202020204" pitchFamily="34" charset="0"/>
              </a:rPr>
              <a:t>Risk &amp; Recommendations</a:t>
            </a:r>
          </a:p>
        </p:txBody>
      </p:sp>
      <p:sp>
        <p:nvSpPr>
          <p:cNvPr id="25" name="Text 2"/>
          <p:cNvSpPr/>
          <p:nvPr/>
        </p:nvSpPr>
        <p:spPr>
          <a:xfrm>
            <a:off x="521280" y="624785"/>
            <a:ext cx="1005804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altLang="zh-CN" sz="850" b="0" u="none" strike="noStrike" dirty="0">
                <a:solidFill>
                  <a:srgbClr val="000000"/>
                </a:solidFill>
                <a:effectLst/>
                <a:uFillTx/>
                <a:latin typeface="Aptos" panose="020B0004020202020204" pitchFamily="34" charset="0"/>
              </a:rPr>
              <a:t>Risks and Strategic Solutions</a:t>
            </a:r>
          </a:p>
        </p:txBody>
      </p:sp>
      <p:graphicFrame>
        <p:nvGraphicFramePr>
          <p:cNvPr id="5" name="表格 4"/>
          <p:cNvGraphicFramePr/>
          <p:nvPr>
            <p:custDataLst>
              <p:tags r:id="rId1"/>
            </p:custDataLst>
          </p:nvPr>
        </p:nvGraphicFramePr>
        <p:xfrm>
          <a:off x="789940" y="1193800"/>
          <a:ext cx="10485120" cy="2070100"/>
        </p:xfrm>
        <a:graphic>
          <a:graphicData uri="http://schemas.openxmlformats.org/drawingml/2006/table">
            <a:tbl>
              <a:tblPr firstRow="1"/>
              <a:tblGrid>
                <a:gridCol w="2499360">
                  <a:extLst>
                    <a:ext uri="{9D8B030D-6E8A-4147-A177-3AD203B41FA5}">
                      <a16:colId xmlns:a16="http://schemas.microsoft.com/office/drawing/2014/main" val="20000"/>
                    </a:ext>
                  </a:extLst>
                </a:gridCol>
                <a:gridCol w="7985760">
                  <a:extLst>
                    <a:ext uri="{9D8B030D-6E8A-4147-A177-3AD203B41FA5}">
                      <a16:colId xmlns:a16="http://schemas.microsoft.com/office/drawing/2014/main" val="20001"/>
                    </a:ext>
                  </a:extLst>
                </a:gridCol>
              </a:tblGrid>
              <a:tr h="517525">
                <a:tc>
                  <a:txBody>
                    <a:bodyPr/>
                    <a:lstStyle/>
                    <a:p>
                      <a:pPr algn="l">
                        <a:lnSpc>
                          <a:spcPts val="1250"/>
                        </a:lnSpc>
                      </a:pPr>
                      <a:r>
                        <a:rPr lang="en-US" altLang="zh-CN" sz="1800"/>
                        <a:t>Risk</a:t>
                      </a:r>
                    </a:p>
                  </a:txBody>
                  <a:tcPr marL="0" marR="101917" marT="63817" marB="63817" anchor="ctr"/>
                </a:tc>
                <a:tc>
                  <a:txBody>
                    <a:bodyPr/>
                    <a:lstStyle/>
                    <a:p>
                      <a:pPr algn="l">
                        <a:lnSpc>
                          <a:spcPts val="1250"/>
                        </a:lnSpc>
                      </a:pPr>
                      <a:r>
                        <a:rPr lang="en-US" altLang="zh-CN" sz="1800"/>
                        <a:t>Detail</a:t>
                      </a:r>
                    </a:p>
                  </a:txBody>
                  <a:tcPr marL="101917" marR="101917" marT="63817" marB="63817" anchor="ctr"/>
                </a:tc>
                <a:extLst>
                  <a:ext uri="{0D108BD9-81ED-4DB2-BD59-A6C34878D82A}">
                    <a16:rowId xmlns:a16="http://schemas.microsoft.com/office/drawing/2014/main" val="10000"/>
                  </a:ext>
                </a:extLst>
              </a:tr>
              <a:tr h="517525">
                <a:tc>
                  <a:txBody>
                    <a:bodyPr/>
                    <a:lstStyle/>
                    <a:p>
                      <a:pPr>
                        <a:lnSpc>
                          <a:spcPts val="1250"/>
                        </a:lnSpc>
                      </a:pPr>
                      <a:r>
                        <a:rPr lang="en-US" altLang="zh-CN" sz="1800"/>
                        <a:t>Data security</a:t>
                      </a:r>
                    </a:p>
                  </a:txBody>
                  <a:tcPr marL="0" marR="101917" marT="63817" marB="63817" anchor="ctr"/>
                </a:tc>
                <a:tc>
                  <a:txBody>
                    <a:bodyPr/>
                    <a:lstStyle/>
                    <a:p>
                      <a:pPr>
                        <a:lnSpc>
                          <a:spcPts val="1250"/>
                        </a:lnSpc>
                      </a:pPr>
                      <a:r>
                        <a:rPr lang="en-US" altLang="zh-CN" sz="1800"/>
                        <a:t>April 2026: 197,000 user records stolen via third-party vendor</a:t>
                      </a:r>
                    </a:p>
                  </a:txBody>
                  <a:tcPr marL="101917" marR="0" marT="63817" marB="63817" anchor="ctr"/>
                </a:tc>
                <a:extLst>
                  <a:ext uri="{0D108BD9-81ED-4DB2-BD59-A6C34878D82A}">
                    <a16:rowId xmlns:a16="http://schemas.microsoft.com/office/drawing/2014/main" val="10001"/>
                  </a:ext>
                </a:extLst>
              </a:tr>
              <a:tr h="517525">
                <a:tc>
                  <a:txBody>
                    <a:bodyPr/>
                    <a:lstStyle/>
                    <a:p>
                      <a:pPr>
                        <a:lnSpc>
                          <a:spcPts val="1250"/>
                        </a:lnSpc>
                      </a:pPr>
                      <a:r>
                        <a:rPr lang="en-US" altLang="zh-CN" sz="1800"/>
                        <a:t>Growth</a:t>
                      </a:r>
                    </a:p>
                  </a:txBody>
                  <a:tcPr marL="0" marR="101917" marT="63817" marB="63817" anchor="ctr"/>
                </a:tc>
                <a:tc>
                  <a:txBody>
                    <a:bodyPr/>
                    <a:lstStyle/>
                    <a:p>
                      <a:pPr>
                        <a:lnSpc>
                          <a:spcPts val="1250"/>
                        </a:lnSpc>
                      </a:pPr>
                      <a:r>
                        <a:rPr lang="en-US" altLang="zh-CN" sz="1800"/>
                        <a:t>Inditex grew only 7.5% in 2024</a:t>
                      </a:r>
                    </a:p>
                  </a:txBody>
                  <a:tcPr marL="101917" marR="0" marT="63817" marB="63817" anchor="ctr"/>
                </a:tc>
                <a:extLst>
                  <a:ext uri="{0D108BD9-81ED-4DB2-BD59-A6C34878D82A}">
                    <a16:rowId xmlns:a16="http://schemas.microsoft.com/office/drawing/2014/main" val="10002"/>
                  </a:ext>
                </a:extLst>
              </a:tr>
              <a:tr h="517525">
                <a:tc>
                  <a:txBody>
                    <a:bodyPr/>
                    <a:lstStyle/>
                    <a:p>
                      <a:pPr>
                        <a:lnSpc>
                          <a:spcPts val="1250"/>
                        </a:lnSpc>
                      </a:pPr>
                      <a:r>
                        <a:rPr lang="en-US" altLang="zh-CN" sz="1800"/>
                        <a:t>AI ethics</a:t>
                      </a:r>
                    </a:p>
                  </a:txBody>
                  <a:tcPr marL="0" marR="101917" marT="63817" marB="63817" anchor="ctr"/>
                </a:tc>
                <a:tc>
                  <a:txBody>
                    <a:bodyPr/>
                    <a:lstStyle/>
                    <a:p>
                      <a:pPr>
                        <a:lnSpc>
                          <a:spcPts val="1250"/>
                        </a:lnSpc>
                      </a:pPr>
                      <a:r>
                        <a:rPr lang="en-US" altLang="zh-CN" sz="1800"/>
                        <a:t>AI edits model photos; job displacement concerns</a:t>
                      </a:r>
                    </a:p>
                  </a:txBody>
                  <a:tcPr marL="101917" marR="0" marT="63817" marB="63817" anchor="ctr"/>
                </a:tc>
                <a:extLst>
                  <a:ext uri="{0D108BD9-81ED-4DB2-BD59-A6C34878D82A}">
                    <a16:rowId xmlns:a16="http://schemas.microsoft.com/office/drawing/2014/main" val="10003"/>
                  </a:ext>
                </a:extLst>
              </a:tr>
            </a:tbl>
          </a:graphicData>
        </a:graphic>
      </p:graphicFrame>
      <p:graphicFrame>
        <p:nvGraphicFramePr>
          <p:cNvPr id="6" name="表格 5"/>
          <p:cNvGraphicFramePr/>
          <p:nvPr/>
        </p:nvGraphicFramePr>
        <p:xfrm>
          <a:off x="716280" y="3556000"/>
          <a:ext cx="10485120" cy="2270760"/>
        </p:xfrm>
        <a:graphic>
          <a:graphicData uri="http://schemas.openxmlformats.org/drawingml/2006/table">
            <a:tbl>
              <a:tblPr firstRow="1"/>
              <a:tblGrid>
                <a:gridCol w="5242560">
                  <a:extLst>
                    <a:ext uri="{9D8B030D-6E8A-4147-A177-3AD203B41FA5}">
                      <a16:colId xmlns:a16="http://schemas.microsoft.com/office/drawing/2014/main" val="20000"/>
                    </a:ext>
                  </a:extLst>
                </a:gridCol>
                <a:gridCol w="5242560">
                  <a:extLst>
                    <a:ext uri="{9D8B030D-6E8A-4147-A177-3AD203B41FA5}">
                      <a16:colId xmlns:a16="http://schemas.microsoft.com/office/drawing/2014/main" val="20001"/>
                    </a:ext>
                  </a:extLst>
                </a:gridCol>
              </a:tblGrid>
              <a:tr h="567690">
                <a:tc>
                  <a:txBody>
                    <a:bodyPr/>
                    <a:lstStyle/>
                    <a:p>
                      <a:pPr algn="l">
                        <a:lnSpc>
                          <a:spcPts val="1250"/>
                        </a:lnSpc>
                      </a:pPr>
                      <a:r>
                        <a:rPr lang="en-US" altLang="zh-CN" sz="1800"/>
                        <a:t>Recommendation</a:t>
                      </a:r>
                    </a:p>
                  </a:txBody>
                  <a:tcPr marL="0" marR="101917" marT="63817" marB="63817" anchor="ctr"/>
                </a:tc>
                <a:tc>
                  <a:txBody>
                    <a:bodyPr/>
                    <a:lstStyle/>
                    <a:p>
                      <a:pPr algn="l">
                        <a:lnSpc>
                          <a:spcPts val="1250"/>
                        </a:lnSpc>
                      </a:pPr>
                      <a:r>
                        <a:rPr lang="en-US" altLang="zh-CN" sz="1800"/>
                        <a:t>KPI</a:t>
                      </a:r>
                    </a:p>
                  </a:txBody>
                  <a:tcPr marL="101917" marR="101917" marT="63817" marB="63817" anchor="ctr"/>
                </a:tc>
                <a:extLst>
                  <a:ext uri="{0D108BD9-81ED-4DB2-BD59-A6C34878D82A}">
                    <a16:rowId xmlns:a16="http://schemas.microsoft.com/office/drawing/2014/main" val="10000"/>
                  </a:ext>
                </a:extLst>
              </a:tr>
              <a:tr h="567690">
                <a:tc>
                  <a:txBody>
                    <a:bodyPr/>
                    <a:lstStyle/>
                    <a:p>
                      <a:pPr>
                        <a:lnSpc>
                          <a:spcPts val="1250"/>
                        </a:lnSpc>
                      </a:pPr>
                      <a:r>
                        <a:rPr lang="en-US" altLang="zh-CN" sz="1800"/>
                        <a:t>Time-limited third-party access + token management</a:t>
                      </a:r>
                    </a:p>
                  </a:txBody>
                  <a:tcPr marL="0" marR="101917" marT="63817" marB="63817" anchor="ctr"/>
                </a:tc>
                <a:tc>
                  <a:txBody>
                    <a:bodyPr/>
                    <a:lstStyle/>
                    <a:p>
                      <a:pPr>
                        <a:lnSpc>
                          <a:spcPts val="1250"/>
                        </a:lnSpc>
                      </a:pPr>
                      <a:r>
                        <a:rPr lang="en-US" altLang="zh-CN" sz="1800"/>
                        <a:t>Data incident rate: zero breaches in FY2026</a:t>
                      </a:r>
                    </a:p>
                  </a:txBody>
                  <a:tcPr marL="101917" marR="0" marT="63817" marB="63817" anchor="ctr"/>
                </a:tc>
                <a:extLst>
                  <a:ext uri="{0D108BD9-81ED-4DB2-BD59-A6C34878D82A}">
                    <a16:rowId xmlns:a16="http://schemas.microsoft.com/office/drawing/2014/main" val="10001"/>
                  </a:ext>
                </a:extLst>
              </a:tr>
              <a:tr h="567690">
                <a:tc>
                  <a:txBody>
                    <a:bodyPr/>
                    <a:lstStyle/>
                    <a:p>
                      <a:pPr>
                        <a:lnSpc>
                          <a:spcPts val="1250"/>
                        </a:lnSpc>
                      </a:pPr>
                      <a:r>
                        <a:rPr lang="en-US" altLang="zh-CN" sz="1800"/>
                        <a:t>Extend AI to personalized styling (Netflix for fashion)</a:t>
                      </a:r>
                    </a:p>
                  </a:txBody>
                  <a:tcPr marL="0" marR="101917" marT="63817" marB="63817" anchor="ctr"/>
                </a:tc>
                <a:tc>
                  <a:txBody>
                    <a:bodyPr/>
                    <a:lstStyle/>
                    <a:p>
                      <a:pPr>
                        <a:lnSpc>
                          <a:spcPts val="1250"/>
                        </a:lnSpc>
                      </a:pPr>
                      <a:r>
                        <a:rPr lang="en-US" altLang="zh-CN" sz="1800"/>
                        <a:t>Customer satisfaction</a:t>
                      </a:r>
                    </a:p>
                  </a:txBody>
                  <a:tcPr marL="101917" marR="0" marT="63817" marB="63817" anchor="ctr"/>
                </a:tc>
                <a:extLst>
                  <a:ext uri="{0D108BD9-81ED-4DB2-BD59-A6C34878D82A}">
                    <a16:rowId xmlns:a16="http://schemas.microsoft.com/office/drawing/2014/main" val="10002"/>
                  </a:ext>
                </a:extLst>
              </a:tr>
              <a:tr h="567690">
                <a:tc>
                  <a:txBody>
                    <a:bodyPr/>
                    <a:lstStyle/>
                    <a:p>
                      <a:pPr>
                        <a:lnSpc>
                          <a:spcPts val="1250"/>
                        </a:lnSpc>
                      </a:pPr>
                      <a:r>
                        <a:rPr lang="en-US" altLang="zh-CN" sz="1800"/>
                        <a:t>Expand livestream showroom globally</a:t>
                      </a:r>
                    </a:p>
                  </a:txBody>
                  <a:tcPr marL="0" marR="101917" marT="63817" marB="63817" anchor="ctr"/>
                </a:tc>
                <a:tc>
                  <a:txBody>
                    <a:bodyPr/>
                    <a:lstStyle/>
                    <a:p>
                      <a:pPr>
                        <a:lnSpc>
                          <a:spcPts val="1250"/>
                        </a:lnSpc>
                      </a:pPr>
                      <a:r>
                        <a:rPr lang="en-US" altLang="zh-CN" sz="1800"/>
                        <a:t>Store productivity</a:t>
                      </a:r>
                    </a:p>
                  </a:txBody>
                  <a:tcPr marL="101917" marR="0" marT="63817" marB="63817" anchor="ctr"/>
                </a:tc>
                <a:extLst>
                  <a:ext uri="{0D108BD9-81ED-4DB2-BD59-A6C34878D82A}">
                    <a16:rowId xmlns:a16="http://schemas.microsoft.com/office/drawing/2014/main" val="10003"/>
                  </a:ext>
                </a:extLst>
              </a:tr>
            </a:tbl>
          </a:graphicData>
        </a:graphic>
      </p:graphicFrame>
      <p:sp>
        <p:nvSpPr>
          <p:cNvPr id="26" name="Text 35"/>
          <p:cNvSpPr/>
          <p:nvPr/>
        </p:nvSpPr>
        <p:spPr>
          <a:xfrm>
            <a:off x="502920" y="6556320"/>
            <a:ext cx="1115532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650" b="0" i="1" u="none" strike="noStrike">
                <a:solidFill>
                  <a:srgbClr val="6B7280"/>
                </a:solidFill>
                <a:effectLst/>
                <a:uFillTx/>
                <a:latin typeface="Aptos" panose="020B0004020202020204" pitchFamily="34" charset="0"/>
              </a:rPr>
              <a:t>Source :</a:t>
            </a:r>
            <a:r>
              <a:rPr lang="en-US" altLang="zh-CN" sz="650" b="0" u="none" strike="noStrike">
                <a:solidFill>
                  <a:srgbClr val="000000"/>
                </a:solidFill>
                <a:effectLst/>
                <a:uFillTx/>
                <a:latin typeface="Aptos" panose="020B0004020202020204" pitchFamily="34" charset="0"/>
              </a:rPr>
              <a:t>(Inditex, 2026; Inditex, 2025)</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Shape 0"/>
          <p:cNvSpPr/>
          <p:nvPr/>
        </p:nvSpPr>
        <p:spPr>
          <a:xfrm>
            <a:off x="0" y="0"/>
            <a:ext cx="12191400" cy="164160"/>
          </a:xfrm>
          <a:prstGeom prst="rect">
            <a:avLst/>
          </a:prstGeom>
          <a:solidFill>
            <a:srgbClr val="FF9900"/>
          </a:solidFill>
          <a:ln w="12700">
            <a:solidFill>
              <a:srgbClr val="FF99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ptos" panose="020B0004020202020204" pitchFamily="34" charset="0"/>
            </a:endParaRPr>
          </a:p>
        </p:txBody>
      </p:sp>
      <p:sp>
        <p:nvSpPr>
          <p:cNvPr id="143" name="Text 1"/>
          <p:cNvSpPr/>
          <p:nvPr/>
        </p:nvSpPr>
        <p:spPr>
          <a:xfrm>
            <a:off x="502920" y="320040"/>
            <a:ext cx="987516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2500" b="0" u="none" strike="noStrike" dirty="0">
              <a:solidFill>
                <a:srgbClr val="000000"/>
              </a:solidFill>
              <a:effectLst/>
              <a:uFillTx/>
              <a:latin typeface="Aptos" panose="020B0004020202020204" pitchFamily="34" charset="0"/>
            </a:endParaRPr>
          </a:p>
        </p:txBody>
      </p:sp>
      <p:sp>
        <p:nvSpPr>
          <p:cNvPr id="144" name="Text 2"/>
          <p:cNvSpPr/>
          <p:nvPr/>
        </p:nvSpPr>
        <p:spPr>
          <a:xfrm>
            <a:off x="521280" y="749880"/>
            <a:ext cx="1005804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400" b="0" u="none" strike="noStrike" dirty="0">
                <a:solidFill>
                  <a:srgbClr val="000000"/>
                </a:solidFill>
                <a:effectLst/>
                <a:uFillTx/>
                <a:latin typeface="Aptos" panose="020B0004020202020204" pitchFamily="34" charset="0"/>
              </a:rPr>
              <a:t>References</a:t>
            </a:r>
          </a:p>
          <a:p>
            <a:pPr defTabSz="914400">
              <a:lnSpc>
                <a:spcPct val="100000"/>
              </a:lnSpc>
              <a:tabLst>
                <a:tab pos="0" algn="l"/>
              </a:tabLst>
            </a:pPr>
            <a:endParaRPr lang="en-US" sz="2400" b="0" u="none" strike="noStrike" dirty="0">
              <a:solidFill>
                <a:srgbClr val="000000"/>
              </a:solidFill>
              <a:effectLst/>
              <a:uFillTx/>
              <a:latin typeface="Aptos" panose="020B0004020202020204" pitchFamily="34" charset="0"/>
            </a:endParaRPr>
          </a:p>
        </p:txBody>
      </p:sp>
      <p:sp>
        <p:nvSpPr>
          <p:cNvPr id="145" name="Text 3"/>
          <p:cNvSpPr/>
          <p:nvPr/>
        </p:nvSpPr>
        <p:spPr>
          <a:xfrm>
            <a:off x="10012680" y="356760"/>
            <a:ext cx="15998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endParaRPr lang="en-US" sz="850" b="0" u="none" strike="noStrike" dirty="0">
              <a:solidFill>
                <a:srgbClr val="000000"/>
              </a:solidFill>
              <a:effectLst/>
              <a:uFillTx/>
              <a:latin typeface="Aptos" panose="020B0004020202020204" pitchFamily="34" charset="0"/>
            </a:endParaRPr>
          </a:p>
        </p:txBody>
      </p:sp>
      <p:sp>
        <p:nvSpPr>
          <p:cNvPr id="147" name="Text 5"/>
          <p:cNvSpPr/>
          <p:nvPr/>
        </p:nvSpPr>
        <p:spPr>
          <a:xfrm>
            <a:off x="960120" y="1417320"/>
            <a:ext cx="10195200" cy="319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endParaRPr lang="en-US" sz="850" b="0" u="none" strike="noStrike" dirty="0">
              <a:solidFill>
                <a:srgbClr val="000000"/>
              </a:solidFill>
              <a:effectLst/>
              <a:uFillTx/>
              <a:latin typeface="Aptos" panose="020B0004020202020204" pitchFamily="34" charset="0"/>
            </a:endParaRPr>
          </a:p>
        </p:txBody>
      </p:sp>
      <p:sp>
        <p:nvSpPr>
          <p:cNvPr id="150" name="Text 8"/>
          <p:cNvSpPr/>
          <p:nvPr/>
        </p:nvSpPr>
        <p:spPr>
          <a:xfrm>
            <a:off x="960120" y="3008520"/>
            <a:ext cx="10195200" cy="319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endParaRPr lang="en-US" sz="850" b="0" u="none" strike="noStrike" dirty="0">
              <a:solidFill>
                <a:srgbClr val="000000"/>
              </a:solidFill>
              <a:effectLst/>
              <a:uFillTx/>
              <a:latin typeface="Aptos" panose="020B0004020202020204" pitchFamily="34" charset="0"/>
            </a:endParaRPr>
          </a:p>
        </p:txBody>
      </p:sp>
      <p:sp>
        <p:nvSpPr>
          <p:cNvPr id="151" name="Text 9"/>
          <p:cNvSpPr/>
          <p:nvPr/>
        </p:nvSpPr>
        <p:spPr>
          <a:xfrm>
            <a:off x="960120" y="3538800"/>
            <a:ext cx="10195200" cy="319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endParaRPr lang="en-US" sz="850" b="0" u="none" strike="noStrike" dirty="0">
              <a:solidFill>
                <a:srgbClr val="000000"/>
              </a:solidFill>
              <a:effectLst/>
              <a:uFillTx/>
              <a:latin typeface="Aptos" panose="020B0004020202020204" pitchFamily="34" charset="0"/>
            </a:endParaRPr>
          </a:p>
        </p:txBody>
      </p:sp>
      <p:sp>
        <p:nvSpPr>
          <p:cNvPr id="152" name="Text 10"/>
          <p:cNvSpPr/>
          <p:nvPr/>
        </p:nvSpPr>
        <p:spPr>
          <a:xfrm>
            <a:off x="960120" y="4069080"/>
            <a:ext cx="10195200" cy="319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endParaRPr lang="en-US" sz="850" b="0" u="none" strike="noStrike" dirty="0">
              <a:solidFill>
                <a:srgbClr val="000000"/>
              </a:solidFill>
              <a:effectLst/>
              <a:uFillTx/>
              <a:latin typeface="Aptos" panose="020B0004020202020204" pitchFamily="34" charset="0"/>
            </a:endParaRPr>
          </a:p>
        </p:txBody>
      </p:sp>
      <p:sp>
        <p:nvSpPr>
          <p:cNvPr id="153" name="Text 11"/>
          <p:cNvSpPr/>
          <p:nvPr/>
        </p:nvSpPr>
        <p:spPr>
          <a:xfrm>
            <a:off x="960120" y="4599360"/>
            <a:ext cx="10195200" cy="319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endParaRPr lang="en-US" sz="850" b="0" u="none" strike="noStrike" dirty="0">
              <a:solidFill>
                <a:srgbClr val="000000"/>
              </a:solidFill>
              <a:effectLst/>
              <a:uFillTx/>
              <a:latin typeface="Aptos" panose="020B0004020202020204" pitchFamily="34" charset="0"/>
            </a:endParaRPr>
          </a:p>
        </p:txBody>
      </p:sp>
      <p:sp>
        <p:nvSpPr>
          <p:cNvPr id="154" name="Text 12"/>
          <p:cNvSpPr/>
          <p:nvPr/>
        </p:nvSpPr>
        <p:spPr>
          <a:xfrm>
            <a:off x="960120" y="5129640"/>
            <a:ext cx="10195200" cy="319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endParaRPr lang="en-US" sz="850" b="0" u="none" strike="noStrike" dirty="0">
              <a:solidFill>
                <a:srgbClr val="000000"/>
              </a:solidFill>
              <a:effectLst/>
              <a:uFillTx/>
              <a:latin typeface="Aptos" panose="020B0004020202020204" pitchFamily="34" charset="0"/>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340,&quot;left&quot;:60,&quot;top&quot;:140,&quot;width&quot;:840}"/>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340,&quot;left&quot;:60,&quot;top&quot;:140,&quot;width&quot;:840}"/>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340,&quot;left&quot;:60,&quot;top&quot;:140,&quot;width&quot;:840}"/>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340,&quot;left&quot;:60,&quot;top&quot;:140,&quot;width&quot;:840}"/>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340,&quot;left&quot;:60,&quot;top&quot;:140,&quot;width&quot;:840}"/>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340,&quot;left&quot;:60,&quot;top&quot;:140,&quot;width&quot;:840}"/>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340,&quot;left&quot;:60,&quot;top&quot;:140,&quot;width&quot;:840}"/>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340,&quot;left&quot;:60,&quot;top&quot;:140,&quot;width&quot;:840}"/>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340,&quot;left&quot;:60,&quot;top&quot;:140,&quot;width&quot;:840}"/>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340,&quot;left&quot;:60,&quot;top&quot;:140,&quot;width&quot;:840}"/>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340,&quot;left&quot;:60,&quot;top&quot;:140,&quot;width&quot;:840}"/>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340,&quot;left&quot;:60,&quot;top&quot;:140,&quot;width&quot;:840}"/>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340,&quot;left&quot;:60,&quot;top&quot;:140,&quot;width&quot;:840}"/>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340,&quot;left&quot;:60,&quot;top&quot;:140,&quot;width&quot;:840}"/>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340,&quot;left&quot;:60,&quot;top&quot;:140,&quot;width&quot;:840}"/>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340,&quot;left&quot;:60,&quot;top&quot;:140,&quot;width&quot;:840}"/>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340,&quot;left&quot;:60,&quot;top&quot;:140,&quot;width&quot;:840}"/>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340,&quot;left&quot;:60,&quot;top&quot;:140,&quot;width&quot;:840}"/>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340,&quot;left&quot;:60,&quot;top&quot;:140,&quot;width&quot;:840}"/>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340,&quot;left&quot;:60,&quot;top&quot;:140,&quot;width&quot;:840}"/>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340,&quot;left&quot;:60,&quot;top&quot;:140,&quot;width&quot;:840}"/>
</p:tagLst>
</file>

<file path=ppt/tags/tag22.xml><?xml version="1.0" encoding="utf-8"?>
<p:tagLst xmlns:a="http://schemas.openxmlformats.org/drawingml/2006/main" xmlns:r="http://schemas.openxmlformats.org/officeDocument/2006/relationships" xmlns:p="http://schemas.openxmlformats.org/presentationml/2006/main">
  <p:tag name="TABLE_ENDDRAG_ORIGIN_RECT" val="351*74"/>
  <p:tag name="TABLE_ENDDRAG_RECT" val="144*240*351*74"/>
</p:tagLst>
</file>

<file path=ppt/tags/tag23.xml><?xml version="1.0" encoding="utf-8"?>
<p:tagLst xmlns:a="http://schemas.openxmlformats.org/drawingml/2006/main" xmlns:r="http://schemas.openxmlformats.org/officeDocument/2006/relationships" xmlns:p="http://schemas.openxmlformats.org/presentationml/2006/main">
  <p:tag name="TABLE_ENDDRAG_ORIGIN_RECT" val="351*74"/>
  <p:tag name="TABLE_ENDDRAG_RECT" val="144*240*351*74"/>
</p:tagLst>
</file>

<file path=ppt/tags/tag24.xml><?xml version="1.0" encoding="utf-8"?>
<p:tagLst xmlns:a="http://schemas.openxmlformats.org/drawingml/2006/main" xmlns:r="http://schemas.openxmlformats.org/officeDocument/2006/relationships" xmlns:p="http://schemas.openxmlformats.org/presentationml/2006/main">
  <p:tag name="TABLE_ENDDRAG_ORIGIN_RECT" val="790*348"/>
  <p:tag name="TABLE_ENDDRAG_RECT" val="68*109*790*348"/>
</p:tagLst>
</file>

<file path=ppt/tags/tag25.xml><?xml version="1.0" encoding="utf-8"?>
<p:tagLst xmlns:a="http://schemas.openxmlformats.org/drawingml/2006/main" xmlns:r="http://schemas.openxmlformats.org/officeDocument/2006/relationships" xmlns:p="http://schemas.openxmlformats.org/presentationml/2006/main">
  <p:tag name="TABLE_ENDDRAG_ORIGIN_RECT" val="399*397"/>
  <p:tag name="TABLE_ENDDRAG_RECT" val="80*81*399*397"/>
</p:tagLst>
</file>

<file path=ppt/tags/tag26.xml><?xml version="1.0" encoding="utf-8"?>
<p:tagLst xmlns:a="http://schemas.openxmlformats.org/drawingml/2006/main" xmlns:r="http://schemas.openxmlformats.org/officeDocument/2006/relationships" xmlns:p="http://schemas.openxmlformats.org/presentationml/2006/main">
  <p:tag name="TABLE_ENDDRAG_ORIGIN_RECT" val="825*162"/>
  <p:tag name="TABLE_ENDDRAG_RECT" val="62*94*825*162"/>
</p:tagLst>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majorFont>
      <a:minorFont>
        <a:latin typeface="Aptos"/>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TotalTime>
  <Words>3444</Words>
  <Application>Microsoft Macintosh PowerPoint</Application>
  <PresentationFormat>宽屏</PresentationFormat>
  <Paragraphs>378</Paragraphs>
  <Slides>28</Slides>
  <Notes>13</Notes>
  <HiddenSlides>0</HiddenSlides>
  <MMClips>0</MMClips>
  <ScaleCrop>false</ScaleCrop>
  <HeadingPairs>
    <vt:vector size="6" baseType="variant">
      <vt:variant>
        <vt:lpstr>已用的字体</vt:lpstr>
      </vt:variant>
      <vt:variant>
        <vt:i4>7</vt:i4>
      </vt:variant>
      <vt:variant>
        <vt:lpstr>主题</vt:lpstr>
      </vt:variant>
      <vt:variant>
        <vt:i4>3</vt:i4>
      </vt:variant>
      <vt:variant>
        <vt:lpstr>幻灯片标题</vt:lpstr>
      </vt:variant>
      <vt:variant>
        <vt:i4>28</vt:i4>
      </vt:variant>
    </vt:vector>
  </HeadingPairs>
  <TitlesOfParts>
    <vt:vector size="38" baseType="lpstr">
      <vt:lpstr>Aptos</vt:lpstr>
      <vt:lpstr>Aptos Display</vt:lpstr>
      <vt:lpstr>Arial</vt:lpstr>
      <vt:lpstr>Calibri</vt:lpstr>
      <vt:lpstr>Symbol</vt:lpstr>
      <vt:lpstr>Times New Roman</vt:lpstr>
      <vt:lpstr>Wingdings</vt:lpstr>
      <vt:lpstr>Office Theme</vt:lpstr>
      <vt:lpstr>1_Office Theme</vt:lpstr>
      <vt:lpstr>2_Office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EdwardDiesel</dc:creator>
  <cp:lastModifiedBy>HASINA HE</cp:lastModifiedBy>
  <cp:revision>6</cp:revision>
  <dcterms:created xsi:type="dcterms:W3CDTF">2026-05-27T12:33:38Z</dcterms:created>
  <dcterms:modified xsi:type="dcterms:W3CDTF">2026-05-27T12:43:19Z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4</vt:r8>
  </property>
  <property fmtid="{D5CDD505-2E9C-101B-9397-08002B2CF9AE}" pid="3" name="PresentationFormat">
    <vt:lpwstr>On-screen Show (16:9)</vt:lpwstr>
  </property>
  <property fmtid="{D5CDD505-2E9C-101B-9397-08002B2CF9AE}" pid="4" name="Slides">
    <vt:r8>4</vt:r8>
  </property>
  <property fmtid="{D5CDD505-2E9C-101B-9397-08002B2CF9AE}" pid="5" name="KSOProductBuildVer">
    <vt:lpwstr>2052-12.1.25895.25895</vt:lpwstr>
  </property>
  <property fmtid="{D5CDD505-2E9C-101B-9397-08002B2CF9AE}" pid="6" name="ICV">
    <vt:lpwstr>7526C0C52C147366A2E4166ACAC8AA30_43</vt:lpwstr>
  </property>
</Properties>
</file>